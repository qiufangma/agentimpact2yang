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2" r:id="rId3"/>
    <p:sldId id="266" r:id="rId4"/>
    <p:sldId id="261" r:id="rId5"/>
    <p:sldId id="263" r:id="rId6"/>
    <p:sldId id="264" r:id="rId7"/>
    <p:sldId id="267" r:id="rId8"/>
    <p:sldId id="269" r:id="rId9"/>
    <p:sldId id="268" r:id="rId10"/>
    <p:sldId id="258" r:id="rId11"/>
    <p:sldId id="260" r:id="rId12"/>
    <p:sldId id="271" r:id="rId13"/>
    <p:sldId id="272" r:id="rId14"/>
    <p:sldId id="273" r:id="rId15"/>
    <p:sldId id="270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3248" autoAdjust="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0CF82-65EC-44B8-81F8-2F4982E48986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2854AF-5357-44EF-B59D-5258B4C5F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896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2854AF-5357-44EF-B59D-5258B4C5F4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0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79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12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86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7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6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80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35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861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9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49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EE5B8-BB87-4586-AA02-8EB91A2F44B9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75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toon-format/toon#benchmark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draft-ietf-nmop-network-anomaly-semantics/" TargetMode="External"/><Relationship Id="rId2" Type="http://schemas.openxmlformats.org/officeDocument/2006/relationships/hyperlink" Target="https://datatracker.ietf.org/doc/draft-mackey-nmop-kg-for-netop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on-format/spec" TargetMode="External"/><Relationship Id="rId2" Type="http://schemas.openxmlformats.org/officeDocument/2006/relationships/hyperlink" Target="https://github.com/toon-format/to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AI-Driven Autonomous Networks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An investigation into how Agent-to-Agent (A2A) communications impact the traditional service, network, and device YANG model.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95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20" name="内容占位符 19"/>
          <p:cNvSpPr>
            <a:spLocks noGrp="1"/>
          </p:cNvSpPr>
          <p:nvPr>
            <p:ph idx="1"/>
          </p:nvPr>
        </p:nvSpPr>
        <p:spPr>
          <a:xfrm>
            <a:off x="775447" y="1714407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Background &amp; Context</a:t>
            </a:r>
          </a:p>
          <a:p>
            <a:pPr marL="457200" lvl="1" indent="0">
              <a:buNone/>
            </a:pPr>
            <a:r>
              <a:rPr lang="en-US" altLang="zh-CN" dirty="0" smtClean="0">
                <a:solidFill>
                  <a:schemeClr val="bg2">
                    <a:lumMod val="75000"/>
                  </a:schemeClr>
                </a:solidFill>
              </a:rPr>
              <a:t>Understanding the convergence of YANG data models and AI Agents in modern network management</a:t>
            </a:r>
            <a:endParaRPr lang="en-US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 smtClean="0"/>
              <a:t>Two workflow Examples</a:t>
            </a:r>
          </a:p>
          <a:p>
            <a:r>
              <a:rPr lang="en-US" dirty="0" smtClean="0"/>
              <a:t>Core Challenges Analysis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Deep dive into major gaps impeding the effective AI-YANG integration</a:t>
            </a:r>
          </a:p>
          <a:p>
            <a:r>
              <a:rPr lang="en-US" dirty="0" smtClean="0"/>
              <a:t>Potential Solutions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Exploring technical and architectural pathways to bridge the identified gaps</a:t>
            </a:r>
          </a:p>
          <a:p>
            <a:r>
              <a:rPr lang="en-US" dirty="0" smtClean="0"/>
              <a:t>Open Discussion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Interactive Q&amp;A, feedback sharing, and collaborative idea exchange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417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 and Context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altLang="zh-CN" dirty="0" smtClean="0"/>
              <a:t>We are moving from model-driven automation to AGENTICOPS, where LLM-based agents interpret intent and execute complex workflows across heterogeneous layers.</a:t>
            </a:r>
          </a:p>
          <a:p>
            <a:r>
              <a:rPr lang="en-US" altLang="zh-CN" dirty="0" smtClean="0"/>
              <a:t>What we are targeting is the full autonomy…this is the final objective.</a:t>
            </a:r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We now have protocols defined, e.g., MCP, A2A, A2A is sending plain text…but we would still want to send YANG data </a:t>
            </a:r>
          </a:p>
          <a:p>
            <a:r>
              <a:rPr lang="en-US" dirty="0" smtClean="0"/>
              <a:t>How we should Integrate YANG into A2A message?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489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7" name="Shape 8"/>
          <p:cNvSpPr/>
          <p:nvPr/>
        </p:nvSpPr>
        <p:spPr>
          <a:xfrm>
            <a:off x="535081" y="3693928"/>
            <a:ext cx="4360046" cy="1060075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6" name="Shape 2"/>
          <p:cNvSpPr/>
          <p:nvPr/>
        </p:nvSpPr>
        <p:spPr>
          <a:xfrm>
            <a:off x="503164" y="2224309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87188" y="54636"/>
            <a:ext cx="11075894" cy="1325563"/>
          </a:xfrm>
        </p:spPr>
        <p:txBody>
          <a:bodyPr/>
          <a:lstStyle/>
          <a:p>
            <a:r>
              <a:rPr lang="en-US" dirty="0" smtClean="0"/>
              <a:t>The RFC 8969 Paradigm for Model-driven Automation 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974293" y="2167809"/>
            <a:ext cx="1319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Orchestrator 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094572" y="3640944"/>
            <a:ext cx="1040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Controller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56100" y="5294011"/>
            <a:ext cx="1617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</a:t>
            </a: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Devices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82074" y="5623483"/>
            <a:ext cx="1595309" cy="3077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Device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557566" y="4337482"/>
            <a:ext cx="2114681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644620" y="2814348"/>
            <a:ext cx="2045753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Service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760019" y="3957017"/>
            <a:ext cx="1725152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Network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767025" y="2452978"/>
            <a:ext cx="1656223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Service Modeling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5" name="Shape 6"/>
          <p:cNvSpPr/>
          <p:nvPr/>
        </p:nvSpPr>
        <p:spPr>
          <a:xfrm rot="5400000">
            <a:off x="2404295" y="3341016"/>
            <a:ext cx="301752" cy="256032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16" name="Shape 6"/>
          <p:cNvSpPr/>
          <p:nvPr/>
        </p:nvSpPr>
        <p:spPr>
          <a:xfrm rot="5400000">
            <a:off x="2402218" y="4871290"/>
            <a:ext cx="338819" cy="256032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40" name="文本框 39"/>
          <p:cNvSpPr txBox="1"/>
          <p:nvPr/>
        </p:nvSpPr>
        <p:spPr>
          <a:xfrm>
            <a:off x="5164630" y="2106462"/>
            <a:ext cx="683014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 smtClean="0"/>
              <a:t>Deterministic workflow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Automation follows rigid, predefined workflows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Hard-coded logic to map service-&gt;network-&gt;device layers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Highly Structured Interface &amp; Data Modeling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Mandates highly structured YANG data models for every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882062" y="1208489"/>
            <a:ext cx="7262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 Framework for Automating Service and Network Management with YANG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Shape 3"/>
          <p:cNvSpPr/>
          <p:nvPr/>
        </p:nvSpPr>
        <p:spPr>
          <a:xfrm>
            <a:off x="638358" y="243062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032" y="2562296"/>
            <a:ext cx="285293" cy="285293"/>
          </a:xfrm>
          <a:prstGeom prst="rect">
            <a:avLst/>
          </a:prstGeom>
        </p:spPr>
      </p:pic>
      <p:sp>
        <p:nvSpPr>
          <p:cNvPr id="51" name="Shape 3"/>
          <p:cNvSpPr/>
          <p:nvPr/>
        </p:nvSpPr>
        <p:spPr>
          <a:xfrm>
            <a:off x="663840" y="398804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14" y="4119723"/>
            <a:ext cx="285293" cy="285293"/>
          </a:xfrm>
          <a:prstGeom prst="rect">
            <a:avLst/>
          </a:prstGeom>
        </p:spPr>
      </p:pic>
      <p:sp>
        <p:nvSpPr>
          <p:cNvPr id="53" name="Shape 3"/>
          <p:cNvSpPr/>
          <p:nvPr/>
        </p:nvSpPr>
        <p:spPr>
          <a:xfrm>
            <a:off x="739597" y="537866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71" y="5510336"/>
            <a:ext cx="285293" cy="285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033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236141"/>
            <a:ext cx="11075894" cy="1325563"/>
          </a:xfrm>
        </p:spPr>
        <p:txBody>
          <a:bodyPr/>
          <a:lstStyle/>
          <a:p>
            <a:r>
              <a:rPr lang="en-US" dirty="0" smtClean="0"/>
              <a:t>From Static Pipeline to Agent Hierarchy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Agent(s)</a:t>
            </a:r>
            <a:endParaRPr lang="en-US" sz="1500" dirty="0"/>
          </a:p>
        </p:txBody>
      </p:sp>
      <p:sp>
        <p:nvSpPr>
          <p:cNvPr id="21" name="Text 5"/>
          <p:cNvSpPr/>
          <p:nvPr/>
        </p:nvSpPr>
        <p:spPr>
          <a:xfrm>
            <a:off x="1449481" y="293434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NL intent → service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2" name="Shape 6"/>
          <p:cNvSpPr/>
          <p:nvPr/>
        </p:nvSpPr>
        <p:spPr>
          <a:xfrm>
            <a:off x="2218382" y="3391368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23" name="Text 7"/>
          <p:cNvSpPr/>
          <p:nvPr/>
        </p:nvSpPr>
        <p:spPr>
          <a:xfrm>
            <a:off x="2563407" y="33099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 Agent communication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intent</a:t>
            </a:r>
            <a:endParaRPr lang="en-US" sz="950" dirty="0"/>
          </a:p>
        </p:txBody>
      </p:sp>
      <p:sp>
        <p:nvSpPr>
          <p:cNvPr id="24" name="Shape 8"/>
          <p:cNvSpPr/>
          <p:nvPr/>
        </p:nvSpPr>
        <p:spPr>
          <a:xfrm>
            <a:off x="535081" y="383960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449481" y="396761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28" name="Text 11"/>
          <p:cNvSpPr/>
          <p:nvPr/>
        </p:nvSpPr>
        <p:spPr>
          <a:xfrm>
            <a:off x="1449481" y="4351667"/>
            <a:ext cx="237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Orchestration</a:t>
            </a:r>
            <a:endParaRPr lang="en-US" sz="1100" dirty="0"/>
          </a:p>
        </p:txBody>
      </p:sp>
      <p:sp>
        <p:nvSpPr>
          <p:cNvPr id="29" name="Shape 12"/>
          <p:cNvSpPr/>
          <p:nvPr/>
        </p:nvSpPr>
        <p:spPr>
          <a:xfrm>
            <a:off x="2242549" y="4845443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0" name="Text 13"/>
          <p:cNvSpPr/>
          <p:nvPr/>
        </p:nvSpPr>
        <p:spPr>
          <a:xfrm>
            <a:off x="2624150" y="47382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 / RESTCONF / Telemetry</a:t>
            </a:r>
            <a:endParaRPr lang="en-US" sz="9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35" name="Text 17"/>
          <p:cNvSpPr/>
          <p:nvPr/>
        </p:nvSpPr>
        <p:spPr>
          <a:xfrm>
            <a:off x="1449481" y="576898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changes, report results</a:t>
            </a:r>
            <a:endParaRPr lang="en-US" sz="1100" dirty="0"/>
          </a:p>
        </p:txBody>
      </p:sp>
      <p:sp>
        <p:nvSpPr>
          <p:cNvPr id="3" name="文本框 2"/>
          <p:cNvSpPr txBox="1"/>
          <p:nvPr/>
        </p:nvSpPr>
        <p:spPr>
          <a:xfrm>
            <a:off x="5159498" y="1899007"/>
            <a:ext cx="68934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the pipeline is re-implemented with AI Agents at each/some layer…</a:t>
            </a:r>
          </a:p>
          <a:p>
            <a:endParaRPr lang="en-US" dirty="0" smtClean="0"/>
          </a:p>
          <a:p>
            <a:r>
              <a:rPr lang="en-US" dirty="0" smtClean="0"/>
              <a:t>What would change?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Interfaces between  layers are no longer YANG-driven management protocols – it now travels alongside natural language intent, agent context,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workflow is done by a probabilistic reasoning engine, “some intent twice” may no longer mean “same device YANG configuration twice”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918364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236141"/>
            <a:ext cx="11075894" cy="1325563"/>
          </a:xfrm>
        </p:spPr>
        <p:txBody>
          <a:bodyPr/>
          <a:lstStyle/>
          <a:p>
            <a:r>
              <a:rPr lang="en-US" dirty="0" smtClean="0"/>
              <a:t>From Static Pipeline to Agent Hierarchy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Agent(s)</a:t>
            </a:r>
            <a:endParaRPr lang="en-US" sz="1500" dirty="0"/>
          </a:p>
        </p:txBody>
      </p:sp>
      <p:sp>
        <p:nvSpPr>
          <p:cNvPr id="21" name="Text 5"/>
          <p:cNvSpPr/>
          <p:nvPr/>
        </p:nvSpPr>
        <p:spPr>
          <a:xfrm>
            <a:off x="1449481" y="293434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</a:t>
            </a: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intent → service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2" name="Shape 6"/>
          <p:cNvSpPr/>
          <p:nvPr/>
        </p:nvSpPr>
        <p:spPr>
          <a:xfrm>
            <a:off x="2218382" y="3391368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23" name="Text 7"/>
          <p:cNvSpPr/>
          <p:nvPr/>
        </p:nvSpPr>
        <p:spPr>
          <a:xfrm>
            <a:off x="2563407" y="33099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8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 Agent communication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intent</a:t>
            </a:r>
            <a:endParaRPr lang="en-US" sz="950" dirty="0"/>
          </a:p>
        </p:txBody>
      </p:sp>
      <p:sp>
        <p:nvSpPr>
          <p:cNvPr id="24" name="Shape 8"/>
          <p:cNvSpPr/>
          <p:nvPr/>
        </p:nvSpPr>
        <p:spPr>
          <a:xfrm>
            <a:off x="535081" y="383960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449481" y="396761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28" name="Text 11"/>
          <p:cNvSpPr/>
          <p:nvPr/>
        </p:nvSpPr>
        <p:spPr>
          <a:xfrm>
            <a:off x="1449481" y="4351667"/>
            <a:ext cx="237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Orchestration</a:t>
            </a:r>
            <a:endParaRPr lang="en-US" sz="1100" dirty="0"/>
          </a:p>
        </p:txBody>
      </p:sp>
      <p:sp>
        <p:nvSpPr>
          <p:cNvPr id="29" name="Shape 12"/>
          <p:cNvSpPr/>
          <p:nvPr/>
        </p:nvSpPr>
        <p:spPr>
          <a:xfrm>
            <a:off x="2242549" y="4845443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0" name="Text 13"/>
          <p:cNvSpPr/>
          <p:nvPr/>
        </p:nvSpPr>
        <p:spPr>
          <a:xfrm>
            <a:off x="2624150" y="47382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 / RESTCONF / Telemetry</a:t>
            </a:r>
            <a:endParaRPr lang="en-US" sz="9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35" name="Text 17"/>
          <p:cNvSpPr/>
          <p:nvPr/>
        </p:nvSpPr>
        <p:spPr>
          <a:xfrm>
            <a:off x="1449481" y="576898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</a:t>
            </a: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changes, report results</a:t>
            </a:r>
            <a:endParaRPr lang="en-US" sz="1100" dirty="0"/>
          </a:p>
        </p:txBody>
      </p:sp>
      <p:sp>
        <p:nvSpPr>
          <p:cNvPr id="40" name="文本框 39"/>
          <p:cNvSpPr txBox="1"/>
          <p:nvPr/>
        </p:nvSpPr>
        <p:spPr>
          <a:xfrm>
            <a:off x="882062" y="1208489"/>
            <a:ext cx="6705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1: intent-driven service provisioning / optimization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390090" y="1581167"/>
            <a:ext cx="597049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Intent input: the network operator submits natural language intent</a:t>
            </a:r>
          </a:p>
          <a:p>
            <a:endParaRPr lang="en-US" dirty="0"/>
          </a:p>
          <a:p>
            <a:r>
              <a:rPr lang="en-US" altLang="zh-CN" dirty="0" smtClean="0"/>
              <a:t>Parsing &amp; decomposition: The orchestrator Agent parses intents, map intents into service model representation, and breaks them down into structured network parameters recognizable by the network</a:t>
            </a:r>
          </a:p>
          <a:p>
            <a:endParaRPr lang="en-US" dirty="0"/>
          </a:p>
          <a:p>
            <a:r>
              <a:rPr lang="en-US" altLang="zh-CN" dirty="0" smtClean="0"/>
              <a:t>Agent</a:t>
            </a:r>
            <a:r>
              <a:rPr lang="zh-CN" altLang="en-US" dirty="0"/>
              <a:t> </a:t>
            </a:r>
            <a:r>
              <a:rPr lang="en-US" altLang="zh-CN" dirty="0" smtClean="0"/>
              <a:t>communication: Using YANG-structured data as payload, the config is delivered to network AI Agents via the agent-to-agent communication protocol</a:t>
            </a:r>
            <a:endParaRPr lang="en-US" dirty="0"/>
          </a:p>
          <a:p>
            <a:endParaRPr lang="en-US" altLang="zh-CN" dirty="0"/>
          </a:p>
          <a:p>
            <a:r>
              <a:rPr lang="en-US" altLang="zh-CN" dirty="0" smtClean="0"/>
              <a:t>Device config generation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Converted to device model related configuration and delivered to network devices via protocols like NETCONF/RESTCONF</a:t>
            </a:r>
          </a:p>
          <a:p>
            <a:endParaRPr lang="en-US" dirty="0"/>
          </a:p>
          <a:p>
            <a:r>
              <a:rPr lang="en-US" altLang="zh-CN" dirty="0" smtClean="0"/>
              <a:t>Execution &amp; Feedback: Device executes configuration changes and report the results </a:t>
            </a:r>
            <a:endParaRPr lang="en-US" dirty="0"/>
          </a:p>
        </p:txBody>
      </p:sp>
      <p:sp>
        <p:nvSpPr>
          <p:cNvPr id="36" name="Shape 6"/>
          <p:cNvSpPr/>
          <p:nvPr/>
        </p:nvSpPr>
        <p:spPr>
          <a:xfrm>
            <a:off x="2242549" y="1867464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7" name="Text 7"/>
          <p:cNvSpPr/>
          <p:nvPr/>
        </p:nvSpPr>
        <p:spPr>
          <a:xfrm>
            <a:off x="2563407" y="17962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9932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236141"/>
            <a:ext cx="11075894" cy="1325563"/>
          </a:xfrm>
        </p:spPr>
        <p:txBody>
          <a:bodyPr/>
          <a:lstStyle/>
          <a:p>
            <a:r>
              <a:rPr lang="en-US" dirty="0" smtClean="0"/>
              <a:t>From Static Pipeline to Agent Hierarchy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Agent(s)</a:t>
            </a:r>
            <a:endParaRPr lang="en-US" sz="1500" dirty="0"/>
          </a:p>
        </p:txBody>
      </p:sp>
      <p:sp>
        <p:nvSpPr>
          <p:cNvPr id="22" name="Shape 6"/>
          <p:cNvSpPr/>
          <p:nvPr/>
        </p:nvSpPr>
        <p:spPr>
          <a:xfrm>
            <a:off x="1794314" y="3405163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24" name="Shape 8"/>
          <p:cNvSpPr/>
          <p:nvPr/>
        </p:nvSpPr>
        <p:spPr>
          <a:xfrm>
            <a:off x="549421" y="3823844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797859" y="386119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30" name="Text 13"/>
          <p:cNvSpPr/>
          <p:nvPr/>
        </p:nvSpPr>
        <p:spPr>
          <a:xfrm>
            <a:off x="1287280" y="4655656"/>
            <a:ext cx="12761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Telemetry</a:t>
            </a:r>
            <a:endParaRPr lang="en-US" sz="9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40" name="文本框 39"/>
          <p:cNvSpPr txBox="1"/>
          <p:nvPr/>
        </p:nvSpPr>
        <p:spPr>
          <a:xfrm>
            <a:off x="882062" y="1208489"/>
            <a:ext cx="4582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2: </a:t>
            </a:r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Network Troubleshooting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Shape 6"/>
          <p:cNvSpPr/>
          <p:nvPr/>
        </p:nvSpPr>
        <p:spPr>
          <a:xfrm>
            <a:off x="1794525" y="1958289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7" name="Text 7"/>
          <p:cNvSpPr/>
          <p:nvPr/>
        </p:nvSpPr>
        <p:spPr>
          <a:xfrm>
            <a:off x="2088141" y="185779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  <p:sp>
        <p:nvSpPr>
          <p:cNvPr id="38" name="Text 11"/>
          <p:cNvSpPr/>
          <p:nvPr/>
        </p:nvSpPr>
        <p:spPr>
          <a:xfrm>
            <a:off x="1731694" y="4480754"/>
            <a:ext cx="10607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 collection and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 smtClean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39" name="Text 11"/>
          <p:cNvSpPr/>
          <p:nvPr/>
        </p:nvSpPr>
        <p:spPr>
          <a:xfrm>
            <a:off x="1925931" y="4329617"/>
            <a:ext cx="99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4" name="Text 11"/>
          <p:cNvSpPr/>
          <p:nvPr/>
        </p:nvSpPr>
        <p:spPr>
          <a:xfrm>
            <a:off x="2798725" y="4488357"/>
            <a:ext cx="1564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diagnosis, and resolution</a:t>
            </a:r>
            <a:endParaRPr lang="en-US" sz="1100" dirty="0" smtClean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45" name="Text 7"/>
          <p:cNvSpPr/>
          <p:nvPr/>
        </p:nvSpPr>
        <p:spPr>
          <a:xfrm>
            <a:off x="2115172" y="3276469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  <p:sp>
        <p:nvSpPr>
          <p:cNvPr id="46" name="Shape 6"/>
          <p:cNvSpPr/>
          <p:nvPr/>
        </p:nvSpPr>
        <p:spPr>
          <a:xfrm rot="10800000">
            <a:off x="3113689" y="3393361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47" name="Text 7"/>
          <p:cNvSpPr/>
          <p:nvPr/>
        </p:nvSpPr>
        <p:spPr>
          <a:xfrm>
            <a:off x="3485928" y="3312329"/>
            <a:ext cx="146994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result report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950" dirty="0"/>
          </a:p>
        </p:txBody>
      </p:sp>
      <p:sp>
        <p:nvSpPr>
          <p:cNvPr id="10" name="左弧形箭头 9"/>
          <p:cNvSpPr/>
          <p:nvPr/>
        </p:nvSpPr>
        <p:spPr>
          <a:xfrm rot="10974281" flipH="1">
            <a:off x="2300099" y="4771914"/>
            <a:ext cx="306083" cy="475616"/>
          </a:xfrm>
          <a:prstGeom prst="curvedRight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上弧形箭头 10"/>
          <p:cNvSpPr/>
          <p:nvPr/>
        </p:nvSpPr>
        <p:spPr>
          <a:xfrm>
            <a:off x="2420116" y="4162375"/>
            <a:ext cx="706214" cy="305269"/>
          </a:xfrm>
          <a:prstGeom prst="curvedDownArrow">
            <a:avLst/>
          </a:prstGeom>
          <a:solidFill>
            <a:srgbClr val="5B6B7A"/>
          </a:solidFill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左弧形箭头 11"/>
          <p:cNvSpPr/>
          <p:nvPr/>
        </p:nvSpPr>
        <p:spPr>
          <a:xfrm flipH="1">
            <a:off x="2998659" y="4794116"/>
            <a:ext cx="255342" cy="455789"/>
          </a:xfrm>
          <a:prstGeom prst="curvedRight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 13"/>
          <p:cNvSpPr/>
          <p:nvPr/>
        </p:nvSpPr>
        <p:spPr>
          <a:xfrm>
            <a:off x="3308396" y="4722666"/>
            <a:ext cx="1438465" cy="500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NETCONF/RESTCONF</a:t>
            </a:r>
            <a:endParaRPr lang="en-US" sz="950" dirty="0"/>
          </a:p>
        </p:txBody>
      </p:sp>
      <p:sp>
        <p:nvSpPr>
          <p:cNvPr id="49" name="Shape 6"/>
          <p:cNvSpPr/>
          <p:nvPr/>
        </p:nvSpPr>
        <p:spPr>
          <a:xfrm rot="10800000">
            <a:off x="3163213" y="1931345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50" name="Text 7"/>
          <p:cNvSpPr/>
          <p:nvPr/>
        </p:nvSpPr>
        <p:spPr>
          <a:xfrm>
            <a:off x="3535452" y="1850313"/>
            <a:ext cx="146994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fulfillment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report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950" dirty="0"/>
          </a:p>
        </p:txBody>
      </p:sp>
      <p:sp>
        <p:nvSpPr>
          <p:cNvPr id="15" name="矩形 14"/>
          <p:cNvSpPr/>
          <p:nvPr/>
        </p:nvSpPr>
        <p:spPr>
          <a:xfrm>
            <a:off x="1685292" y="4455264"/>
            <a:ext cx="950828" cy="2674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矩形 50"/>
          <p:cNvSpPr/>
          <p:nvPr/>
        </p:nvSpPr>
        <p:spPr>
          <a:xfrm>
            <a:off x="2763516" y="4455264"/>
            <a:ext cx="1423002" cy="2674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文本框 51"/>
          <p:cNvSpPr txBox="1"/>
          <p:nvPr/>
        </p:nvSpPr>
        <p:spPr>
          <a:xfrm>
            <a:off x="5413653" y="2030498"/>
            <a:ext cx="59704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Intent input: A network operator asks the agent to continuously monitor, detect anomalies, diagnose, and self-heal. </a:t>
            </a:r>
            <a:endParaRPr lang="en-US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Data collection and aggregation: The network AI agent grasps a holistic view of the network operational state across multiple network devices and YANG modules.</a:t>
            </a:r>
          </a:p>
          <a:p>
            <a:endParaRPr lang="en-US" altLang="zh-CN" dirty="0" smtClean="0"/>
          </a:p>
          <a:p>
            <a:r>
              <a:rPr lang="en-US" altLang="zh-CN" dirty="0" smtClean="0"/>
              <a:t>Anomaly detection and diagnosis: Once an issue or fault is identified, network AI agent diagnoses the exact cause and generate targeted repair resolutions.</a:t>
            </a:r>
          </a:p>
          <a:p>
            <a:endParaRPr lang="en-US" altLang="zh-CN" dirty="0"/>
          </a:p>
          <a:p>
            <a:r>
              <a:rPr lang="en-US" altLang="zh-CN" dirty="0" smtClean="0"/>
              <a:t>Anomaly resolution: The network AI agent autonomously executes the formulated repair actions</a:t>
            </a:r>
            <a:endParaRPr lang="en-US" altLang="zh-CN" dirty="0"/>
          </a:p>
          <a:p>
            <a:r>
              <a:rPr lang="en-US" altLang="zh-CN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339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Core Challenges Analysis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18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236141"/>
            <a:ext cx="11075894" cy="1325563"/>
          </a:xfrm>
        </p:spPr>
        <p:txBody>
          <a:bodyPr/>
          <a:lstStyle/>
          <a:p>
            <a:r>
              <a:rPr lang="en-US" dirty="0" smtClean="0"/>
              <a:t>Gap Analysis 1: The Semantic Divide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Agent(s)</a:t>
            </a:r>
            <a:endParaRPr lang="en-US" sz="1500" dirty="0"/>
          </a:p>
        </p:txBody>
      </p:sp>
      <p:sp>
        <p:nvSpPr>
          <p:cNvPr id="21" name="Text 5"/>
          <p:cNvSpPr/>
          <p:nvPr/>
        </p:nvSpPr>
        <p:spPr>
          <a:xfrm>
            <a:off x="1449481" y="293434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</a:t>
            </a: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intent → service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2" name="Shape 6"/>
          <p:cNvSpPr/>
          <p:nvPr/>
        </p:nvSpPr>
        <p:spPr>
          <a:xfrm>
            <a:off x="2218382" y="3391368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23" name="Text 7"/>
          <p:cNvSpPr/>
          <p:nvPr/>
        </p:nvSpPr>
        <p:spPr>
          <a:xfrm>
            <a:off x="2563407" y="33099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8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 Agent communication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intent</a:t>
            </a:r>
            <a:endParaRPr lang="en-US" sz="950" dirty="0"/>
          </a:p>
        </p:txBody>
      </p:sp>
      <p:sp>
        <p:nvSpPr>
          <p:cNvPr id="24" name="Shape 8"/>
          <p:cNvSpPr/>
          <p:nvPr/>
        </p:nvSpPr>
        <p:spPr>
          <a:xfrm>
            <a:off x="535081" y="383960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449481" y="396761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28" name="Text 11"/>
          <p:cNvSpPr/>
          <p:nvPr/>
        </p:nvSpPr>
        <p:spPr>
          <a:xfrm>
            <a:off x="1449481" y="4351667"/>
            <a:ext cx="237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Orchestration</a:t>
            </a:r>
            <a:endParaRPr lang="en-US" sz="1100" dirty="0"/>
          </a:p>
        </p:txBody>
      </p:sp>
      <p:sp>
        <p:nvSpPr>
          <p:cNvPr id="29" name="Shape 12"/>
          <p:cNvSpPr/>
          <p:nvPr/>
        </p:nvSpPr>
        <p:spPr>
          <a:xfrm>
            <a:off x="2242549" y="4845443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0" name="Text 13"/>
          <p:cNvSpPr/>
          <p:nvPr/>
        </p:nvSpPr>
        <p:spPr>
          <a:xfrm>
            <a:off x="2624150" y="47382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 / RESTCONF / Telemetry</a:t>
            </a:r>
            <a:endParaRPr lang="en-US" sz="9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35" name="Text 17"/>
          <p:cNvSpPr/>
          <p:nvPr/>
        </p:nvSpPr>
        <p:spPr>
          <a:xfrm>
            <a:off x="1449481" y="576898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</a:t>
            </a: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changes, report results</a:t>
            </a:r>
            <a:endParaRPr lang="en-US" sz="1100" dirty="0"/>
          </a:p>
        </p:txBody>
      </p:sp>
      <p:sp>
        <p:nvSpPr>
          <p:cNvPr id="40" name="文本框 39"/>
          <p:cNvSpPr txBox="1"/>
          <p:nvPr/>
        </p:nvSpPr>
        <p:spPr>
          <a:xfrm>
            <a:off x="882062" y="1208489"/>
            <a:ext cx="6705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1: intent-driven service provisioning / optimization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Shape 6"/>
          <p:cNvSpPr/>
          <p:nvPr/>
        </p:nvSpPr>
        <p:spPr>
          <a:xfrm>
            <a:off x="2242549" y="1867464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37" name="Text 7"/>
          <p:cNvSpPr/>
          <p:nvPr/>
        </p:nvSpPr>
        <p:spPr>
          <a:xfrm>
            <a:off x="2563407" y="17962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  <p:sp>
        <p:nvSpPr>
          <p:cNvPr id="5" name="文本框 4"/>
          <p:cNvSpPr txBox="1"/>
          <p:nvPr/>
        </p:nvSpPr>
        <p:spPr>
          <a:xfrm>
            <a:off x="5462546" y="1645778"/>
            <a:ext cx="616771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Natural Language: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Pros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Empowers human operators to express richer intent, e.g., expectations, constraints, preferences, retry strategies, and fallback rules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Communication protocols like A2A natively support unstructured plain text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Could be ambiguous, and lacks the precision needed for network operations </a:t>
            </a:r>
            <a:endParaRPr lang="en-US" sz="1600" dirty="0"/>
          </a:p>
          <a:p>
            <a:endParaRPr lang="en-US" sz="1600" dirty="0" smtClean="0"/>
          </a:p>
          <a:p>
            <a:r>
              <a:rPr lang="en-US" sz="1600" dirty="0" smtClean="0"/>
              <a:t>Structured YANG: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Pros: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ensure deterministic, high-efficiency execution with highly structured and validated 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Completely inflexible and has expressiveness limits </a:t>
            </a:r>
          </a:p>
          <a:p>
            <a:endParaRPr lang="en-US" sz="1600" dirty="0" smtClean="0"/>
          </a:p>
          <a:p>
            <a:r>
              <a:rPr lang="en-US" sz="1600" dirty="0" smtClean="0"/>
              <a:t>The core challenge is translating high-level natural language negotiations into precise YANG representations without losing context. </a:t>
            </a:r>
          </a:p>
        </p:txBody>
      </p:sp>
      <p:sp>
        <p:nvSpPr>
          <p:cNvPr id="6" name="椭圆 5"/>
          <p:cNvSpPr/>
          <p:nvPr/>
        </p:nvSpPr>
        <p:spPr>
          <a:xfrm>
            <a:off x="882062" y="2891592"/>
            <a:ext cx="4013065" cy="116546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59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图片 8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707" y="4623754"/>
            <a:ext cx="4752130" cy="1486849"/>
          </a:xfrm>
          <a:prstGeom prst="rect">
            <a:avLst/>
          </a:prstGeom>
        </p:spPr>
      </p:pic>
      <p:sp>
        <p:nvSpPr>
          <p:cNvPr id="39" name="标题 1"/>
          <p:cNvSpPr txBox="1">
            <a:spLocks/>
          </p:cNvSpPr>
          <p:nvPr/>
        </p:nvSpPr>
        <p:spPr>
          <a:xfrm>
            <a:off x="355390" y="57034"/>
            <a:ext cx="11603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Gap Analysis 2: Token Efficiency and Encoding Overhead </a:t>
            </a:r>
            <a:endParaRPr lang="en-US" dirty="0"/>
          </a:p>
        </p:txBody>
      </p:sp>
      <p:sp>
        <p:nvSpPr>
          <p:cNvPr id="40" name="文本框 39"/>
          <p:cNvSpPr txBox="1"/>
          <p:nvPr/>
        </p:nvSpPr>
        <p:spPr>
          <a:xfrm>
            <a:off x="5184328" y="775688"/>
            <a:ext cx="593710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LLMs don’t read text as humans do – they process tokens. Tokens are the basic units of text that LLMs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Each model has a maximum number of tokens it can handle (context window)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Both input (prompt + context) and output (responses) consumes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 tokens cost money </a:t>
            </a:r>
            <a:endParaRPr lang="en-US" dirty="0"/>
          </a:p>
        </p:txBody>
      </p:sp>
      <p:sp>
        <p:nvSpPr>
          <p:cNvPr id="41" name="文本框 40"/>
          <p:cNvSpPr txBox="1"/>
          <p:nvPr/>
        </p:nvSpPr>
        <p:spPr>
          <a:xfrm>
            <a:off x="5113172" y="3154445"/>
            <a:ext cx="71155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Structured formats (JSON/XML) often cost more tokens due to repeated field names/markup.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Highly compressed formats like CBOR solve bandwidth issues but are incompatible with LLMs (LLMs cannot consume raw binary payloads directly)</a:t>
            </a:r>
          </a:p>
        </p:txBody>
      </p:sp>
      <p:sp>
        <p:nvSpPr>
          <p:cNvPr id="43" name="矩形 42"/>
          <p:cNvSpPr/>
          <p:nvPr/>
        </p:nvSpPr>
        <p:spPr>
          <a:xfrm>
            <a:off x="5030341" y="6093972"/>
            <a:ext cx="701936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Token consumption benchmarks; source: </a:t>
            </a:r>
            <a:r>
              <a:rPr lang="en-US" sz="1400" dirty="0" smtClean="0">
                <a:hlinkClick r:id="rId4"/>
              </a:rPr>
              <a:t>https://github.com/toon-format/toon#benchmarks</a:t>
            </a:r>
            <a:r>
              <a:rPr lang="en-US" sz="1400" dirty="0" smtClean="0"/>
              <a:t> </a:t>
            </a:r>
            <a:endParaRPr lang="en-US" sz="1400" dirty="0"/>
          </a:p>
        </p:txBody>
      </p:sp>
      <p:sp>
        <p:nvSpPr>
          <p:cNvPr id="44" name="圆角矩形 43"/>
          <p:cNvSpPr/>
          <p:nvPr/>
        </p:nvSpPr>
        <p:spPr>
          <a:xfrm>
            <a:off x="5750350" y="5361888"/>
            <a:ext cx="5195556" cy="310650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Shape 2"/>
          <p:cNvSpPr/>
          <p:nvPr/>
        </p:nvSpPr>
        <p:spPr>
          <a:xfrm>
            <a:off x="355390" y="2382819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6" name="Shape 3"/>
          <p:cNvSpPr/>
          <p:nvPr/>
        </p:nvSpPr>
        <p:spPr>
          <a:xfrm>
            <a:off x="538270" y="256569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7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44" y="2697373"/>
            <a:ext cx="285293" cy="285293"/>
          </a:xfrm>
          <a:prstGeom prst="rect">
            <a:avLst/>
          </a:prstGeom>
        </p:spPr>
      </p:pic>
      <p:sp>
        <p:nvSpPr>
          <p:cNvPr id="48" name="Text 4"/>
          <p:cNvSpPr/>
          <p:nvPr/>
        </p:nvSpPr>
        <p:spPr>
          <a:xfrm>
            <a:off x="1269790" y="2510835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Agent(s)</a:t>
            </a:r>
            <a:endParaRPr lang="en-US" sz="1500" dirty="0"/>
          </a:p>
        </p:txBody>
      </p:sp>
      <p:sp>
        <p:nvSpPr>
          <p:cNvPr id="49" name="Shape 6"/>
          <p:cNvSpPr/>
          <p:nvPr/>
        </p:nvSpPr>
        <p:spPr>
          <a:xfrm>
            <a:off x="1614623" y="3365699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50" name="Shape 8"/>
          <p:cNvSpPr/>
          <p:nvPr/>
        </p:nvSpPr>
        <p:spPr>
          <a:xfrm>
            <a:off x="369730" y="3784380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1" name="Shape 9"/>
          <p:cNvSpPr/>
          <p:nvPr/>
        </p:nvSpPr>
        <p:spPr>
          <a:xfrm>
            <a:off x="538270" y="398301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44" y="4114693"/>
            <a:ext cx="285293" cy="285293"/>
          </a:xfrm>
          <a:prstGeom prst="rect">
            <a:avLst/>
          </a:prstGeom>
        </p:spPr>
      </p:pic>
      <p:sp>
        <p:nvSpPr>
          <p:cNvPr id="53" name="Text 10"/>
          <p:cNvSpPr/>
          <p:nvPr/>
        </p:nvSpPr>
        <p:spPr>
          <a:xfrm>
            <a:off x="1618168" y="3821735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54" name="Text 13"/>
          <p:cNvSpPr/>
          <p:nvPr/>
        </p:nvSpPr>
        <p:spPr>
          <a:xfrm>
            <a:off x="1107589" y="4616192"/>
            <a:ext cx="12761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Telemetry</a:t>
            </a:r>
            <a:endParaRPr lang="en-US" sz="950" dirty="0"/>
          </a:p>
        </p:txBody>
      </p:sp>
      <p:sp>
        <p:nvSpPr>
          <p:cNvPr id="55" name="Shape 14"/>
          <p:cNvSpPr/>
          <p:nvPr/>
        </p:nvSpPr>
        <p:spPr>
          <a:xfrm>
            <a:off x="355390" y="5217459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6" name="Shape 15"/>
          <p:cNvSpPr/>
          <p:nvPr/>
        </p:nvSpPr>
        <p:spPr>
          <a:xfrm>
            <a:off x="538270" y="540033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44" y="5532013"/>
            <a:ext cx="285293" cy="285293"/>
          </a:xfrm>
          <a:prstGeom prst="rect">
            <a:avLst/>
          </a:prstGeom>
        </p:spPr>
      </p:pic>
      <p:sp>
        <p:nvSpPr>
          <p:cNvPr id="58" name="Text 16"/>
          <p:cNvSpPr/>
          <p:nvPr/>
        </p:nvSpPr>
        <p:spPr>
          <a:xfrm>
            <a:off x="1269790" y="5345475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59" name="文本框 58"/>
          <p:cNvSpPr txBox="1"/>
          <p:nvPr/>
        </p:nvSpPr>
        <p:spPr>
          <a:xfrm>
            <a:off x="702371" y="1169025"/>
            <a:ext cx="4582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Workflow Example 2: </a:t>
            </a:r>
            <a:r>
              <a:rPr lang="en-US" altLang="zh-CN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Network Troubleshooting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Shape 6"/>
          <p:cNvSpPr/>
          <p:nvPr/>
        </p:nvSpPr>
        <p:spPr>
          <a:xfrm>
            <a:off x="1614834" y="1918825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61" name="Text 7"/>
          <p:cNvSpPr/>
          <p:nvPr/>
        </p:nvSpPr>
        <p:spPr>
          <a:xfrm>
            <a:off x="1908450" y="18183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  <p:sp>
        <p:nvSpPr>
          <p:cNvPr id="62" name="Text 11"/>
          <p:cNvSpPr/>
          <p:nvPr/>
        </p:nvSpPr>
        <p:spPr>
          <a:xfrm>
            <a:off x="1552003" y="4441290"/>
            <a:ext cx="10607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 collection and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 smtClean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63" name="Text 11"/>
          <p:cNvSpPr/>
          <p:nvPr/>
        </p:nvSpPr>
        <p:spPr>
          <a:xfrm>
            <a:off x="1746240" y="4290153"/>
            <a:ext cx="99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64" name="Text 11"/>
          <p:cNvSpPr/>
          <p:nvPr/>
        </p:nvSpPr>
        <p:spPr>
          <a:xfrm>
            <a:off x="2619034" y="4448893"/>
            <a:ext cx="1564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diagnosis, and resolution</a:t>
            </a:r>
            <a:endParaRPr lang="en-US" sz="1100" dirty="0" smtClean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65" name="Text 7"/>
          <p:cNvSpPr/>
          <p:nvPr/>
        </p:nvSpPr>
        <p:spPr>
          <a:xfrm>
            <a:off x="1935481" y="3237005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intent input </a:t>
            </a:r>
            <a:endParaRPr lang="en-US" sz="950" dirty="0"/>
          </a:p>
        </p:txBody>
      </p:sp>
      <p:sp>
        <p:nvSpPr>
          <p:cNvPr id="66" name="Shape 6"/>
          <p:cNvSpPr/>
          <p:nvPr/>
        </p:nvSpPr>
        <p:spPr>
          <a:xfrm rot="10800000">
            <a:off x="2933998" y="3353897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67" name="Text 7"/>
          <p:cNvSpPr/>
          <p:nvPr/>
        </p:nvSpPr>
        <p:spPr>
          <a:xfrm>
            <a:off x="3306237" y="3272865"/>
            <a:ext cx="146994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result report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950" dirty="0"/>
          </a:p>
        </p:txBody>
      </p:sp>
      <p:sp>
        <p:nvSpPr>
          <p:cNvPr id="68" name="左弧形箭头 67"/>
          <p:cNvSpPr/>
          <p:nvPr/>
        </p:nvSpPr>
        <p:spPr>
          <a:xfrm rot="10974281" flipH="1">
            <a:off x="2120408" y="4732450"/>
            <a:ext cx="306083" cy="475616"/>
          </a:xfrm>
          <a:prstGeom prst="curvedRight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上弧形箭头 68"/>
          <p:cNvSpPr/>
          <p:nvPr/>
        </p:nvSpPr>
        <p:spPr>
          <a:xfrm>
            <a:off x="2240425" y="4122911"/>
            <a:ext cx="706214" cy="305269"/>
          </a:xfrm>
          <a:prstGeom prst="curvedDownArrow">
            <a:avLst/>
          </a:prstGeom>
          <a:solidFill>
            <a:srgbClr val="5B6B7A"/>
          </a:solidFill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左弧形箭头 69"/>
          <p:cNvSpPr/>
          <p:nvPr/>
        </p:nvSpPr>
        <p:spPr>
          <a:xfrm flipH="1">
            <a:off x="2818968" y="4754652"/>
            <a:ext cx="255342" cy="455789"/>
          </a:xfrm>
          <a:prstGeom prst="curvedRight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 13"/>
          <p:cNvSpPr/>
          <p:nvPr/>
        </p:nvSpPr>
        <p:spPr>
          <a:xfrm>
            <a:off x="3128705" y="4683202"/>
            <a:ext cx="1438465" cy="5002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NETCONF/RESTCONF</a:t>
            </a:r>
            <a:endParaRPr lang="en-US" sz="950" dirty="0"/>
          </a:p>
        </p:txBody>
      </p:sp>
      <p:sp>
        <p:nvSpPr>
          <p:cNvPr id="72" name="Shape 6"/>
          <p:cNvSpPr/>
          <p:nvPr/>
        </p:nvSpPr>
        <p:spPr>
          <a:xfrm rot="10800000">
            <a:off x="2983522" y="1891881"/>
            <a:ext cx="237744" cy="393192"/>
          </a:xfrm>
          <a:prstGeom prst="downArrow">
            <a:avLst/>
          </a:prstGeom>
          <a:solidFill>
            <a:srgbClr val="5B6B7A"/>
          </a:solidFill>
          <a:ln/>
        </p:spPr>
      </p:sp>
      <p:sp>
        <p:nvSpPr>
          <p:cNvPr id="73" name="Text 7"/>
          <p:cNvSpPr/>
          <p:nvPr/>
        </p:nvSpPr>
        <p:spPr>
          <a:xfrm>
            <a:off x="3355761" y="1810849"/>
            <a:ext cx="146994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zh-CN" altLang="en-US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①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fulfillment 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report</a:t>
            </a:r>
            <a:r>
              <a:rPr lang="en-US" altLang="zh-CN" sz="950" i="1" dirty="0" smtClean="0">
                <a:solidFill>
                  <a:srgbClr val="5B6B7A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950" dirty="0"/>
          </a:p>
        </p:txBody>
      </p:sp>
      <p:sp>
        <p:nvSpPr>
          <p:cNvPr id="74" name="矩形 73"/>
          <p:cNvSpPr/>
          <p:nvPr/>
        </p:nvSpPr>
        <p:spPr>
          <a:xfrm>
            <a:off x="1505601" y="4415800"/>
            <a:ext cx="950828" cy="2674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矩形 74"/>
          <p:cNvSpPr/>
          <p:nvPr/>
        </p:nvSpPr>
        <p:spPr>
          <a:xfrm>
            <a:off x="2583825" y="4415800"/>
            <a:ext cx="1423002" cy="2674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椭圆 79"/>
          <p:cNvSpPr/>
          <p:nvPr/>
        </p:nvSpPr>
        <p:spPr>
          <a:xfrm>
            <a:off x="1199092" y="4101535"/>
            <a:ext cx="2915564" cy="6740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文本框 80"/>
          <p:cNvSpPr txBox="1"/>
          <p:nvPr/>
        </p:nvSpPr>
        <p:spPr>
          <a:xfrm>
            <a:off x="955237" y="6393733"/>
            <a:ext cx="108853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Injecting large-scale network operational state as JSON/XML into the LLM context prompt creates a bottleneck; Repetitive</a:t>
            </a:r>
          </a:p>
          <a:p>
            <a:r>
              <a:rPr lang="en-US" sz="1600" dirty="0" smtClean="0"/>
              <a:t>tags acts as attention noise, burying the critical diagnosis and reducing the reasoning performance.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88857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/>
          <p:cNvSpPr txBox="1">
            <a:spLocks/>
          </p:cNvSpPr>
          <p:nvPr/>
        </p:nvSpPr>
        <p:spPr>
          <a:xfrm>
            <a:off x="446224" y="65811"/>
            <a:ext cx="11075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Gap Analysis 3: Non-determinism Task </a:t>
            </a:r>
            <a:r>
              <a:rPr lang="en-US" dirty="0"/>
              <a:t>H</a:t>
            </a:r>
            <a:r>
              <a:rPr lang="en-US" altLang="zh-CN" dirty="0" smtClean="0"/>
              <a:t>andling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6293223" y="5844989"/>
            <a:ext cx="5435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AI Agents introduces probability that challenge the deterministic foundations of model-driven networking.  </a:t>
            </a:r>
            <a:endParaRPr 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268941" y="1687384"/>
            <a:ext cx="515470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Non-determinism in service provisioning workflow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Divergent decomposition strategies for multi-step tasks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Different YANG instance data for the exact same service/network intent</a:t>
            </a:r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Non-determinism in network diagnosis workflow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Different root-cause conclusions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Variability in repair </a:t>
            </a:r>
            <a:r>
              <a:rPr lang="en-US" altLang="zh-CN" dirty="0" smtClean="0"/>
              <a:t>solutions</a:t>
            </a:r>
            <a:endParaRPr 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6279775" y="1687384"/>
            <a:ext cx="54619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Root-causes of Agent non-determinism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At the core, LLM runs on next-token prediction probabilities, which inherently introduces randomness.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Context drift: even minor shifts in historical context can alter outcomes for identical tasks.</a:t>
            </a:r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Key impacts of non-determinism on network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Undermined reliability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Reduced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Increased operational complexity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Potential for harm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1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Potential Solutions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69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48584"/>
            <a:ext cx="10515600" cy="1325563"/>
          </a:xfrm>
        </p:spPr>
        <p:txBody>
          <a:bodyPr/>
          <a:lstStyle/>
          <a:p>
            <a:r>
              <a:rPr lang="en-US" dirty="0" smtClean="0"/>
              <a:t>Semantic Enrichment via Knowledge Graphs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73225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6606988" y="6288305"/>
            <a:ext cx="52802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 smtClean="0">
                <a:hlinkClick r:id="rId2"/>
              </a:rPr>
              <a:t>https://datatracker.ietf.org/doc/draft-mackey-nmop-kg-for-netops/</a:t>
            </a:r>
            <a:r>
              <a:rPr lang="en-US" sz="1200" dirty="0" smtClean="0"/>
              <a:t> </a:t>
            </a:r>
          </a:p>
          <a:p>
            <a:r>
              <a:rPr lang="en-US" sz="1200" dirty="0" smtClean="0">
                <a:hlinkClick r:id="rId3"/>
              </a:rPr>
              <a:t>https://datatracker.ietf.org/doc/draft-ietf-nmop-network-anomaly-semantics/</a:t>
            </a:r>
            <a:r>
              <a:rPr lang="en-US" sz="1200" dirty="0" smtClean="0"/>
              <a:t>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3456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Declarative Intent/Policy Overlay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267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99416" y="904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 smtClean="0"/>
              <a:t>Token-efficient Data Format for LLM input? TOON?</a:t>
            </a:r>
            <a:endParaRPr 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8416" y="1416021"/>
            <a:ext cx="6195831" cy="2549151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dirty="0" smtClean="0"/>
              <a:t>TOON (Token-Oriented </a:t>
            </a:r>
            <a:r>
              <a:rPr lang="en-US" altLang="zh-CN" dirty="0"/>
              <a:t>O</a:t>
            </a:r>
            <a:r>
              <a:rPr lang="en-US" altLang="zh-CN" dirty="0" smtClean="0"/>
              <a:t>bject </a:t>
            </a:r>
            <a:r>
              <a:rPr lang="en-US" altLang="zh-CN" dirty="0"/>
              <a:t>N</a:t>
            </a:r>
            <a:r>
              <a:rPr lang="en-US" altLang="zh-CN" dirty="0" smtClean="0"/>
              <a:t>otation)</a:t>
            </a:r>
            <a:endParaRPr lang="en-US" dirty="0" smtClean="0"/>
          </a:p>
          <a:p>
            <a:pPr lvl="1"/>
            <a:r>
              <a:rPr lang="en-US" dirty="0" smtClean="0"/>
              <a:t>a data serialization format designed specifically for LLM applications.</a:t>
            </a:r>
          </a:p>
          <a:p>
            <a:pPr lvl="1"/>
            <a:r>
              <a:rPr lang="en-US" dirty="0" smtClean="0"/>
              <a:t>Zero syntax redundancy: removes clos</a:t>
            </a:r>
            <a:r>
              <a:rPr lang="en-US" altLang="zh-CN" dirty="0" smtClean="0"/>
              <a:t>ing XML tags and JSON braces</a:t>
            </a:r>
            <a:endParaRPr lang="en-US" dirty="0" smtClean="0"/>
          </a:p>
          <a:p>
            <a:pPr lvl="1"/>
            <a:r>
              <a:rPr lang="en-US" dirty="0" smtClean="0"/>
              <a:t>Context window relief: 30%~60% less token consumption</a:t>
            </a:r>
          </a:p>
          <a:p>
            <a:pPr lvl="1"/>
            <a:r>
              <a:rPr lang="en-US" dirty="0" smtClean="0"/>
              <a:t>Official Repositories:</a:t>
            </a:r>
          </a:p>
          <a:p>
            <a:pPr lvl="2"/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github.com/toon-format/toon</a:t>
            </a:r>
            <a:endParaRPr lang="en-US" dirty="0" smtClean="0"/>
          </a:p>
          <a:p>
            <a:pPr lvl="2"/>
            <a:r>
              <a:rPr lang="en-US" dirty="0">
                <a:hlinkClick r:id="rId3"/>
              </a:rPr>
              <a:t>https://github.com/toon-format/spec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8335446" y="6350753"/>
            <a:ext cx="204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Format Comparison</a:t>
            </a:r>
            <a:endParaRPr 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7016927" y="1263189"/>
            <a:ext cx="18422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{</a:t>
            </a:r>
          </a:p>
          <a:p>
            <a:r>
              <a:rPr lang="en-US" sz="1400" dirty="0" smtClean="0"/>
              <a:t>  "users": [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1,</a:t>
            </a:r>
          </a:p>
          <a:p>
            <a:r>
              <a:rPr lang="en-US" sz="1400" dirty="0" smtClean="0"/>
              <a:t>      "name": "Alice",</a:t>
            </a:r>
          </a:p>
          <a:p>
            <a:r>
              <a:rPr lang="en-US" sz="1400" dirty="0" smtClean="0"/>
              <a:t>      "role": "Admin",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2,</a:t>
            </a:r>
          </a:p>
          <a:p>
            <a:r>
              <a:rPr lang="en-US" sz="1400" dirty="0" smtClean="0"/>
              <a:t>      "name": "Bob",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"Inactive"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3,</a:t>
            </a:r>
          </a:p>
          <a:p>
            <a:r>
              <a:rPr lang="en-US" sz="1400" dirty="0" smtClean="0"/>
              <a:t>      "name": "Charlie",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</a:t>
            </a:r>
          </a:p>
          <a:p>
            <a:r>
              <a:rPr lang="en-US" sz="1400" dirty="0" smtClean="0"/>
              <a:t>  ]</a:t>
            </a:r>
          </a:p>
          <a:p>
            <a:r>
              <a:rPr lang="en-US" sz="1400" dirty="0" smtClean="0"/>
              <a:t>}</a:t>
            </a:r>
            <a:endParaRPr lang="en-US" sz="1400" dirty="0"/>
          </a:p>
        </p:txBody>
      </p:sp>
      <p:sp>
        <p:nvSpPr>
          <p:cNvPr id="6" name="矩形 5"/>
          <p:cNvSpPr/>
          <p:nvPr/>
        </p:nvSpPr>
        <p:spPr>
          <a:xfrm>
            <a:off x="9493231" y="2924653"/>
            <a:ext cx="258183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users[3]{</a:t>
            </a:r>
            <a:r>
              <a:rPr lang="en-US" sz="1400" dirty="0" err="1"/>
              <a:t>id,name,role,status</a:t>
            </a:r>
            <a:r>
              <a:rPr lang="en-US" sz="1400" dirty="0"/>
              <a:t>}:</a:t>
            </a:r>
          </a:p>
          <a:p>
            <a:r>
              <a:rPr lang="en-US" sz="1400" dirty="0"/>
              <a:t>1,Alice,Admin,Active</a:t>
            </a:r>
          </a:p>
          <a:p>
            <a:r>
              <a:rPr lang="en-US" sz="1400" dirty="0"/>
              <a:t>2,Bob,User,Inactive</a:t>
            </a:r>
          </a:p>
          <a:p>
            <a:r>
              <a:rPr lang="en-US" sz="1400" dirty="0"/>
              <a:t>3,Charlie,User,Active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7329857" y="6004000"/>
            <a:ext cx="1094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JSON format</a:t>
            </a:r>
            <a:endParaRPr lang="en-US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072758" y="6004000"/>
            <a:ext cx="11567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TOON format</a:t>
            </a:r>
            <a:endParaRPr lang="en-US" sz="1400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94" y="4168125"/>
            <a:ext cx="5831353" cy="1736638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48303" y="6027588"/>
            <a:ext cx="613456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 smtClean="0"/>
              <a:t>TOON achieves 76.4% accuracy (vs JSON's 75.0%) while using 39.9% fewer tokens.</a:t>
            </a:r>
          </a:p>
        </p:txBody>
      </p:sp>
      <p:sp>
        <p:nvSpPr>
          <p:cNvPr id="11" name="矩形 10"/>
          <p:cNvSpPr/>
          <p:nvPr/>
        </p:nvSpPr>
        <p:spPr>
          <a:xfrm>
            <a:off x="6950206" y="1322606"/>
            <a:ext cx="2277036" cy="47049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/>
          <p:cNvSpPr/>
          <p:nvPr/>
        </p:nvSpPr>
        <p:spPr>
          <a:xfrm>
            <a:off x="9535048" y="2942203"/>
            <a:ext cx="2232212" cy="9458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36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Proposed Mitigations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Deterministic Gua</a:t>
            </a:r>
            <a:r>
              <a:rPr lang="en-US" altLang="zh-CN" dirty="0" smtClean="0"/>
              <a:t>r</a:t>
            </a:r>
            <a:r>
              <a:rPr lang="en-US" dirty="0" smtClean="0"/>
              <a:t>drails: </a:t>
            </a:r>
            <a:r>
              <a:rPr lang="en-US" altLang="zh-CN" dirty="0" smtClean="0"/>
              <a:t>wrapping probabilistic outputs in hard-coded YANG schema validation rules</a:t>
            </a:r>
          </a:p>
          <a:p>
            <a:r>
              <a:rPr lang="en-US" dirty="0" smtClean="0"/>
              <a:t>Run-time Intervention: Implementing mandatory HITL for critical execution steps</a:t>
            </a:r>
          </a:p>
          <a:p>
            <a:r>
              <a:rPr lang="en-US" dirty="0" smtClean="0"/>
              <a:t>Reasoning snapshots: archiving the “Chain-Of-Thought” to audit the divergence during troubleshooting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10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B6B7A"/>
        </a:solidFill>
        <a:ln/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8724</TotalTime>
  <Words>1295</Words>
  <Application>Microsoft Office PowerPoint</Application>
  <PresentationFormat>宽屏</PresentationFormat>
  <Paragraphs>215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宋体</vt:lpstr>
      <vt:lpstr>Arial</vt:lpstr>
      <vt:lpstr>Calibri</vt:lpstr>
      <vt:lpstr>Calibri Light</vt:lpstr>
      <vt:lpstr>Office 主题</vt:lpstr>
      <vt:lpstr>AI-Driven Autonomous Networks</vt:lpstr>
      <vt:lpstr>Agenda</vt:lpstr>
      <vt:lpstr>Background and Context</vt:lpstr>
      <vt:lpstr>The RFC 8969 Paradigm for Model-driven Automation </vt:lpstr>
      <vt:lpstr>From Static Pipeline to Agent Hierarchy</vt:lpstr>
      <vt:lpstr>From Static Pipeline to Agent Hierarchy</vt:lpstr>
      <vt:lpstr>From Static Pipeline to Agent Hierarchy</vt:lpstr>
      <vt:lpstr>Core Challenges Analysis</vt:lpstr>
      <vt:lpstr>Gap Analysis 1: The Semantic Divide</vt:lpstr>
      <vt:lpstr>PowerPoint 演示文稿</vt:lpstr>
      <vt:lpstr>PowerPoint 演示文稿</vt:lpstr>
      <vt:lpstr>Potential Solutions</vt:lpstr>
      <vt:lpstr>Semantic Enrichment via Knowledge Graphs</vt:lpstr>
      <vt:lpstr>Declarative Intent/Policy Overlay</vt:lpstr>
      <vt:lpstr>Token-efficient Data Format for LLM input? TOON?</vt:lpstr>
      <vt:lpstr>Other Proposed Mitigations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48</cp:revision>
  <dcterms:created xsi:type="dcterms:W3CDTF">2026-07-03T09:07:50Z</dcterms:created>
  <dcterms:modified xsi:type="dcterms:W3CDTF">2026-07-09T10:32:39Z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1782898301</vt:lpwstr>
  </property>
</Properties>
</file>