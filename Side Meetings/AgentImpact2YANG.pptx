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62" r:id="rId3"/>
    <p:sldId id="266" r:id="rId4"/>
    <p:sldId id="261" r:id="rId5"/>
    <p:sldId id="263" r:id="rId6"/>
    <p:sldId id="286" r:id="rId7"/>
    <p:sldId id="264" r:id="rId8"/>
    <p:sldId id="279" r:id="rId9"/>
    <p:sldId id="269" r:id="rId10"/>
    <p:sldId id="289" r:id="rId11"/>
    <p:sldId id="258" r:id="rId12"/>
    <p:sldId id="260" r:id="rId13"/>
    <p:sldId id="271" r:id="rId14"/>
    <p:sldId id="276" r:id="rId15"/>
    <p:sldId id="284" r:id="rId16"/>
    <p:sldId id="285" r:id="rId17"/>
    <p:sldId id="270" r:id="rId18"/>
    <p:sldId id="283" r:id="rId19"/>
    <p:sldId id="28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1F3"/>
    <a:srgbClr val="F3F2F1"/>
    <a:srgbClr val="1D72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89392" autoAdjust="0"/>
  </p:normalViewPr>
  <p:slideViewPr>
    <p:cSldViewPr snapToGrid="0">
      <p:cViewPr varScale="1">
        <p:scale>
          <a:sx n="103" d="100"/>
          <a:sy n="103" d="100"/>
        </p:scale>
        <p:origin x="9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0CF82-65EC-44B8-81F8-2F4982E48986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2854AF-5357-44EF-B59D-5258B4C5F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896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92854AF-5357-44EF-B59D-5258B4C5F46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05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790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12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586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579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96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280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235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015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861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891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EE5B8-BB87-4586-AA02-8EB91A2F44B9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49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DEE5B8-BB87-4586-AA02-8EB91A2F44B9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1106FA-9A78-48D1-8B1D-CF20CEF36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175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niper/junos-mcp-server" TargetMode="External"/><Relationship Id="rId2" Type="http://schemas.openxmlformats.org/officeDocument/2006/relationships/hyperlink" Target="https://github.com/jillesca/gNMIBuddy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draft-tailhardat-nmop-incident-management-noria/" TargetMode="External"/><Relationship Id="rId2" Type="http://schemas.openxmlformats.org/officeDocument/2006/relationships/hyperlink" Target="https://datatracker.ietf.org/doc/draft-mackey-nmop-kg-for-netop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atatracker.ietf.org/doc/draft-ietf-nmop-network-anomaly-semantics/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oon-format/spec" TargetMode="External"/><Relationship Id="rId2" Type="http://schemas.openxmlformats.org/officeDocument/2006/relationships/hyperlink" Target="https://github.com/toon-format/toon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toon-format/toon#benchmarks" TargetMode="Externa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 smtClean="0"/>
              <a:t>Rethinking YANG-based Service and Network Management in the Era of Agentic AI</a:t>
            </a:r>
            <a:endParaRPr 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An investigation into how Agent-to-Agent (A2A) communications impact the traditional service, network, and device YANG model.</a:t>
            </a:r>
            <a:endParaRPr lang="en-US" dirty="0"/>
          </a:p>
        </p:txBody>
      </p:sp>
      <p:sp>
        <p:nvSpPr>
          <p:cNvPr id="5" name="矩形 4"/>
          <p:cNvSpPr/>
          <p:nvPr/>
        </p:nvSpPr>
        <p:spPr>
          <a:xfrm>
            <a:off x="3637450" y="4535465"/>
            <a:ext cx="457548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chemeClr val="bg2">
                    <a:lumMod val="50000"/>
                  </a:schemeClr>
                </a:solidFill>
              </a:rPr>
              <a:t>draft-mw-</a:t>
            </a:r>
            <a:r>
              <a:rPr lang="en-US" sz="2400" dirty="0" err="1">
                <a:solidFill>
                  <a:schemeClr val="bg2">
                    <a:lumMod val="50000"/>
                  </a:schemeClr>
                </a:solidFill>
              </a:rPr>
              <a:t>nmop</a:t>
            </a:r>
            <a:r>
              <a:rPr lang="en-US" sz="2400" dirty="0">
                <a:solidFill>
                  <a:schemeClr val="bg2">
                    <a:lumMod val="50000"/>
                  </a:schemeClr>
                </a:solidFill>
              </a:rPr>
              <a:t>-yang-</a:t>
            </a:r>
            <a:r>
              <a:rPr lang="en-US" sz="2400" dirty="0" err="1">
                <a:solidFill>
                  <a:schemeClr val="bg2">
                    <a:lumMod val="50000"/>
                  </a:schemeClr>
                </a:solidFill>
              </a:rPr>
              <a:t>ai</a:t>
            </a:r>
            <a:r>
              <a:rPr lang="en-US" sz="2400" dirty="0">
                <a:solidFill>
                  <a:schemeClr val="bg2">
                    <a:lumMod val="50000"/>
                  </a:schemeClr>
                </a:solidFill>
              </a:rPr>
              <a:t>-challenges</a:t>
            </a:r>
          </a:p>
        </p:txBody>
      </p:sp>
    </p:spTree>
    <p:extLst>
      <p:ext uri="{BB962C8B-B14F-4D97-AF65-F5344CB8AC3E}">
        <p14:creationId xmlns:p14="http://schemas.microsoft.com/office/powerpoint/2010/main" val="4250955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Outline</a:t>
            </a:r>
            <a:endParaRPr lang="en-US" dirty="0"/>
          </a:p>
        </p:txBody>
      </p:sp>
      <p:sp>
        <p:nvSpPr>
          <p:cNvPr id="20" name="内容占位符 19"/>
          <p:cNvSpPr>
            <a:spLocks noGrp="1"/>
          </p:cNvSpPr>
          <p:nvPr>
            <p:ph idx="1"/>
          </p:nvPr>
        </p:nvSpPr>
        <p:spPr>
          <a:xfrm>
            <a:off x="775447" y="1714407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Background &amp; Goal</a:t>
            </a:r>
          </a:p>
          <a:p>
            <a:pPr marL="0" indent="0">
              <a:buNone/>
            </a:pPr>
            <a:r>
              <a:rPr lang="en-US" sz="2400" dirty="0" smtClean="0">
                <a:solidFill>
                  <a:schemeClr val="bg2">
                    <a:lumMod val="75000"/>
                  </a:schemeClr>
                </a:solidFill>
              </a:rPr>
              <a:t>      Rethinking YANG </a:t>
            </a:r>
            <a:r>
              <a:rPr lang="en-US" altLang="zh-CN" sz="2400" dirty="0" smtClean="0">
                <a:solidFill>
                  <a:schemeClr val="bg2">
                    <a:lumMod val="75000"/>
                  </a:schemeClr>
                </a:solidFill>
              </a:rPr>
              <a:t>when the industry shifts towards Agentic AI</a:t>
            </a:r>
            <a:endParaRPr lang="en-US" sz="24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dirty="0" smtClean="0"/>
              <a:t>Two workflow Examples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Share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representative workflow examples in agentic architecture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dirty="0" smtClean="0"/>
              <a:t>Core Challenges Analysis</a:t>
            </a:r>
          </a:p>
          <a:p>
            <a:pPr marL="457200" lvl="1" indent="0">
              <a:buNone/>
            </a:pP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Deep dive into major gaps impeding the effective AI-YANG integration</a:t>
            </a:r>
          </a:p>
          <a:p>
            <a:r>
              <a:rPr lang="en-US" dirty="0" smtClean="0"/>
              <a:t>Potential Ways Forward</a:t>
            </a:r>
          </a:p>
          <a:p>
            <a:pPr marL="457200" lvl="1" indent="0">
              <a:buNone/>
            </a:pP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Exploring technical and architectural pathways to bridge the identified gaps</a:t>
            </a:r>
          </a:p>
          <a:p>
            <a:r>
              <a:rPr lang="en-US" dirty="0" smtClean="0"/>
              <a:t>Open Discussion</a:t>
            </a:r>
          </a:p>
          <a:p>
            <a:pPr marL="457200" lvl="1" indent="0">
              <a:buNone/>
            </a:pPr>
            <a:r>
              <a:rPr lang="en-US" dirty="0" smtClean="0">
                <a:solidFill>
                  <a:schemeClr val="bg2">
                    <a:lumMod val="75000"/>
                  </a:schemeClr>
                </a:solidFill>
              </a:rPr>
              <a:t>Interactive Q&amp;A, feedback sharing, and collaborative idea exchange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417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141191"/>
            <a:ext cx="10515600" cy="1325563"/>
          </a:xfrm>
        </p:spPr>
        <p:txBody>
          <a:bodyPr/>
          <a:lstStyle/>
          <a:p>
            <a:pPr algn="ctr"/>
            <a:r>
              <a:rPr lang="en-US" dirty="0" smtClean="0"/>
              <a:t>Background and Goal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466754"/>
            <a:ext cx="10993016" cy="50180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dirty="0" smtClean="0"/>
              <a:t>Background</a:t>
            </a:r>
          </a:p>
          <a:p>
            <a:r>
              <a:rPr lang="en-US" altLang="zh-CN" dirty="0" smtClean="0"/>
              <a:t>Agentic AI introduces new paradigms for network automation</a:t>
            </a:r>
          </a:p>
          <a:p>
            <a:r>
              <a:rPr lang="en-US" altLang="zh-CN" dirty="0" smtClean="0"/>
              <a:t>There is a gap in understanding how the Agentic AI interacts with YANG.</a:t>
            </a:r>
            <a:endParaRPr lang="en-US" altLang="zh-CN" dirty="0"/>
          </a:p>
          <a:p>
            <a:r>
              <a:rPr lang="en-US" altLang="zh-CN" dirty="0" smtClean="0"/>
              <a:t>What we are targeting is the ultimate state of zero-touch/human-out-of-loop, not just AI-assisted OPS.</a:t>
            </a:r>
            <a:endParaRPr lang="en-US" dirty="0"/>
          </a:p>
          <a:p>
            <a:pPr marL="0" indent="0">
              <a:buNone/>
            </a:pPr>
            <a:r>
              <a:rPr lang="en-US" b="1" dirty="0" smtClean="0"/>
              <a:t>Primary Goal</a:t>
            </a:r>
          </a:p>
          <a:p>
            <a:r>
              <a:rPr lang="en-US" dirty="0" smtClean="0"/>
              <a:t>Facilitate community discussion</a:t>
            </a:r>
          </a:p>
          <a:p>
            <a:r>
              <a:rPr lang="en-US" dirty="0" smtClean="0"/>
              <a:t>Identify key gaps that emerge when AI agents generate and operate on YANG data</a:t>
            </a:r>
          </a:p>
          <a:p>
            <a:r>
              <a:rPr lang="en-US" dirty="0" smtClean="0"/>
              <a:t>Establish complementary mechanisms that bridge those gaps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3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7489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14"/>
          <p:cNvSpPr/>
          <p:nvPr/>
        </p:nvSpPr>
        <p:spPr>
          <a:xfrm>
            <a:off x="535081" y="525692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1C7293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7" name="Shape 8"/>
          <p:cNvSpPr/>
          <p:nvPr/>
        </p:nvSpPr>
        <p:spPr>
          <a:xfrm>
            <a:off x="535081" y="3693928"/>
            <a:ext cx="4360046" cy="1060075"/>
          </a:xfrm>
          <a:prstGeom prst="roundRect">
            <a:avLst>
              <a:gd name="adj" fmla="val 9000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6" name="Shape 2"/>
          <p:cNvSpPr/>
          <p:nvPr/>
        </p:nvSpPr>
        <p:spPr>
          <a:xfrm>
            <a:off x="503164" y="2224309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21295C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87188" y="54636"/>
            <a:ext cx="11075894" cy="1325563"/>
          </a:xfrm>
        </p:spPr>
        <p:txBody>
          <a:bodyPr>
            <a:normAutofit/>
          </a:bodyPr>
          <a:lstStyle/>
          <a:p>
            <a:r>
              <a:rPr lang="en-US" sz="3600" dirty="0" smtClean="0"/>
              <a:t>The RFC 8969 Paradigm for Model-driven Automation </a:t>
            </a:r>
            <a:endParaRPr lang="en-US" sz="3600" dirty="0"/>
          </a:p>
        </p:txBody>
      </p:sp>
      <p:sp>
        <p:nvSpPr>
          <p:cNvPr id="4" name="文本框 3"/>
          <p:cNvSpPr txBox="1"/>
          <p:nvPr/>
        </p:nvSpPr>
        <p:spPr>
          <a:xfrm>
            <a:off x="1974293" y="2167809"/>
            <a:ext cx="13195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altLang="zh-CN" sz="1400" b="1" dirty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Orchestrator </a:t>
            </a:r>
            <a:endParaRPr lang="en-US" sz="1400" b="1" dirty="0">
              <a:solidFill>
                <a:schemeClr val="bg1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2094572" y="3640944"/>
            <a:ext cx="10406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altLang="zh-CN" sz="1400" b="1" dirty="0" smtClean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Controller</a:t>
            </a:r>
            <a:endParaRPr lang="en-US" sz="1400" b="1" dirty="0">
              <a:solidFill>
                <a:schemeClr val="bg1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756100" y="5294011"/>
            <a:ext cx="1617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altLang="zh-CN" sz="1400" b="1" dirty="0" smtClean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Network </a:t>
            </a:r>
            <a:r>
              <a:rPr lang="en-US" sz="1400" b="1" dirty="0" smtClean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Devices</a:t>
            </a:r>
            <a:endParaRPr lang="en-US" sz="1400" b="1" dirty="0">
              <a:solidFill>
                <a:schemeClr val="bg1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782074" y="5623483"/>
            <a:ext cx="1876924" cy="30777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sz="1400" b="1" dirty="0" smtClean="0">
                <a:solidFill>
                  <a:prstClr val="black"/>
                </a:solidFill>
                <a:latin typeface="Arial" charset="0"/>
                <a:ea typeface="宋体" pitchFamily="2" charset="-122"/>
              </a:rPr>
              <a:t>Device YANG Model</a:t>
            </a:r>
            <a:endParaRPr lang="en-US" sz="1400" b="1" dirty="0">
              <a:solidFill>
                <a:prstClr val="black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557566" y="4337482"/>
            <a:ext cx="2114681" cy="30777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sz="1400" b="1" dirty="0" smtClean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Network Orchestration</a:t>
            </a:r>
            <a:endParaRPr lang="en-US" sz="1400" b="1" dirty="0">
              <a:solidFill>
                <a:schemeClr val="bg1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644620" y="2814348"/>
            <a:ext cx="2045753" cy="30777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sz="1400" b="1" dirty="0" smtClean="0">
                <a:solidFill>
                  <a:schemeClr val="bg1"/>
                </a:solidFill>
                <a:latin typeface="Arial" charset="0"/>
                <a:ea typeface="宋体" pitchFamily="2" charset="-122"/>
              </a:rPr>
              <a:t>Service Orchestration</a:t>
            </a:r>
            <a:endParaRPr lang="en-US" sz="1400" b="1" dirty="0">
              <a:solidFill>
                <a:schemeClr val="bg1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611522" y="3978665"/>
            <a:ext cx="2006768" cy="307777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sz="1400" b="1" dirty="0" smtClean="0">
                <a:solidFill>
                  <a:prstClr val="black"/>
                </a:solidFill>
                <a:latin typeface="Arial" charset="0"/>
                <a:ea typeface="宋体" pitchFamily="2" charset="-122"/>
              </a:rPr>
              <a:t>Network YANG Model</a:t>
            </a:r>
            <a:endParaRPr lang="en-US" sz="1400" b="1" dirty="0">
              <a:solidFill>
                <a:prstClr val="black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687939" y="2452576"/>
            <a:ext cx="1937838" cy="307777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</a:pPr>
            <a:r>
              <a:rPr lang="en-US" sz="1400" b="1" dirty="0" smtClean="0">
                <a:solidFill>
                  <a:prstClr val="black"/>
                </a:solidFill>
                <a:latin typeface="Arial" charset="0"/>
                <a:ea typeface="宋体" pitchFamily="2" charset="-122"/>
              </a:rPr>
              <a:t>Service YANG Model</a:t>
            </a:r>
            <a:endParaRPr lang="en-US" sz="1400" b="1" dirty="0">
              <a:solidFill>
                <a:prstClr val="black"/>
              </a:solidFill>
              <a:latin typeface="Arial" charset="0"/>
              <a:ea typeface="宋体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5143376" y="2115695"/>
            <a:ext cx="6830146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/>
              <a:t>Architecture C</a:t>
            </a:r>
            <a:r>
              <a:rPr lang="en-US" altLang="zh-CN" sz="2800" dirty="0" smtClean="0"/>
              <a:t>haracteristics</a:t>
            </a:r>
            <a:endParaRPr lang="en-US" altLang="zh-CN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 smtClean="0"/>
              <a:t>Deterministic workflow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8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 smtClean="0"/>
              <a:t>Automation follows rigid, predefined workflows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8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 smtClean="0"/>
              <a:t>Hard-coded logic to map service-&gt;network-&gt;device layers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Highly Structured Interface &amp; Data Modeling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8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 smtClean="0"/>
              <a:t>Mandates highly structured YANG data models for every 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41" name="文本框 40"/>
          <p:cNvSpPr txBox="1"/>
          <p:nvPr/>
        </p:nvSpPr>
        <p:spPr>
          <a:xfrm>
            <a:off x="882062" y="1208489"/>
            <a:ext cx="8297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RFC8969: A Framework for Automating Service and Network Management with YANG</a:t>
            </a:r>
            <a:endParaRPr lang="en-US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Shape 3"/>
          <p:cNvSpPr/>
          <p:nvPr/>
        </p:nvSpPr>
        <p:spPr>
          <a:xfrm>
            <a:off x="638358" y="243062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0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032" y="2562296"/>
            <a:ext cx="285293" cy="285293"/>
          </a:xfrm>
          <a:prstGeom prst="rect">
            <a:avLst/>
          </a:prstGeom>
        </p:spPr>
      </p:pic>
      <p:sp>
        <p:nvSpPr>
          <p:cNvPr id="51" name="Shape 3"/>
          <p:cNvSpPr/>
          <p:nvPr/>
        </p:nvSpPr>
        <p:spPr>
          <a:xfrm>
            <a:off x="663840" y="3988049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14" y="4119723"/>
            <a:ext cx="285293" cy="285293"/>
          </a:xfrm>
          <a:prstGeom prst="rect">
            <a:avLst/>
          </a:prstGeom>
        </p:spPr>
      </p:pic>
      <p:sp>
        <p:nvSpPr>
          <p:cNvPr id="53" name="Shape 3"/>
          <p:cNvSpPr/>
          <p:nvPr/>
        </p:nvSpPr>
        <p:spPr>
          <a:xfrm>
            <a:off x="739597" y="537866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71" y="5510336"/>
            <a:ext cx="285293" cy="285293"/>
          </a:xfrm>
          <a:prstGeom prst="rect">
            <a:avLst/>
          </a:prstGeom>
        </p:spPr>
      </p:pic>
      <p:cxnSp>
        <p:nvCxnSpPr>
          <p:cNvPr id="24" name="直接箭头连接符 23"/>
          <p:cNvCxnSpPr/>
          <p:nvPr/>
        </p:nvCxnSpPr>
        <p:spPr>
          <a:xfrm flipH="1">
            <a:off x="2564975" y="3132618"/>
            <a:ext cx="7949" cy="546834"/>
          </a:xfrm>
          <a:prstGeom prst="straightConnector1">
            <a:avLst/>
          </a:prstGeom>
          <a:ln w="76200"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/>
          <p:cNvCxnSpPr/>
          <p:nvPr/>
        </p:nvCxnSpPr>
        <p:spPr>
          <a:xfrm flipH="1">
            <a:off x="2561000" y="4746196"/>
            <a:ext cx="7949" cy="546834"/>
          </a:xfrm>
          <a:prstGeom prst="straightConnector1">
            <a:avLst/>
          </a:prstGeom>
          <a:ln w="76200"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fld id="{54AB3086-DE1C-4E19-8CD7-9E76252A0DD1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4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683187" y="3250985"/>
            <a:ext cx="21695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/>
              <a:t>NETCONF/RESTCONF/Telemetry</a:t>
            </a:r>
            <a:endParaRPr lang="en-US" sz="1200" dirty="0"/>
          </a:p>
        </p:txBody>
      </p:sp>
      <p:sp>
        <p:nvSpPr>
          <p:cNvPr id="26" name="文本框 25"/>
          <p:cNvSpPr txBox="1"/>
          <p:nvPr/>
        </p:nvSpPr>
        <p:spPr>
          <a:xfrm>
            <a:off x="2683187" y="4882249"/>
            <a:ext cx="22770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NETCONF/RESTCONF/Telemetry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044033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9635" y="87630"/>
            <a:ext cx="11075894" cy="1325563"/>
          </a:xfrm>
        </p:spPr>
        <p:txBody>
          <a:bodyPr/>
          <a:lstStyle/>
          <a:p>
            <a:r>
              <a:rPr lang="en-US" dirty="0" smtClean="0"/>
              <a:t>Shift towards an Agentic AI based Hierarchy</a:t>
            </a:r>
            <a:endParaRPr lang="en-US" dirty="0"/>
          </a:p>
        </p:txBody>
      </p:sp>
      <p:sp>
        <p:nvSpPr>
          <p:cNvPr id="17" name="Shape 2"/>
          <p:cNvSpPr/>
          <p:nvPr/>
        </p:nvSpPr>
        <p:spPr>
          <a:xfrm>
            <a:off x="535081" y="242228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21295C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Shape 3"/>
          <p:cNvSpPr/>
          <p:nvPr/>
        </p:nvSpPr>
        <p:spPr>
          <a:xfrm>
            <a:off x="717961" y="260516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35" y="2736837"/>
            <a:ext cx="285293" cy="285293"/>
          </a:xfrm>
          <a:prstGeom prst="rect">
            <a:avLst/>
          </a:prstGeom>
        </p:spPr>
      </p:pic>
      <p:sp>
        <p:nvSpPr>
          <p:cNvPr id="20" name="Text 4"/>
          <p:cNvSpPr/>
          <p:nvPr/>
        </p:nvSpPr>
        <p:spPr>
          <a:xfrm>
            <a:off x="1449481" y="2550299"/>
            <a:ext cx="29432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AI Agent(s</a:t>
            </a:r>
            <a:r>
              <a:rPr lang="en-US" sz="15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endParaRPr lang="en-US" sz="1500" dirty="0"/>
          </a:p>
        </p:txBody>
      </p:sp>
      <p:sp>
        <p:nvSpPr>
          <p:cNvPr id="21" name="Text 5"/>
          <p:cNvSpPr/>
          <p:nvPr/>
        </p:nvSpPr>
        <p:spPr>
          <a:xfrm>
            <a:off x="1449481" y="293434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NL intent → service </a:t>
            </a: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23" name="Text 7"/>
          <p:cNvSpPr/>
          <p:nvPr/>
        </p:nvSpPr>
        <p:spPr>
          <a:xfrm>
            <a:off x="2563407" y="3309987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i="1" dirty="0" smtClean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 Agent communication Protocol</a:t>
            </a:r>
            <a:endParaRPr lang="en-US" sz="1050" b="1" dirty="0">
              <a:solidFill>
                <a:srgbClr val="C00000"/>
              </a:solidFill>
            </a:endParaRPr>
          </a:p>
        </p:txBody>
      </p:sp>
      <p:sp>
        <p:nvSpPr>
          <p:cNvPr id="24" name="Shape 8"/>
          <p:cNvSpPr/>
          <p:nvPr/>
        </p:nvSpPr>
        <p:spPr>
          <a:xfrm>
            <a:off x="535081" y="383960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5" name="Shape 9"/>
          <p:cNvSpPr/>
          <p:nvPr/>
        </p:nvSpPr>
        <p:spPr>
          <a:xfrm>
            <a:off x="717961" y="402248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35" y="4154157"/>
            <a:ext cx="285293" cy="285293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1449481" y="396761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AI Agent(s)</a:t>
            </a:r>
            <a:endParaRPr lang="en-US" sz="1500" dirty="0"/>
          </a:p>
        </p:txBody>
      </p:sp>
      <p:sp>
        <p:nvSpPr>
          <p:cNvPr id="28" name="Text 11"/>
          <p:cNvSpPr/>
          <p:nvPr/>
        </p:nvSpPr>
        <p:spPr>
          <a:xfrm>
            <a:off x="1449481" y="4351667"/>
            <a:ext cx="237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smtClean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Orchestration</a:t>
            </a:r>
            <a:endParaRPr lang="en-US" sz="1100" dirty="0"/>
          </a:p>
        </p:txBody>
      </p:sp>
      <p:sp>
        <p:nvSpPr>
          <p:cNvPr id="30" name="Text 13"/>
          <p:cNvSpPr/>
          <p:nvPr/>
        </p:nvSpPr>
        <p:spPr>
          <a:xfrm>
            <a:off x="2624150" y="4738244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NETCONF / RESTCONF / Telemetry</a:t>
            </a:r>
            <a:endParaRPr lang="en-US" sz="1050" dirty="0"/>
          </a:p>
        </p:txBody>
      </p:sp>
      <p:sp>
        <p:nvSpPr>
          <p:cNvPr id="31" name="Shape 14"/>
          <p:cNvSpPr/>
          <p:nvPr/>
        </p:nvSpPr>
        <p:spPr>
          <a:xfrm>
            <a:off x="535081" y="5256923"/>
            <a:ext cx="4360046" cy="914400"/>
          </a:xfrm>
          <a:prstGeom prst="roundRect">
            <a:avLst>
              <a:gd name="adj" fmla="val 9000"/>
            </a:avLst>
          </a:prstGeom>
          <a:solidFill>
            <a:srgbClr val="1C7293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2" name="Shape 15"/>
          <p:cNvSpPr/>
          <p:nvPr/>
        </p:nvSpPr>
        <p:spPr>
          <a:xfrm>
            <a:off x="717961" y="5439803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635" y="5571477"/>
            <a:ext cx="285293" cy="285293"/>
          </a:xfrm>
          <a:prstGeom prst="rect">
            <a:avLst/>
          </a:prstGeom>
        </p:spPr>
      </p:pic>
      <p:sp>
        <p:nvSpPr>
          <p:cNvPr id="34" name="Text 16"/>
          <p:cNvSpPr/>
          <p:nvPr/>
        </p:nvSpPr>
        <p:spPr>
          <a:xfrm>
            <a:off x="1449481" y="5384939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Devices</a:t>
            </a:r>
            <a:endParaRPr lang="en-US" sz="1500" dirty="0"/>
          </a:p>
        </p:txBody>
      </p:sp>
      <p:sp>
        <p:nvSpPr>
          <p:cNvPr id="35" name="Text 17"/>
          <p:cNvSpPr/>
          <p:nvPr/>
        </p:nvSpPr>
        <p:spPr>
          <a:xfrm>
            <a:off x="1449481" y="576898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4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changes, report results</a:t>
            </a:r>
            <a:endParaRPr lang="en-US" sz="1100" dirty="0"/>
          </a:p>
        </p:txBody>
      </p:sp>
      <p:sp>
        <p:nvSpPr>
          <p:cNvPr id="3" name="文本框 2"/>
          <p:cNvSpPr txBox="1"/>
          <p:nvPr/>
        </p:nvSpPr>
        <p:spPr>
          <a:xfrm>
            <a:off x="5078007" y="2531871"/>
            <a:ext cx="689346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 smtClean="0"/>
              <a:t>Interfaces between layers with agents are no longer YANG-driven management protocols – it now could travel alongside natural language intent, agent context,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 smtClean="0"/>
              <a:t>The </a:t>
            </a:r>
            <a:r>
              <a:rPr lang="en-US" sz="2200" dirty="0"/>
              <a:t>intent interpretation </a:t>
            </a:r>
            <a:r>
              <a:rPr lang="en-US" sz="2200" dirty="0" smtClean="0"/>
              <a:t>and workflow execution could be done by a probabilistic reasoning engine, and the agent autonomously decides which tools/APIs to invoke at which time</a:t>
            </a:r>
          </a:p>
        </p:txBody>
      </p:sp>
      <p:cxnSp>
        <p:nvCxnSpPr>
          <p:cNvPr id="36" name="直接箭头连接符 35"/>
          <p:cNvCxnSpPr/>
          <p:nvPr/>
        </p:nvCxnSpPr>
        <p:spPr>
          <a:xfrm flipH="1">
            <a:off x="2346220" y="3328442"/>
            <a:ext cx="7949" cy="546834"/>
          </a:xfrm>
          <a:prstGeom prst="straightConnector1">
            <a:avLst/>
          </a:prstGeom>
          <a:ln w="76200"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/>
          <p:nvPr/>
        </p:nvCxnSpPr>
        <p:spPr>
          <a:xfrm flipH="1">
            <a:off x="2308316" y="4745762"/>
            <a:ext cx="7949" cy="546834"/>
          </a:xfrm>
          <a:prstGeom prst="straightConnector1">
            <a:avLst/>
          </a:prstGeom>
          <a:ln w="76200"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下箭头 9"/>
          <p:cNvSpPr/>
          <p:nvPr/>
        </p:nvSpPr>
        <p:spPr>
          <a:xfrm>
            <a:off x="2249550" y="1971852"/>
            <a:ext cx="209238" cy="451001"/>
          </a:xfrm>
          <a:prstGeom prst="downArrow">
            <a:avLst/>
          </a:prstGeom>
          <a:solidFill>
            <a:srgbClr val="5B6B7A"/>
          </a:solidFill>
          <a:ln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 13"/>
          <p:cNvSpPr/>
          <p:nvPr/>
        </p:nvSpPr>
        <p:spPr>
          <a:xfrm>
            <a:off x="2563407" y="188191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i="1" dirty="0" smtClean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Intent</a:t>
            </a:r>
            <a:endParaRPr lang="en-US" sz="1050" dirty="0"/>
          </a:p>
        </p:txBody>
      </p:sp>
      <p:sp>
        <p:nvSpPr>
          <p:cNvPr id="29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5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882062" y="1208489"/>
            <a:ext cx="8658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If the pipeline is re-implemented with AI Agents at each/some layers, what would change? </a:t>
            </a:r>
            <a:endParaRPr lang="en-US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83646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Workflow Examples</a:t>
            </a:r>
            <a:endParaRPr 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2804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5"/>
          <p:cNvSpPr/>
          <p:nvPr/>
        </p:nvSpPr>
        <p:spPr>
          <a:xfrm>
            <a:off x="669921" y="2112264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9" name="Text 6"/>
          <p:cNvSpPr/>
          <p:nvPr/>
        </p:nvSpPr>
        <p:spPr>
          <a:xfrm>
            <a:off x="669921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1" name="Text 7"/>
          <p:cNvSpPr/>
          <p:nvPr/>
        </p:nvSpPr>
        <p:spPr>
          <a:xfrm>
            <a:off x="669921" y="2706624"/>
            <a:ext cx="19604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 </a:t>
            </a:r>
            <a:r>
              <a:rPr lang="en-US" sz="130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intent</a:t>
            </a:r>
            <a:endParaRPr lang="en-US" sz="1300" dirty="0"/>
          </a:p>
        </p:txBody>
      </p:sp>
      <p:sp>
        <p:nvSpPr>
          <p:cNvPr id="42" name="Shape 9"/>
          <p:cNvSpPr/>
          <p:nvPr/>
        </p:nvSpPr>
        <p:spPr>
          <a:xfrm>
            <a:off x="2961408" y="2331720"/>
            <a:ext cx="164592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43" name="Shape 10"/>
          <p:cNvSpPr/>
          <p:nvPr/>
        </p:nvSpPr>
        <p:spPr>
          <a:xfrm>
            <a:off x="3144288" y="21031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4" name="Text 11"/>
          <p:cNvSpPr/>
          <p:nvPr/>
        </p:nvSpPr>
        <p:spPr>
          <a:xfrm>
            <a:off x="3144288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45" name="Text 12"/>
          <p:cNvSpPr/>
          <p:nvPr/>
        </p:nvSpPr>
        <p:spPr>
          <a:xfrm>
            <a:off x="3043704" y="2697480"/>
            <a:ext cx="19604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Orchestrator </a:t>
            </a:r>
            <a:r>
              <a:rPr lang="en-US" sz="130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</a:t>
            </a:r>
            <a:endParaRPr lang="en-US" sz="1300" dirty="0"/>
          </a:p>
        </p:txBody>
      </p:sp>
      <p:sp>
        <p:nvSpPr>
          <p:cNvPr id="46" name="Shape 14"/>
          <p:cNvSpPr/>
          <p:nvPr/>
        </p:nvSpPr>
        <p:spPr>
          <a:xfrm>
            <a:off x="5123049" y="2331720"/>
            <a:ext cx="164592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47" name="Shape 15"/>
          <p:cNvSpPr/>
          <p:nvPr/>
        </p:nvSpPr>
        <p:spPr>
          <a:xfrm>
            <a:off x="5305929" y="21031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8" name="Text 16"/>
          <p:cNvSpPr/>
          <p:nvPr/>
        </p:nvSpPr>
        <p:spPr>
          <a:xfrm>
            <a:off x="5305929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49" name="Text 17"/>
          <p:cNvSpPr/>
          <p:nvPr/>
        </p:nvSpPr>
        <p:spPr>
          <a:xfrm>
            <a:off x="5305929" y="2697480"/>
            <a:ext cx="19604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Communication</a:t>
            </a:r>
            <a:endParaRPr lang="en-US" sz="1300" dirty="0"/>
          </a:p>
        </p:txBody>
      </p:sp>
      <p:sp>
        <p:nvSpPr>
          <p:cNvPr id="50" name="Shape 19"/>
          <p:cNvSpPr/>
          <p:nvPr/>
        </p:nvSpPr>
        <p:spPr>
          <a:xfrm>
            <a:off x="7449863" y="2331720"/>
            <a:ext cx="164592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51" name="Shape 20"/>
          <p:cNvSpPr/>
          <p:nvPr/>
        </p:nvSpPr>
        <p:spPr>
          <a:xfrm>
            <a:off x="7632743" y="21031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2" name="Text 21"/>
          <p:cNvSpPr/>
          <p:nvPr/>
        </p:nvSpPr>
        <p:spPr>
          <a:xfrm>
            <a:off x="7632743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53" name="Text 22"/>
          <p:cNvSpPr/>
          <p:nvPr/>
        </p:nvSpPr>
        <p:spPr>
          <a:xfrm>
            <a:off x="7632743" y="2697480"/>
            <a:ext cx="19604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</a:t>
            </a:r>
            <a:r>
              <a:rPr lang="en-US" sz="130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</a:t>
            </a:r>
            <a:endParaRPr lang="en-US" sz="1300" dirty="0"/>
          </a:p>
        </p:txBody>
      </p:sp>
      <p:sp>
        <p:nvSpPr>
          <p:cNvPr id="54" name="Shape 24"/>
          <p:cNvSpPr/>
          <p:nvPr/>
        </p:nvSpPr>
        <p:spPr>
          <a:xfrm>
            <a:off x="9711508" y="2340864"/>
            <a:ext cx="164592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55" name="Shape 25"/>
          <p:cNvSpPr/>
          <p:nvPr/>
        </p:nvSpPr>
        <p:spPr>
          <a:xfrm>
            <a:off x="9894388" y="2112264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6" name="Text 26"/>
          <p:cNvSpPr/>
          <p:nvPr/>
        </p:nvSpPr>
        <p:spPr>
          <a:xfrm>
            <a:off x="9894388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57" name="Text 27"/>
          <p:cNvSpPr/>
          <p:nvPr/>
        </p:nvSpPr>
        <p:spPr>
          <a:xfrm>
            <a:off x="9894388" y="2706624"/>
            <a:ext cx="19604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 execution</a:t>
            </a:r>
            <a:endParaRPr lang="en-US" sz="1300" dirty="0"/>
          </a:p>
        </p:txBody>
      </p:sp>
      <p:sp>
        <p:nvSpPr>
          <p:cNvPr id="5" name="矩形 4"/>
          <p:cNvSpPr/>
          <p:nvPr/>
        </p:nvSpPr>
        <p:spPr>
          <a:xfrm>
            <a:off x="364374" y="3601749"/>
            <a:ext cx="2100101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400" dirty="0"/>
              <a:t>T</a:t>
            </a:r>
            <a:r>
              <a:rPr lang="en-US" altLang="zh-CN" sz="1400" dirty="0" smtClean="0"/>
              <a:t>he </a:t>
            </a:r>
            <a:r>
              <a:rPr lang="en-US" altLang="zh-CN" sz="1400" dirty="0"/>
              <a:t>network operator submits natural language </a:t>
            </a:r>
            <a:r>
              <a:rPr lang="en-US" altLang="zh-CN" sz="1400" dirty="0" smtClean="0"/>
              <a:t>service request</a:t>
            </a:r>
            <a:endParaRPr lang="en-US" altLang="zh-CN" sz="1400" dirty="0"/>
          </a:p>
        </p:txBody>
      </p:sp>
      <p:sp>
        <p:nvSpPr>
          <p:cNvPr id="60" name="矩形 59"/>
          <p:cNvSpPr/>
          <p:nvPr/>
        </p:nvSpPr>
        <p:spPr>
          <a:xfrm>
            <a:off x="2727488" y="3603092"/>
            <a:ext cx="2164718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400" dirty="0"/>
              <a:t>parses </a:t>
            </a:r>
            <a:r>
              <a:rPr lang="en-US" altLang="zh-CN" sz="1400" dirty="0" smtClean="0"/>
              <a:t>intents into a </a:t>
            </a:r>
            <a:r>
              <a:rPr lang="en-US" altLang="zh-CN" sz="1400" dirty="0"/>
              <a:t>service model representation, </a:t>
            </a:r>
            <a:r>
              <a:rPr lang="en-US" altLang="zh-CN" sz="1400" dirty="0" smtClean="0"/>
              <a:t>confirms with the user, decomposes </a:t>
            </a:r>
            <a:r>
              <a:rPr lang="en-US" altLang="zh-CN" sz="1400" dirty="0"/>
              <a:t>into structured network </a:t>
            </a:r>
            <a:r>
              <a:rPr lang="en-US" altLang="zh-CN" sz="1400" dirty="0" smtClean="0"/>
              <a:t>model based parameters </a:t>
            </a:r>
            <a:endParaRPr lang="en-US" altLang="zh-CN" sz="1400" dirty="0"/>
          </a:p>
        </p:txBody>
      </p:sp>
      <p:sp>
        <p:nvSpPr>
          <p:cNvPr id="61" name="矩形 60"/>
          <p:cNvSpPr/>
          <p:nvPr/>
        </p:nvSpPr>
        <p:spPr>
          <a:xfrm>
            <a:off x="5106619" y="3601750"/>
            <a:ext cx="1978762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400" dirty="0" smtClean="0"/>
              <a:t>YANG-structured data + context metadata sent to network AI agent over Agent-to-Agent communication protocol</a:t>
            </a:r>
            <a:endParaRPr lang="en-US" altLang="zh-CN" sz="1400" dirty="0"/>
          </a:p>
        </p:txBody>
      </p:sp>
      <p:sp>
        <p:nvSpPr>
          <p:cNvPr id="62" name="矩形 61"/>
          <p:cNvSpPr/>
          <p:nvPr/>
        </p:nvSpPr>
        <p:spPr>
          <a:xfrm>
            <a:off x="7361334" y="3601750"/>
            <a:ext cx="1978762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400" dirty="0"/>
              <a:t>Converted to device model </a:t>
            </a:r>
            <a:r>
              <a:rPr lang="en-US" altLang="zh-CN" sz="1400" dirty="0" smtClean="0"/>
              <a:t>based configuration </a:t>
            </a:r>
            <a:r>
              <a:rPr lang="en-US" altLang="zh-CN" sz="1400" dirty="0"/>
              <a:t>and delivered to network devices via protocols like NETCONF/RESTCONF</a:t>
            </a:r>
          </a:p>
        </p:txBody>
      </p:sp>
      <p:sp>
        <p:nvSpPr>
          <p:cNvPr id="63" name="矩形 62"/>
          <p:cNvSpPr/>
          <p:nvPr/>
        </p:nvSpPr>
        <p:spPr>
          <a:xfrm>
            <a:off x="9711508" y="3601749"/>
            <a:ext cx="1978762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400" dirty="0" smtClean="0"/>
              <a:t>Devices apply the configuration change and report execution results back up the chain </a:t>
            </a:r>
            <a:endParaRPr lang="en-US" altLang="zh-CN" sz="1400" dirty="0"/>
          </a:p>
        </p:txBody>
      </p:sp>
      <p:sp>
        <p:nvSpPr>
          <p:cNvPr id="27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dirty="0" smtClean="0"/>
              <a:t>Intent-Driven Service Provisioning/Optimization</a:t>
            </a:r>
            <a:endParaRPr lang="en-US" sz="4000" dirty="0"/>
          </a:p>
        </p:txBody>
      </p:sp>
      <p:sp>
        <p:nvSpPr>
          <p:cNvPr id="28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7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320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5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1" name="Text 6"/>
          <p:cNvSpPr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2" name="Text 7"/>
          <p:cNvSpPr/>
          <p:nvPr/>
        </p:nvSpPr>
        <p:spPr>
          <a:xfrm>
            <a:off x="566928" y="2697480"/>
            <a:ext cx="24460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 </a:t>
            </a:r>
            <a:r>
              <a:rPr lang="en-US" sz="135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intent</a:t>
            </a:r>
            <a:endParaRPr lang="en-US" sz="1350" dirty="0"/>
          </a:p>
        </p:txBody>
      </p:sp>
      <p:sp>
        <p:nvSpPr>
          <p:cNvPr id="43" name="Text 8"/>
          <p:cNvSpPr/>
          <p:nvPr/>
        </p:nvSpPr>
        <p:spPr>
          <a:xfrm>
            <a:off x="292608" y="3161212"/>
            <a:ext cx="24460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Operator asks the agent to continuously monitor, diagnose, and autonomously repair issues.</a:t>
            </a:r>
            <a:endParaRPr lang="en-US" sz="1400" dirty="0"/>
          </a:p>
        </p:txBody>
      </p:sp>
      <p:sp>
        <p:nvSpPr>
          <p:cNvPr id="53" name="Shape 9"/>
          <p:cNvSpPr/>
          <p:nvPr/>
        </p:nvSpPr>
        <p:spPr>
          <a:xfrm flipV="1">
            <a:off x="2798064" y="2331720"/>
            <a:ext cx="434340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54" name="Shape 10"/>
          <p:cNvSpPr/>
          <p:nvPr/>
        </p:nvSpPr>
        <p:spPr>
          <a:xfrm>
            <a:off x="3268980" y="21031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5" name="Text 11"/>
          <p:cNvSpPr/>
          <p:nvPr/>
        </p:nvSpPr>
        <p:spPr>
          <a:xfrm>
            <a:off x="32689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6" name="Text 12"/>
          <p:cNvSpPr/>
          <p:nvPr/>
        </p:nvSpPr>
        <p:spPr>
          <a:xfrm>
            <a:off x="3268980" y="2697480"/>
            <a:ext cx="24460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operational state </a:t>
            </a:r>
            <a:r>
              <a:rPr lang="en-US" sz="135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awareness</a:t>
            </a:r>
            <a:endParaRPr lang="en-US" sz="1350" dirty="0"/>
          </a:p>
        </p:txBody>
      </p:sp>
      <p:sp>
        <p:nvSpPr>
          <p:cNvPr id="57" name="Text 13"/>
          <p:cNvSpPr/>
          <p:nvPr/>
        </p:nvSpPr>
        <p:spPr>
          <a:xfrm>
            <a:off x="3012948" y="3585362"/>
            <a:ext cx="2560600" cy="1305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8000"/>
              </a:lnSpc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Agent </a:t>
            </a:r>
            <a:r>
              <a:rPr lang="en-US" sz="14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operational </a:t>
            </a:r>
            <a:r>
              <a:rPr lang="en-US" sz="14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state in real-time and grasps YANG data such as alarms, network anomalies, and incidents. </a:t>
            </a:r>
          </a:p>
        </p:txBody>
      </p:sp>
      <p:sp>
        <p:nvSpPr>
          <p:cNvPr id="58" name="Shape 14"/>
          <p:cNvSpPr/>
          <p:nvPr/>
        </p:nvSpPr>
        <p:spPr>
          <a:xfrm>
            <a:off x="5751576" y="2331720"/>
            <a:ext cx="201168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59" name="Shape 15"/>
          <p:cNvSpPr/>
          <p:nvPr/>
        </p:nvSpPr>
        <p:spPr>
          <a:xfrm>
            <a:off x="5989320" y="21031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60" name="Text 16"/>
          <p:cNvSpPr/>
          <p:nvPr/>
        </p:nvSpPr>
        <p:spPr>
          <a:xfrm>
            <a:off x="598932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61" name="Text 17"/>
          <p:cNvSpPr/>
          <p:nvPr/>
        </p:nvSpPr>
        <p:spPr>
          <a:xfrm>
            <a:off x="5989320" y="2697480"/>
            <a:ext cx="24460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 &amp; </a:t>
            </a:r>
            <a:r>
              <a:rPr lang="en-US" sz="135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1350" dirty="0"/>
          </a:p>
        </p:txBody>
      </p:sp>
      <p:sp>
        <p:nvSpPr>
          <p:cNvPr id="62" name="Text 18"/>
          <p:cNvSpPr/>
          <p:nvPr/>
        </p:nvSpPr>
        <p:spPr>
          <a:xfrm>
            <a:off x="5715000" y="3440382"/>
            <a:ext cx="2645229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8000"/>
              </a:lnSpc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Once a fault is identified, the agent determines root cause </a:t>
            </a:r>
            <a:r>
              <a:rPr lang="en-US" sz="14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(e.g., run sequences of OAM tests or perform incident-diagnose RPC) and 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targeted </a:t>
            </a:r>
            <a:r>
              <a:rPr lang="en-US" sz="14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repair plan.</a:t>
            </a:r>
            <a:endParaRPr lang="en-US" sz="1400" dirty="0"/>
          </a:p>
        </p:txBody>
      </p:sp>
      <p:sp>
        <p:nvSpPr>
          <p:cNvPr id="63" name="Shape 19"/>
          <p:cNvSpPr/>
          <p:nvPr/>
        </p:nvSpPr>
        <p:spPr>
          <a:xfrm>
            <a:off x="8924544" y="1700784"/>
            <a:ext cx="0" cy="292608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64" name="Shape 20"/>
          <p:cNvSpPr/>
          <p:nvPr/>
        </p:nvSpPr>
        <p:spPr>
          <a:xfrm>
            <a:off x="8709660" y="21031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65" name="Text 21"/>
          <p:cNvSpPr/>
          <p:nvPr/>
        </p:nvSpPr>
        <p:spPr>
          <a:xfrm>
            <a:off x="87096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6" name="Text 22"/>
          <p:cNvSpPr/>
          <p:nvPr/>
        </p:nvSpPr>
        <p:spPr>
          <a:xfrm>
            <a:off x="8709660" y="2697480"/>
            <a:ext cx="24460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 &amp; </a:t>
            </a:r>
            <a:r>
              <a:rPr lang="en-US" sz="1350" b="1" dirty="0" smtClean="0">
                <a:solidFill>
                  <a:srgbClr val="1E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</a:t>
            </a:r>
            <a:endParaRPr lang="en-US" sz="1350" dirty="0"/>
          </a:p>
        </p:txBody>
      </p:sp>
      <p:sp>
        <p:nvSpPr>
          <p:cNvPr id="67" name="Text 23"/>
          <p:cNvSpPr/>
          <p:nvPr/>
        </p:nvSpPr>
        <p:spPr>
          <a:xfrm>
            <a:off x="8673084" y="3722879"/>
            <a:ext cx="24460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Digital-twin simulation validates the fix, then the agent delivers YANG configuration changes to </a:t>
            </a:r>
            <a:r>
              <a:rPr lang="en-US" sz="140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network devices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68" name="Shape 19"/>
          <p:cNvSpPr/>
          <p:nvPr/>
        </p:nvSpPr>
        <p:spPr>
          <a:xfrm flipH="1">
            <a:off x="3031236" y="1700784"/>
            <a:ext cx="5893308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69" name="Shape 9"/>
          <p:cNvSpPr/>
          <p:nvPr/>
        </p:nvSpPr>
        <p:spPr>
          <a:xfrm flipV="1">
            <a:off x="3031236" y="1714020"/>
            <a:ext cx="4572" cy="630936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70" name="Shape 14"/>
          <p:cNvSpPr/>
          <p:nvPr/>
        </p:nvSpPr>
        <p:spPr>
          <a:xfrm>
            <a:off x="8471916" y="2331720"/>
            <a:ext cx="201168" cy="0"/>
          </a:xfrm>
          <a:prstGeom prst="line">
            <a:avLst/>
          </a:prstGeom>
          <a:noFill/>
          <a:ln w="19050">
            <a:solidFill>
              <a:srgbClr val="DADFE2"/>
            </a:solidFill>
            <a:prstDash val="solid"/>
          </a:ln>
        </p:spPr>
      </p:sp>
      <p:sp>
        <p:nvSpPr>
          <p:cNvPr id="25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 smtClean="0"/>
              <a:t>Network Troubleshooting</a:t>
            </a:r>
            <a:endParaRPr lang="en-US" dirty="0"/>
          </a:p>
        </p:txBody>
      </p:sp>
      <p:sp>
        <p:nvSpPr>
          <p:cNvPr id="2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8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35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Core Challenges Analysis</a:t>
            </a:r>
            <a:endParaRPr 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181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016" y="1019137"/>
            <a:ext cx="8979408" cy="226920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76483" y="0"/>
            <a:ext cx="11075894" cy="1325563"/>
          </a:xfrm>
        </p:spPr>
        <p:txBody>
          <a:bodyPr/>
          <a:lstStyle/>
          <a:p>
            <a:r>
              <a:rPr lang="en-US" dirty="0" smtClean="0"/>
              <a:t>Gap Analysis 1: The Semantic Divide</a:t>
            </a:r>
            <a:endParaRPr 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319679" y="3398673"/>
            <a:ext cx="578984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Natural Language: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Advantages</a:t>
            </a:r>
            <a:endParaRPr lang="en-US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Empowers human operators to express richer intent, e.g., expectations, constraints, preferences, retry strategies, and fallback rules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Communication protocols like A2A natively support unstructured plain text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Limitations</a:t>
            </a:r>
            <a:endParaRPr lang="en-US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Could be ambiguous, and lacks the precision needed for network operations </a:t>
            </a:r>
            <a:endParaRPr lang="en-US" dirty="0"/>
          </a:p>
          <a:p>
            <a:endParaRPr lang="en-US" dirty="0" smtClean="0"/>
          </a:p>
        </p:txBody>
      </p:sp>
      <p:sp>
        <p:nvSpPr>
          <p:cNvPr id="4" name="文本框 3"/>
          <p:cNvSpPr txBox="1"/>
          <p:nvPr/>
        </p:nvSpPr>
        <p:spPr>
          <a:xfrm>
            <a:off x="2695399" y="2066646"/>
            <a:ext cx="266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>
                <a:solidFill>
                  <a:srgbClr val="C00000"/>
                </a:solidFill>
              </a:rPr>
              <a:t>Orchestrator Agents must prune and simplify intent to fit YANG data model </a:t>
            </a:r>
            <a:endParaRPr lang="en-US" sz="1200" b="1" dirty="0">
              <a:solidFill>
                <a:srgbClr val="C00000"/>
              </a:solidFill>
            </a:endParaRPr>
          </a:p>
        </p:txBody>
      </p:sp>
      <p:sp>
        <p:nvSpPr>
          <p:cNvPr id="9" name="椭圆 8"/>
          <p:cNvSpPr/>
          <p:nvPr/>
        </p:nvSpPr>
        <p:spPr>
          <a:xfrm>
            <a:off x="2933731" y="1435893"/>
            <a:ext cx="1901924" cy="717847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10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230455" y="3474469"/>
            <a:ext cx="59615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Structured YANG: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Advantages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ensure </a:t>
            </a:r>
            <a:r>
              <a:rPr lang="en-US" dirty="0"/>
              <a:t>deterministic, high-efficiency execution with highly structured and validated </a:t>
            </a:r>
            <a:r>
              <a:rPr lang="en-US" dirty="0" smtClean="0"/>
              <a:t>schema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Limitations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Completely </a:t>
            </a:r>
            <a:r>
              <a:rPr lang="en-US" dirty="0"/>
              <a:t>inflexible and has expressiveness limits </a:t>
            </a:r>
          </a:p>
          <a:p>
            <a:endParaRPr lang="en-US" dirty="0"/>
          </a:p>
        </p:txBody>
      </p:sp>
      <p:sp>
        <p:nvSpPr>
          <p:cNvPr id="6" name="矩形 5"/>
          <p:cNvSpPr/>
          <p:nvPr/>
        </p:nvSpPr>
        <p:spPr>
          <a:xfrm>
            <a:off x="6405886" y="5433020"/>
            <a:ext cx="5610684" cy="9233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/>
              <a:t>The core challenge is translating high-level natural language negotiations into precise YANG representations without losing context. </a:t>
            </a:r>
          </a:p>
        </p:txBody>
      </p:sp>
    </p:spTree>
    <p:extLst>
      <p:ext uri="{BB962C8B-B14F-4D97-AF65-F5344CB8AC3E}">
        <p14:creationId xmlns:p14="http://schemas.microsoft.com/office/powerpoint/2010/main" val="50401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标题 1"/>
          <p:cNvSpPr txBox="1">
            <a:spLocks/>
          </p:cNvSpPr>
          <p:nvPr/>
        </p:nvSpPr>
        <p:spPr>
          <a:xfrm>
            <a:off x="355390" y="57035"/>
            <a:ext cx="11603528" cy="9396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 smtClean="0"/>
              <a:t>Gap Analysis 2: Token Efficiency and Encoding Overhead </a:t>
            </a:r>
            <a:endParaRPr lang="en-US" sz="4000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093" y="893453"/>
            <a:ext cx="9604054" cy="1131399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0771" y="2240280"/>
            <a:ext cx="8488486" cy="1145177"/>
          </a:xfrm>
          <a:prstGeom prst="rect">
            <a:avLst/>
          </a:prstGeom>
        </p:spPr>
      </p:pic>
      <p:sp>
        <p:nvSpPr>
          <p:cNvPr id="5" name="椭圆 4"/>
          <p:cNvSpPr/>
          <p:nvPr/>
        </p:nvSpPr>
        <p:spPr>
          <a:xfrm>
            <a:off x="3584448" y="2671136"/>
            <a:ext cx="2075688" cy="6971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椭圆 75"/>
          <p:cNvSpPr/>
          <p:nvPr/>
        </p:nvSpPr>
        <p:spPr>
          <a:xfrm>
            <a:off x="2842163" y="1310531"/>
            <a:ext cx="5358384" cy="7229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文本框 76"/>
          <p:cNvSpPr txBox="1"/>
          <p:nvPr/>
        </p:nvSpPr>
        <p:spPr>
          <a:xfrm>
            <a:off x="127697" y="3674336"/>
            <a:ext cx="58890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Key Concepts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LLMs don’t read text as humans do – they process tokens. Tokens are the basic units of text that LLMs process.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Each model has a maximum number of tokens it can handle (context window)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Both input (prompt + context) and output (responses) consumes 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LLM tokens cost money </a:t>
            </a:r>
            <a:endParaRPr lang="en-US" dirty="0"/>
          </a:p>
        </p:txBody>
      </p:sp>
      <p:sp>
        <p:nvSpPr>
          <p:cNvPr id="78" name="文本框 77"/>
          <p:cNvSpPr txBox="1"/>
          <p:nvPr/>
        </p:nvSpPr>
        <p:spPr>
          <a:xfrm>
            <a:off x="2651955" y="1994043"/>
            <a:ext cx="63061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>
                <a:solidFill>
                  <a:srgbClr val="C00000"/>
                </a:solidFill>
              </a:rPr>
              <a:t>Injecting verbose encoding into the LLM context window adds attention noise, latency, and cost without semantic payoff. </a:t>
            </a:r>
            <a:endParaRPr lang="en-US" sz="1200" b="1" dirty="0">
              <a:solidFill>
                <a:srgbClr val="C00000"/>
              </a:solidFill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6429908" y="3995692"/>
            <a:ext cx="552900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Structured formats (JSON/XML) often cost more tokens due to repeated field names/markup.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Highly compressed formats like CBOR solve bandwidth issues but are incompatible with LLMs (LLMs cannot consume raw binary payloads directly)</a:t>
            </a: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11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8857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/>
          <p:cNvSpPr txBox="1">
            <a:spLocks/>
          </p:cNvSpPr>
          <p:nvPr/>
        </p:nvSpPr>
        <p:spPr>
          <a:xfrm>
            <a:off x="446224" y="65811"/>
            <a:ext cx="11075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Gap Analysis 3: Non-determinism Task </a:t>
            </a:r>
            <a:r>
              <a:rPr lang="en-US" dirty="0"/>
              <a:t>H</a:t>
            </a:r>
            <a:r>
              <a:rPr lang="en-US" altLang="zh-CN" dirty="0" smtClean="0"/>
              <a:t>andling</a:t>
            </a:r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161583" y="3552109"/>
            <a:ext cx="546197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Root-causes of Agent non-determinism (Why it happens)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Probabilistic Nature of LLMs</a:t>
            </a:r>
            <a:r>
              <a:rPr lang="en-US" b="1" dirty="0" smtClean="0"/>
              <a:t>: </a:t>
            </a:r>
            <a:r>
              <a:rPr lang="en-US" dirty="0" smtClean="0"/>
              <a:t>At their core, LLM runs on next-token prediction probabilities, which inherently introduces randomness.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/>
              <a:t>Context drift: </a:t>
            </a:r>
            <a:r>
              <a:rPr lang="en-US" dirty="0" smtClean="0"/>
              <a:t>even minor shifts in historical context can alter outcomes for identical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Semantic Ambiguity</a:t>
            </a:r>
            <a:r>
              <a:rPr lang="en-US" b="1" dirty="0" smtClean="0"/>
              <a:t>:</a:t>
            </a:r>
            <a:r>
              <a:rPr lang="en-US" dirty="0" smtClean="0"/>
              <a:t> Ambiguous natural language instructions allows for multiple interpretations</a:t>
            </a:r>
            <a:endParaRPr lang="en-US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533" y="1044732"/>
            <a:ext cx="9604054" cy="1131399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211" y="2391559"/>
            <a:ext cx="8488486" cy="1145177"/>
          </a:xfrm>
          <a:prstGeom prst="rect">
            <a:avLst/>
          </a:prstGeom>
        </p:spPr>
      </p:pic>
      <p:sp>
        <p:nvSpPr>
          <p:cNvPr id="12" name="椭圆 11"/>
          <p:cNvSpPr/>
          <p:nvPr/>
        </p:nvSpPr>
        <p:spPr>
          <a:xfrm>
            <a:off x="2816352" y="1522828"/>
            <a:ext cx="2075688" cy="6971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椭圆 12"/>
          <p:cNvSpPr/>
          <p:nvPr/>
        </p:nvSpPr>
        <p:spPr>
          <a:xfrm>
            <a:off x="6620969" y="1479010"/>
            <a:ext cx="2075688" cy="6971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椭圆 13"/>
          <p:cNvSpPr/>
          <p:nvPr/>
        </p:nvSpPr>
        <p:spPr>
          <a:xfrm>
            <a:off x="5588125" y="2753956"/>
            <a:ext cx="4141376" cy="697121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文本框 7"/>
          <p:cNvSpPr txBox="1"/>
          <p:nvPr/>
        </p:nvSpPr>
        <p:spPr>
          <a:xfrm>
            <a:off x="1604083" y="2148686"/>
            <a:ext cx="8584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The same high-level intent can produce different YANG instance data across invocations; the same observed network state can yield multiple, distinct diagnostic trajectories and conclusions.</a:t>
            </a:r>
          </a:p>
        </p:txBody>
      </p:sp>
      <p:sp>
        <p:nvSpPr>
          <p:cNvPr id="2" name="矩形 1"/>
          <p:cNvSpPr/>
          <p:nvPr/>
        </p:nvSpPr>
        <p:spPr>
          <a:xfrm>
            <a:off x="5984171" y="3552109"/>
            <a:ext cx="5690616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Key </a:t>
            </a:r>
            <a:r>
              <a:rPr lang="en-US" dirty="0"/>
              <a:t>impacts of </a:t>
            </a:r>
            <a:r>
              <a:rPr lang="en-US" dirty="0" smtClean="0"/>
              <a:t>non-determinism (The Consequences)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smtClean="0"/>
              <a:t>Weakened</a:t>
            </a:r>
            <a:r>
              <a:rPr lang="en-US" b="1" smtClean="0"/>
              <a:t> </a:t>
            </a:r>
            <a:r>
              <a:rPr lang="en-US" b="1" dirty="0"/>
              <a:t>reliability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/>
              <a:t>Configuration Inconsistency</a:t>
            </a:r>
            <a:r>
              <a:rPr lang="en-US" dirty="0" smtClean="0"/>
              <a:t>: divergent reasoning path can lead to inconsistent YANG config being pushed to devices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/>
              <a:t>Operational Complexity: </a:t>
            </a:r>
            <a:r>
              <a:rPr lang="en-US" dirty="0" smtClean="0"/>
              <a:t>Troubleshooting a failure becomes even harder if the diagnostic logic varies from run to run.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/>
              <a:t>Operational Risk: </a:t>
            </a:r>
            <a:r>
              <a:rPr lang="en-US" dirty="0" smtClean="0"/>
              <a:t>randomness in config generation increases the risk of misconfiguration, service impairment, etc.</a:t>
            </a:r>
            <a:endParaRPr 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161583" y="5875806"/>
            <a:ext cx="5426542" cy="9233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smtClean="0"/>
              <a:t>The core challenge is AI Agents introduces probability that conflicts the deterministic foundations of model-driven automation. </a:t>
            </a:r>
            <a:endParaRPr lang="en-US" dirty="0"/>
          </a:p>
        </p:txBody>
      </p:sp>
      <p:sp>
        <p:nvSpPr>
          <p:cNvPr id="1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12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018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Potential Ways Forward</a:t>
            </a:r>
            <a:endParaRPr 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692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71351" y="241695"/>
            <a:ext cx="10515600" cy="1325563"/>
          </a:xfrm>
        </p:spPr>
        <p:txBody>
          <a:bodyPr/>
          <a:lstStyle/>
          <a:p>
            <a:r>
              <a:rPr lang="en-US" dirty="0" smtClean="0"/>
              <a:t>YANG-driven Operations as AI-Invocable Tools</a:t>
            </a:r>
            <a:endParaRPr lang="en-US" dirty="0"/>
          </a:p>
        </p:txBody>
      </p:sp>
      <p:sp>
        <p:nvSpPr>
          <p:cNvPr id="5" name="圆角矩形 4"/>
          <p:cNvSpPr/>
          <p:nvPr/>
        </p:nvSpPr>
        <p:spPr>
          <a:xfrm>
            <a:off x="1664687" y="2254408"/>
            <a:ext cx="1479177" cy="66545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文本框 5"/>
          <p:cNvSpPr txBox="1"/>
          <p:nvPr/>
        </p:nvSpPr>
        <p:spPr>
          <a:xfrm>
            <a:off x="1681735" y="2439840"/>
            <a:ext cx="7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Agent</a:t>
            </a:r>
            <a:endParaRPr lang="en-US" dirty="0"/>
          </a:p>
        </p:txBody>
      </p:sp>
      <p:sp>
        <p:nvSpPr>
          <p:cNvPr id="7" name="圆角矩形 6"/>
          <p:cNvSpPr/>
          <p:nvPr/>
        </p:nvSpPr>
        <p:spPr>
          <a:xfrm>
            <a:off x="2444865" y="2341121"/>
            <a:ext cx="708212" cy="450905"/>
          </a:xfrm>
          <a:prstGeom prst="roundRect">
            <a:avLst/>
          </a:prstGeom>
          <a:solidFill>
            <a:schemeClr val="accent2"/>
          </a:solidFill>
          <a:ln/>
        </p:spPr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8" name="文本框 7"/>
          <p:cNvSpPr txBox="1"/>
          <p:nvPr/>
        </p:nvSpPr>
        <p:spPr>
          <a:xfrm>
            <a:off x="2418252" y="2277158"/>
            <a:ext cx="7082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MCP Client</a:t>
            </a:r>
            <a:endParaRPr lang="en-US" sz="1600" dirty="0"/>
          </a:p>
        </p:txBody>
      </p:sp>
      <p:sp>
        <p:nvSpPr>
          <p:cNvPr id="9" name="圆角矩形 8"/>
          <p:cNvSpPr/>
          <p:nvPr/>
        </p:nvSpPr>
        <p:spPr>
          <a:xfrm>
            <a:off x="3905136" y="1664218"/>
            <a:ext cx="1586754" cy="1770875"/>
          </a:xfrm>
          <a:prstGeom prst="roundRect">
            <a:avLst/>
          </a:prstGeom>
          <a:solidFill>
            <a:schemeClr val="accent2"/>
          </a:solidFill>
          <a:ln/>
        </p:spPr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0" name="文本框 9"/>
          <p:cNvSpPr txBox="1"/>
          <p:nvPr/>
        </p:nvSpPr>
        <p:spPr>
          <a:xfrm>
            <a:off x="4057538" y="1754300"/>
            <a:ext cx="12819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MCP Server</a:t>
            </a:r>
            <a:endParaRPr lang="en-US" sz="1600" dirty="0"/>
          </a:p>
        </p:txBody>
      </p:sp>
      <p:sp>
        <p:nvSpPr>
          <p:cNvPr id="11" name="文本框 10"/>
          <p:cNvSpPr txBox="1"/>
          <p:nvPr/>
        </p:nvSpPr>
        <p:spPr>
          <a:xfrm>
            <a:off x="4012408" y="2123268"/>
            <a:ext cx="158675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Tool examples:</a:t>
            </a:r>
          </a:p>
          <a:p>
            <a:r>
              <a:rPr lang="en-US" sz="1200" dirty="0" err="1" smtClean="0"/>
              <a:t>get_devices_info</a:t>
            </a:r>
            <a:endParaRPr lang="en-US" sz="1200" dirty="0" smtClean="0"/>
          </a:p>
          <a:p>
            <a:r>
              <a:rPr lang="en-US" sz="1200" dirty="0" err="1" smtClean="0"/>
              <a:t>get_vpn_info</a:t>
            </a:r>
            <a:endParaRPr lang="en-US" sz="1200" dirty="0" smtClean="0"/>
          </a:p>
          <a:p>
            <a:r>
              <a:rPr lang="en-US" sz="1200" dirty="0" err="1" smtClean="0"/>
              <a:t>get_mpls_info</a:t>
            </a:r>
            <a:r>
              <a:rPr lang="en-US" sz="1200" dirty="0" smtClean="0"/>
              <a:t/>
            </a:r>
            <a:br>
              <a:rPr lang="en-US" sz="1200" dirty="0" smtClean="0"/>
            </a:br>
            <a:r>
              <a:rPr lang="en-US" sz="1200" dirty="0" err="1" smtClean="0"/>
              <a:t>get_interface_info</a:t>
            </a:r>
            <a:endParaRPr lang="en-US" sz="1200" dirty="0" smtClean="0"/>
          </a:p>
          <a:p>
            <a:r>
              <a:rPr lang="en-US" sz="1200" dirty="0" err="1" smtClean="0"/>
              <a:t>get_config_diff</a:t>
            </a:r>
            <a:endParaRPr lang="en-US" sz="1200" dirty="0" smtClean="0"/>
          </a:p>
          <a:p>
            <a:r>
              <a:rPr lang="en-US" sz="1200" dirty="0" err="1"/>
              <a:t>c</a:t>
            </a:r>
            <a:r>
              <a:rPr lang="en-US" sz="1200" dirty="0" err="1" smtClean="0"/>
              <a:t>ommit_check</a:t>
            </a:r>
            <a:endParaRPr lang="en-US" sz="1200" dirty="0"/>
          </a:p>
        </p:txBody>
      </p:sp>
      <p:cxnSp>
        <p:nvCxnSpPr>
          <p:cNvPr id="13" name="直接箭头连接符 12"/>
          <p:cNvCxnSpPr/>
          <p:nvPr/>
        </p:nvCxnSpPr>
        <p:spPr>
          <a:xfrm flipV="1">
            <a:off x="5491890" y="2578230"/>
            <a:ext cx="1586751" cy="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5457942" y="2254408"/>
            <a:ext cx="1342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NETCONF/</a:t>
            </a:r>
            <a:r>
              <a:rPr lang="en-US" sz="1400" dirty="0" err="1" smtClean="0"/>
              <a:t>gNMI</a:t>
            </a:r>
            <a:endParaRPr lang="en-US" sz="1400" dirty="0"/>
          </a:p>
        </p:txBody>
      </p:sp>
      <p:sp>
        <p:nvSpPr>
          <p:cNvPr id="17" name="圆角矩形 16"/>
          <p:cNvSpPr/>
          <p:nvPr/>
        </p:nvSpPr>
        <p:spPr>
          <a:xfrm>
            <a:off x="7085695" y="1594339"/>
            <a:ext cx="2173318" cy="184075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9" name="文本框 18"/>
          <p:cNvSpPr txBox="1"/>
          <p:nvPr/>
        </p:nvSpPr>
        <p:spPr>
          <a:xfrm>
            <a:off x="7735796" y="1571174"/>
            <a:ext cx="12819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smtClean="0"/>
              <a:t>Network</a:t>
            </a:r>
            <a:endParaRPr lang="en-US" sz="1600" dirty="0"/>
          </a:p>
        </p:txBody>
      </p:sp>
      <p:sp>
        <p:nvSpPr>
          <p:cNvPr id="26" name="圆柱形 25"/>
          <p:cNvSpPr/>
          <p:nvPr/>
        </p:nvSpPr>
        <p:spPr>
          <a:xfrm>
            <a:off x="7343681" y="2034572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文本框 36"/>
          <p:cNvSpPr txBox="1"/>
          <p:nvPr/>
        </p:nvSpPr>
        <p:spPr>
          <a:xfrm>
            <a:off x="7379859" y="1809382"/>
            <a:ext cx="6523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R1</a:t>
            </a:r>
            <a:endParaRPr lang="en-US" sz="1200" dirty="0"/>
          </a:p>
        </p:txBody>
      </p:sp>
      <p:sp>
        <p:nvSpPr>
          <p:cNvPr id="38" name="圆柱形 37"/>
          <p:cNvSpPr/>
          <p:nvPr/>
        </p:nvSpPr>
        <p:spPr>
          <a:xfrm>
            <a:off x="8748220" y="2019365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文本框 38"/>
          <p:cNvSpPr txBox="1"/>
          <p:nvPr/>
        </p:nvSpPr>
        <p:spPr>
          <a:xfrm>
            <a:off x="8792872" y="1781823"/>
            <a:ext cx="4661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R2</a:t>
            </a:r>
            <a:endParaRPr lang="en-US" sz="1200" dirty="0"/>
          </a:p>
        </p:txBody>
      </p:sp>
      <p:sp>
        <p:nvSpPr>
          <p:cNvPr id="40" name="圆柱形 39"/>
          <p:cNvSpPr/>
          <p:nvPr/>
        </p:nvSpPr>
        <p:spPr>
          <a:xfrm>
            <a:off x="7320079" y="3047662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文本框 40"/>
          <p:cNvSpPr txBox="1"/>
          <p:nvPr/>
        </p:nvSpPr>
        <p:spPr>
          <a:xfrm>
            <a:off x="7378831" y="3215244"/>
            <a:ext cx="3569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R4</a:t>
            </a:r>
            <a:endParaRPr lang="en-US" sz="1200" dirty="0"/>
          </a:p>
        </p:txBody>
      </p:sp>
      <p:sp>
        <p:nvSpPr>
          <p:cNvPr id="42" name="圆柱形 41"/>
          <p:cNvSpPr/>
          <p:nvPr/>
        </p:nvSpPr>
        <p:spPr>
          <a:xfrm>
            <a:off x="8024037" y="2446057"/>
            <a:ext cx="352735" cy="179404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文本框 42"/>
          <p:cNvSpPr txBox="1"/>
          <p:nvPr/>
        </p:nvSpPr>
        <p:spPr>
          <a:xfrm>
            <a:off x="8016750" y="2584934"/>
            <a:ext cx="5216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R3</a:t>
            </a:r>
            <a:endParaRPr lang="en-US" sz="1200" dirty="0"/>
          </a:p>
        </p:txBody>
      </p:sp>
      <p:sp>
        <p:nvSpPr>
          <p:cNvPr id="44" name="圆柱形 43"/>
          <p:cNvSpPr/>
          <p:nvPr/>
        </p:nvSpPr>
        <p:spPr>
          <a:xfrm>
            <a:off x="8738637" y="3047662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文本框 44"/>
          <p:cNvSpPr txBox="1"/>
          <p:nvPr/>
        </p:nvSpPr>
        <p:spPr>
          <a:xfrm>
            <a:off x="8687609" y="3158094"/>
            <a:ext cx="3565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R5</a:t>
            </a:r>
            <a:endParaRPr lang="en-US" sz="1200" dirty="0"/>
          </a:p>
        </p:txBody>
      </p:sp>
      <p:cxnSp>
        <p:nvCxnSpPr>
          <p:cNvPr id="47" name="直接连接符 46"/>
          <p:cNvCxnSpPr>
            <a:stCxn id="26" idx="3"/>
            <a:endCxn id="40" idx="1"/>
          </p:cNvCxnSpPr>
          <p:nvPr/>
        </p:nvCxnSpPr>
        <p:spPr>
          <a:xfrm flipH="1">
            <a:off x="7511421" y="2176291"/>
            <a:ext cx="23602" cy="8713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/>
          <p:cNvCxnSpPr>
            <a:stCxn id="38" idx="2"/>
            <a:endCxn id="26" idx="4"/>
          </p:cNvCxnSpPr>
          <p:nvPr/>
        </p:nvCxnSpPr>
        <p:spPr>
          <a:xfrm flipH="1">
            <a:off x="7726364" y="2090225"/>
            <a:ext cx="1021856" cy="152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42" idx="2"/>
            <a:endCxn id="26" idx="4"/>
          </p:cNvCxnSpPr>
          <p:nvPr/>
        </p:nvCxnSpPr>
        <p:spPr>
          <a:xfrm flipH="1" flipV="1">
            <a:off x="7726364" y="2105432"/>
            <a:ext cx="297673" cy="4303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/>
          <p:cNvCxnSpPr>
            <a:stCxn id="42" idx="2"/>
            <a:endCxn id="40" idx="4"/>
          </p:cNvCxnSpPr>
          <p:nvPr/>
        </p:nvCxnSpPr>
        <p:spPr>
          <a:xfrm flipH="1">
            <a:off x="7702762" y="2535759"/>
            <a:ext cx="321275" cy="582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连接符 58"/>
          <p:cNvCxnSpPr>
            <a:stCxn id="44" idx="2"/>
            <a:endCxn id="40" idx="4"/>
          </p:cNvCxnSpPr>
          <p:nvPr/>
        </p:nvCxnSpPr>
        <p:spPr>
          <a:xfrm flipH="1">
            <a:off x="7702762" y="3118522"/>
            <a:ext cx="10358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/>
          <p:cNvCxnSpPr>
            <a:stCxn id="38" idx="2"/>
            <a:endCxn id="42" idx="4"/>
          </p:cNvCxnSpPr>
          <p:nvPr/>
        </p:nvCxnSpPr>
        <p:spPr>
          <a:xfrm flipH="1">
            <a:off x="8376772" y="2090225"/>
            <a:ext cx="371448" cy="445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/>
          <p:cNvCxnSpPr>
            <a:stCxn id="44" idx="2"/>
            <a:endCxn id="42" idx="4"/>
          </p:cNvCxnSpPr>
          <p:nvPr/>
        </p:nvCxnSpPr>
        <p:spPr>
          <a:xfrm flipH="1" flipV="1">
            <a:off x="8376772" y="2535759"/>
            <a:ext cx="361865" cy="582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/>
          <p:cNvCxnSpPr>
            <a:stCxn id="38" idx="3"/>
            <a:endCxn id="44" idx="1"/>
          </p:cNvCxnSpPr>
          <p:nvPr/>
        </p:nvCxnSpPr>
        <p:spPr>
          <a:xfrm flipH="1">
            <a:off x="8929979" y="2161084"/>
            <a:ext cx="9583" cy="8865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>
            <a:stCxn id="5" idx="3"/>
            <a:endCxn id="9" idx="1"/>
          </p:cNvCxnSpPr>
          <p:nvPr/>
        </p:nvCxnSpPr>
        <p:spPr>
          <a:xfrm flipV="1">
            <a:off x="3143864" y="2549656"/>
            <a:ext cx="761272" cy="3748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/>
          <p:cNvSpPr txBox="1"/>
          <p:nvPr/>
        </p:nvSpPr>
        <p:spPr>
          <a:xfrm>
            <a:off x="3203977" y="2299883"/>
            <a:ext cx="7082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MCP</a:t>
            </a:r>
            <a:endParaRPr lang="en-US" sz="1600" dirty="0"/>
          </a:p>
        </p:txBody>
      </p:sp>
      <p:sp>
        <p:nvSpPr>
          <p:cNvPr id="114" name="矩形 113"/>
          <p:cNvSpPr/>
          <p:nvPr/>
        </p:nvSpPr>
        <p:spPr>
          <a:xfrm>
            <a:off x="1162759" y="5168717"/>
            <a:ext cx="4470391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Industry </a:t>
            </a:r>
            <a:r>
              <a:rPr lang="en-US" b="1" dirty="0" smtClean="0"/>
              <a:t>exploration:</a:t>
            </a:r>
          </a:p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github.com/jillesca/gNMIBuddy</a:t>
            </a:r>
            <a:endParaRPr lang="en-US" dirty="0" smtClean="0"/>
          </a:p>
          <a:p>
            <a:r>
              <a:rPr lang="en-US" dirty="0">
                <a:hlinkClick r:id="rId3"/>
              </a:rPr>
              <a:t>https://</a:t>
            </a:r>
            <a:r>
              <a:rPr lang="en-US" dirty="0" smtClean="0">
                <a:hlinkClick r:id="rId3"/>
              </a:rPr>
              <a:t>github.com/Juniper/junos-mcp-server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116" name="矩形 115"/>
          <p:cNvSpPr/>
          <p:nvPr/>
        </p:nvSpPr>
        <p:spPr>
          <a:xfrm>
            <a:off x="1162759" y="3672576"/>
            <a:ext cx="1024501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Core idea: </a:t>
            </a:r>
            <a:endParaRPr lang="en-US" b="1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refactor </a:t>
            </a:r>
            <a:r>
              <a:rPr lang="en-US" dirty="0"/>
              <a:t>YANG-based network operations into AI-</a:t>
            </a:r>
            <a:r>
              <a:rPr lang="en-US" dirty="0" err="1"/>
              <a:t>invocable</a:t>
            </a:r>
            <a:r>
              <a:rPr lang="en-US" dirty="0"/>
              <a:t> tools using the Model Context Protocol (</a:t>
            </a:r>
            <a:r>
              <a:rPr lang="en-US" dirty="0" smtClean="0"/>
              <a:t>MCP)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The </a:t>
            </a:r>
            <a:r>
              <a:rPr lang="en-US" dirty="0"/>
              <a:t>abstraction layer shields agents from low-level YANG syntax and schema complexity, reducing </a:t>
            </a:r>
            <a:r>
              <a:rPr lang="en-US" dirty="0" smtClean="0"/>
              <a:t>non-determinism </a:t>
            </a:r>
            <a:r>
              <a:rPr lang="en-US" dirty="0"/>
              <a:t>risk</a:t>
            </a:r>
          </a:p>
        </p:txBody>
      </p:sp>
      <p:sp>
        <p:nvSpPr>
          <p:cNvPr id="3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15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721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48584"/>
            <a:ext cx="10515600" cy="1325563"/>
          </a:xfrm>
        </p:spPr>
        <p:txBody>
          <a:bodyPr/>
          <a:lstStyle/>
          <a:p>
            <a:r>
              <a:rPr lang="en-US" dirty="0" smtClean="0"/>
              <a:t>Semantic Enrichment via Knowledge Graphs</a:t>
            </a:r>
            <a:endParaRPr lang="en-US" dirty="0"/>
          </a:p>
        </p:txBody>
      </p:sp>
      <p:sp>
        <p:nvSpPr>
          <p:cNvPr id="5" name="矩形 4"/>
          <p:cNvSpPr/>
          <p:nvPr/>
        </p:nvSpPr>
        <p:spPr>
          <a:xfrm>
            <a:off x="643143" y="5745573"/>
            <a:ext cx="8048357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/>
              <a:t>Related IETF efforts:</a:t>
            </a:r>
          </a:p>
          <a:p>
            <a:r>
              <a:rPr lang="en-US" dirty="0">
                <a:solidFill>
                  <a:prstClr val="black"/>
                </a:solidFill>
                <a:hlinkClick r:id="rId2"/>
              </a:rPr>
              <a:t>https://datatracker.ietf.org/doc/draft-mackey-nmop-kg-for-netops</a:t>
            </a:r>
            <a:r>
              <a:rPr lang="en-US" dirty="0" smtClean="0">
                <a:solidFill>
                  <a:prstClr val="black"/>
                </a:solidFill>
                <a:hlinkClick r:id="rId2"/>
              </a:rPr>
              <a:t>/</a:t>
            </a:r>
            <a:endParaRPr lang="en-US" dirty="0" smtClean="0">
              <a:solidFill>
                <a:prstClr val="black"/>
              </a:solidFill>
            </a:endParaRPr>
          </a:p>
          <a:p>
            <a:r>
              <a:rPr lang="en-US" dirty="0">
                <a:solidFill>
                  <a:prstClr val="black"/>
                </a:solidFill>
                <a:hlinkClick r:id="rId3"/>
              </a:rPr>
              <a:t>https://datatracker.ietf.org/doc/draft-tailhardat-nmop-incident-management-noria</a:t>
            </a:r>
            <a:r>
              <a:rPr lang="en-US" dirty="0" smtClean="0">
                <a:solidFill>
                  <a:prstClr val="black"/>
                </a:solidFill>
                <a:hlinkClick r:id="rId3"/>
              </a:rPr>
              <a:t>/</a:t>
            </a:r>
            <a:r>
              <a:rPr lang="en-US" dirty="0" smtClean="0">
                <a:solidFill>
                  <a:prstClr val="black"/>
                </a:solidFill>
              </a:rPr>
              <a:t> </a:t>
            </a:r>
            <a:endParaRPr lang="en-US" dirty="0">
              <a:solidFill>
                <a:prstClr val="black"/>
              </a:solidFill>
            </a:endParaRPr>
          </a:p>
          <a:p>
            <a:r>
              <a:rPr lang="en-US" dirty="0">
                <a:solidFill>
                  <a:prstClr val="black"/>
                </a:solidFill>
                <a:hlinkClick r:id="rId4"/>
              </a:rPr>
              <a:t>https://datatracker.ietf.org/doc/draft-ietf-nmop-network-anomaly-semantics/</a:t>
            </a:r>
            <a:r>
              <a:rPr lang="en-US" dirty="0">
                <a:solidFill>
                  <a:prstClr val="black"/>
                </a:solidFill>
              </a:rPr>
              <a:t> </a:t>
            </a:r>
          </a:p>
          <a:p>
            <a:endParaRPr lang="en-US" dirty="0"/>
          </a:p>
        </p:txBody>
      </p:sp>
      <p:sp>
        <p:nvSpPr>
          <p:cNvPr id="6" name="矩形 5"/>
          <p:cNvSpPr/>
          <p:nvPr/>
        </p:nvSpPr>
        <p:spPr>
          <a:xfrm>
            <a:off x="596313" y="3663049"/>
            <a:ext cx="1100079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/>
              <a:t>Core idea: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prstClr val="black"/>
                </a:solidFill>
              </a:rPr>
              <a:t>add a semantic layer on top of YANG data models to </a:t>
            </a:r>
            <a:r>
              <a:rPr lang="en-US" dirty="0" smtClean="0">
                <a:solidFill>
                  <a:prstClr val="black"/>
                </a:solidFill>
              </a:rPr>
              <a:t>address YANG expressiveness limits via </a:t>
            </a:r>
            <a:r>
              <a:rPr lang="en-US" dirty="0">
                <a:solidFill>
                  <a:prstClr val="black"/>
                </a:solidFill>
              </a:rPr>
              <a:t>knowledge graph, which can </a:t>
            </a:r>
            <a:r>
              <a:rPr lang="en-US" dirty="0" smtClean="0">
                <a:solidFill>
                  <a:prstClr val="black"/>
                </a:solidFill>
              </a:rPr>
              <a:t>explicitly </a:t>
            </a:r>
            <a:r>
              <a:rPr lang="en-US" dirty="0">
                <a:solidFill>
                  <a:prstClr val="black"/>
                </a:solidFill>
              </a:rPr>
              <a:t>model concepts absent from YANG, e.g., “preferred vs. optional” and “transient vs. persistent failure</a:t>
            </a:r>
            <a:r>
              <a:rPr lang="en-US" dirty="0" smtClean="0">
                <a:solidFill>
                  <a:prstClr val="black"/>
                </a:solidFill>
              </a:rPr>
              <a:t>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prstClr val="black"/>
                </a:solidFill>
              </a:rPr>
              <a:t>KGs give </a:t>
            </a:r>
            <a:r>
              <a:rPr lang="en-US" dirty="0">
                <a:solidFill>
                  <a:prstClr val="black"/>
                </a:solidFill>
              </a:rPr>
              <a:t>AI agents a machine-readable view of network semantics, relationships, and </a:t>
            </a:r>
            <a:r>
              <a:rPr lang="en-US" dirty="0" smtClean="0">
                <a:solidFill>
                  <a:prstClr val="black"/>
                </a:solidFill>
              </a:rPr>
              <a:t>constraints. E.g., </a:t>
            </a:r>
            <a:r>
              <a:rPr lang="en-US" dirty="0"/>
              <a:t>for the intent “check why the VPN tunnel is down,” a KG-enhanced agent queries relationships between the affected services and </a:t>
            </a:r>
            <a:r>
              <a:rPr lang="en-US" dirty="0" smtClean="0"/>
              <a:t>metrics</a:t>
            </a:r>
            <a:endParaRPr lang="en-US" dirty="0">
              <a:solidFill>
                <a:prstClr val="black"/>
              </a:solidFill>
            </a:endParaRPr>
          </a:p>
          <a:p>
            <a:endParaRPr lang="en-US" dirty="0"/>
          </a:p>
        </p:txBody>
      </p:sp>
      <p:sp>
        <p:nvSpPr>
          <p:cNvPr id="52" name="圆角矩形 51"/>
          <p:cNvSpPr/>
          <p:nvPr/>
        </p:nvSpPr>
        <p:spPr>
          <a:xfrm>
            <a:off x="926646" y="1567247"/>
            <a:ext cx="2173318" cy="184075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53" name="文本框 52"/>
          <p:cNvSpPr txBox="1"/>
          <p:nvPr/>
        </p:nvSpPr>
        <p:spPr>
          <a:xfrm>
            <a:off x="1576747" y="1544082"/>
            <a:ext cx="12819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smtClean="0"/>
              <a:t>Network</a:t>
            </a:r>
            <a:endParaRPr lang="en-US" sz="1600" dirty="0"/>
          </a:p>
        </p:txBody>
      </p:sp>
      <p:sp>
        <p:nvSpPr>
          <p:cNvPr id="54" name="圆柱形 53"/>
          <p:cNvSpPr/>
          <p:nvPr/>
        </p:nvSpPr>
        <p:spPr>
          <a:xfrm>
            <a:off x="1184632" y="2007480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文本框 54"/>
          <p:cNvSpPr txBox="1"/>
          <p:nvPr/>
        </p:nvSpPr>
        <p:spPr>
          <a:xfrm>
            <a:off x="1220810" y="1782290"/>
            <a:ext cx="6523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R1</a:t>
            </a:r>
            <a:endParaRPr lang="en-US" sz="1200" dirty="0"/>
          </a:p>
        </p:txBody>
      </p:sp>
      <p:sp>
        <p:nvSpPr>
          <p:cNvPr id="56" name="圆柱形 55"/>
          <p:cNvSpPr/>
          <p:nvPr/>
        </p:nvSpPr>
        <p:spPr>
          <a:xfrm>
            <a:off x="2589171" y="1992273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文本框 56"/>
          <p:cNvSpPr txBox="1"/>
          <p:nvPr/>
        </p:nvSpPr>
        <p:spPr>
          <a:xfrm>
            <a:off x="2633823" y="1754731"/>
            <a:ext cx="4661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R2</a:t>
            </a:r>
            <a:endParaRPr lang="en-US" sz="1200" dirty="0"/>
          </a:p>
        </p:txBody>
      </p:sp>
      <p:sp>
        <p:nvSpPr>
          <p:cNvPr id="58" name="圆柱形 57"/>
          <p:cNvSpPr/>
          <p:nvPr/>
        </p:nvSpPr>
        <p:spPr>
          <a:xfrm>
            <a:off x="1161030" y="3020570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文本框 58"/>
          <p:cNvSpPr txBox="1"/>
          <p:nvPr/>
        </p:nvSpPr>
        <p:spPr>
          <a:xfrm>
            <a:off x="1219782" y="3188152"/>
            <a:ext cx="3569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R4</a:t>
            </a:r>
            <a:endParaRPr lang="en-US" sz="1200" dirty="0"/>
          </a:p>
        </p:txBody>
      </p:sp>
      <p:sp>
        <p:nvSpPr>
          <p:cNvPr id="60" name="圆柱形 59"/>
          <p:cNvSpPr/>
          <p:nvPr/>
        </p:nvSpPr>
        <p:spPr>
          <a:xfrm>
            <a:off x="1864988" y="2418965"/>
            <a:ext cx="352735" cy="179404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文本框 60"/>
          <p:cNvSpPr txBox="1"/>
          <p:nvPr/>
        </p:nvSpPr>
        <p:spPr>
          <a:xfrm>
            <a:off x="1857701" y="2557842"/>
            <a:ext cx="5216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R3</a:t>
            </a:r>
            <a:endParaRPr lang="en-US" sz="1200" dirty="0"/>
          </a:p>
        </p:txBody>
      </p:sp>
      <p:sp>
        <p:nvSpPr>
          <p:cNvPr id="62" name="圆柱形 61"/>
          <p:cNvSpPr/>
          <p:nvPr/>
        </p:nvSpPr>
        <p:spPr>
          <a:xfrm>
            <a:off x="2579588" y="3020570"/>
            <a:ext cx="382683" cy="141719"/>
          </a:xfrm>
          <a:prstGeom prst="can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文本框 62"/>
          <p:cNvSpPr txBox="1"/>
          <p:nvPr/>
        </p:nvSpPr>
        <p:spPr>
          <a:xfrm>
            <a:off x="2528560" y="3131002"/>
            <a:ext cx="3565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R5</a:t>
            </a:r>
            <a:endParaRPr lang="en-US" sz="1200" dirty="0"/>
          </a:p>
        </p:txBody>
      </p:sp>
      <p:cxnSp>
        <p:nvCxnSpPr>
          <p:cNvPr id="64" name="直接连接符 63"/>
          <p:cNvCxnSpPr>
            <a:stCxn id="54" idx="3"/>
            <a:endCxn id="58" idx="1"/>
          </p:cNvCxnSpPr>
          <p:nvPr/>
        </p:nvCxnSpPr>
        <p:spPr>
          <a:xfrm flipH="1">
            <a:off x="1352372" y="2149199"/>
            <a:ext cx="23602" cy="8713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/>
          <p:cNvCxnSpPr>
            <a:stCxn id="56" idx="2"/>
            <a:endCxn id="54" idx="4"/>
          </p:cNvCxnSpPr>
          <p:nvPr/>
        </p:nvCxnSpPr>
        <p:spPr>
          <a:xfrm flipH="1">
            <a:off x="1567315" y="2063133"/>
            <a:ext cx="1021856" cy="152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/>
          <p:cNvCxnSpPr>
            <a:stCxn id="60" idx="2"/>
            <a:endCxn id="54" idx="4"/>
          </p:cNvCxnSpPr>
          <p:nvPr/>
        </p:nvCxnSpPr>
        <p:spPr>
          <a:xfrm flipH="1" flipV="1">
            <a:off x="1567315" y="2078340"/>
            <a:ext cx="297673" cy="4303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/>
          <p:cNvCxnSpPr>
            <a:stCxn id="60" idx="2"/>
            <a:endCxn id="58" idx="4"/>
          </p:cNvCxnSpPr>
          <p:nvPr/>
        </p:nvCxnSpPr>
        <p:spPr>
          <a:xfrm flipH="1">
            <a:off x="1543713" y="2508667"/>
            <a:ext cx="321275" cy="582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/>
          <p:cNvCxnSpPr>
            <a:stCxn id="62" idx="2"/>
            <a:endCxn id="58" idx="4"/>
          </p:cNvCxnSpPr>
          <p:nvPr/>
        </p:nvCxnSpPr>
        <p:spPr>
          <a:xfrm flipH="1">
            <a:off x="1543713" y="3091430"/>
            <a:ext cx="10358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/>
          <p:cNvCxnSpPr>
            <a:stCxn id="56" idx="2"/>
            <a:endCxn id="60" idx="4"/>
          </p:cNvCxnSpPr>
          <p:nvPr/>
        </p:nvCxnSpPr>
        <p:spPr>
          <a:xfrm flipH="1">
            <a:off x="2217723" y="2063133"/>
            <a:ext cx="371448" cy="445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/>
          <p:cNvCxnSpPr>
            <a:stCxn id="62" idx="2"/>
            <a:endCxn id="60" idx="4"/>
          </p:cNvCxnSpPr>
          <p:nvPr/>
        </p:nvCxnSpPr>
        <p:spPr>
          <a:xfrm flipH="1" flipV="1">
            <a:off x="2217723" y="2508667"/>
            <a:ext cx="361865" cy="582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/>
          <p:cNvCxnSpPr>
            <a:stCxn id="56" idx="3"/>
            <a:endCxn id="62" idx="1"/>
          </p:cNvCxnSpPr>
          <p:nvPr/>
        </p:nvCxnSpPr>
        <p:spPr>
          <a:xfrm flipH="1">
            <a:off x="2770930" y="2133992"/>
            <a:ext cx="9583" cy="8865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肘形连接符 72"/>
          <p:cNvCxnSpPr/>
          <p:nvPr/>
        </p:nvCxnSpPr>
        <p:spPr>
          <a:xfrm flipV="1">
            <a:off x="3099964" y="2019606"/>
            <a:ext cx="1699099" cy="31474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连接符 74"/>
          <p:cNvCxnSpPr/>
          <p:nvPr/>
        </p:nvCxnSpPr>
        <p:spPr>
          <a:xfrm>
            <a:off x="3099964" y="2680935"/>
            <a:ext cx="1704456" cy="15390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/>
          <p:cNvSpPr txBox="1"/>
          <p:nvPr/>
        </p:nvSpPr>
        <p:spPr>
          <a:xfrm>
            <a:off x="3366818" y="1726311"/>
            <a:ext cx="14655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Operational State</a:t>
            </a:r>
            <a:endParaRPr lang="en-US" sz="1400" dirty="0"/>
          </a:p>
        </p:txBody>
      </p:sp>
      <p:sp>
        <p:nvSpPr>
          <p:cNvPr id="77" name="文本框 76"/>
          <p:cNvSpPr txBox="1"/>
          <p:nvPr/>
        </p:nvSpPr>
        <p:spPr>
          <a:xfrm>
            <a:off x="3352014" y="2841787"/>
            <a:ext cx="1180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Configuration</a:t>
            </a:r>
            <a:endParaRPr lang="en-US" sz="1400" dirty="0"/>
          </a:p>
        </p:txBody>
      </p:sp>
      <p:sp>
        <p:nvSpPr>
          <p:cNvPr id="78" name="圆柱形 77"/>
          <p:cNvSpPr/>
          <p:nvPr/>
        </p:nvSpPr>
        <p:spPr>
          <a:xfrm>
            <a:off x="6443347" y="2121659"/>
            <a:ext cx="1794354" cy="579722"/>
          </a:xfrm>
          <a:prstGeom prst="can">
            <a:avLst/>
          </a:prstGeom>
          <a:noFill/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r>
              <a:rPr lang="en-US" dirty="0" smtClean="0"/>
              <a:t>Knowledge Graph</a:t>
            </a:r>
            <a:endParaRPr lang="en-US" dirty="0"/>
          </a:p>
        </p:txBody>
      </p:sp>
      <p:sp>
        <p:nvSpPr>
          <p:cNvPr id="79" name="圆角矩形 78"/>
          <p:cNvSpPr/>
          <p:nvPr/>
        </p:nvSpPr>
        <p:spPr>
          <a:xfrm>
            <a:off x="4799063" y="1802856"/>
            <a:ext cx="1123626" cy="119282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rtlCol="0" anchor="ctr"/>
          <a:lstStyle/>
          <a:p>
            <a:pPr algn="ctr"/>
            <a:r>
              <a:rPr lang="en-US" dirty="0" smtClean="0"/>
              <a:t>KG builder</a:t>
            </a:r>
            <a:endParaRPr lang="en-US" dirty="0"/>
          </a:p>
        </p:txBody>
      </p:sp>
      <p:sp>
        <p:nvSpPr>
          <p:cNvPr id="80" name="圆角矩形 79"/>
          <p:cNvSpPr/>
          <p:nvPr/>
        </p:nvSpPr>
        <p:spPr>
          <a:xfrm>
            <a:off x="9128332" y="2078791"/>
            <a:ext cx="2468774" cy="66545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文本框 80"/>
          <p:cNvSpPr txBox="1"/>
          <p:nvPr/>
        </p:nvSpPr>
        <p:spPr>
          <a:xfrm>
            <a:off x="9002250" y="2203317"/>
            <a:ext cx="2670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Semantic Agent Reasoning</a:t>
            </a:r>
            <a:endParaRPr lang="en-US" dirty="0"/>
          </a:p>
        </p:txBody>
      </p:sp>
      <p:cxnSp>
        <p:nvCxnSpPr>
          <p:cNvPr id="84" name="直接箭头连接符 83"/>
          <p:cNvCxnSpPr>
            <a:stCxn id="79" idx="3"/>
            <a:endCxn id="78" idx="2"/>
          </p:cNvCxnSpPr>
          <p:nvPr/>
        </p:nvCxnSpPr>
        <p:spPr>
          <a:xfrm>
            <a:off x="5922689" y="2399266"/>
            <a:ext cx="520658" cy="12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文本框 93"/>
          <p:cNvSpPr txBox="1"/>
          <p:nvPr/>
        </p:nvSpPr>
        <p:spPr>
          <a:xfrm>
            <a:off x="8367846" y="2056668"/>
            <a:ext cx="6344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Query</a:t>
            </a:r>
            <a:endParaRPr lang="en-US" sz="1400" dirty="0"/>
          </a:p>
        </p:txBody>
      </p:sp>
      <p:cxnSp>
        <p:nvCxnSpPr>
          <p:cNvPr id="99" name="直接箭头连接符 98"/>
          <p:cNvCxnSpPr>
            <a:stCxn id="80" idx="1"/>
            <a:endCxn id="78" idx="4"/>
          </p:cNvCxnSpPr>
          <p:nvPr/>
        </p:nvCxnSpPr>
        <p:spPr>
          <a:xfrm flipH="1">
            <a:off x="8237701" y="2411520"/>
            <a:ext cx="8906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16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3703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文本框 40"/>
          <p:cNvSpPr txBox="1"/>
          <p:nvPr/>
        </p:nvSpPr>
        <p:spPr>
          <a:xfrm>
            <a:off x="5985447" y="1918091"/>
            <a:ext cx="16469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YANG-structured payload + overlay</a:t>
            </a:r>
            <a:endParaRPr lang="en-US" sz="1400" dirty="0"/>
          </a:p>
        </p:txBody>
      </p:sp>
      <p:sp>
        <p:nvSpPr>
          <p:cNvPr id="44" name="DiagBox101"/>
          <p:cNvSpPr/>
          <p:nvPr/>
        </p:nvSpPr>
        <p:spPr>
          <a:xfrm>
            <a:off x="1562384" y="2082268"/>
            <a:ext cx="2027861" cy="658476"/>
          </a:xfrm>
          <a:prstGeom prst="roundRect">
            <a:avLst>
              <a:gd name="adj" fmla="val 9000"/>
            </a:avLst>
          </a:prstGeom>
          <a:solidFill>
            <a:srgbClr val="1C7293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High-level Intent</a:t>
            </a:r>
          </a:p>
        </p:txBody>
      </p:sp>
      <p:sp>
        <p:nvSpPr>
          <p:cNvPr id="45" name="DiagArrow102"/>
          <p:cNvSpPr/>
          <p:nvPr/>
        </p:nvSpPr>
        <p:spPr>
          <a:xfrm>
            <a:off x="3590245" y="2307335"/>
            <a:ext cx="400000" cy="320000"/>
          </a:xfrm>
          <a:prstGeom prst="rightArrow">
            <a:avLst/>
          </a:prstGeom>
          <a:solidFill>
            <a:srgbClr val="5B6B7A"/>
          </a:solidFill>
          <a:ln/>
        </p:spPr>
      </p:sp>
      <p:sp>
        <p:nvSpPr>
          <p:cNvPr id="46" name="DiagBox103"/>
          <p:cNvSpPr/>
          <p:nvPr/>
        </p:nvSpPr>
        <p:spPr>
          <a:xfrm>
            <a:off x="3957588" y="2100920"/>
            <a:ext cx="2027861" cy="658476"/>
          </a:xfrm>
          <a:prstGeom prst="roundRect">
            <a:avLst>
              <a:gd name="adj" fmla="val 9000"/>
            </a:avLst>
          </a:prstGeom>
          <a:solidFill>
            <a:srgbClr val="065A82"/>
          </a:solidFill>
          <a:ln/>
          <a:effectLst>
            <a:outerShdw blurRad="101600" dist="38100" dir="2700000" algn="bl" rotWithShape="0">
              <a:srgbClr val="000000">
                <a:alpha val="14000"/>
              </a:srgbClr>
            </a:outerShdw>
          </a:effectLst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Declarative Intent/Policy Overlay</a:t>
            </a:r>
          </a:p>
        </p:txBody>
      </p:sp>
      <p:sp>
        <p:nvSpPr>
          <p:cNvPr id="47" name="DiagArrow104"/>
          <p:cNvSpPr/>
          <p:nvPr/>
        </p:nvSpPr>
        <p:spPr>
          <a:xfrm>
            <a:off x="5985448" y="2323531"/>
            <a:ext cx="1563017" cy="320000"/>
          </a:xfrm>
          <a:prstGeom prst="rightArrow">
            <a:avLst/>
          </a:prstGeom>
          <a:solidFill>
            <a:srgbClr val="5B6B7A"/>
          </a:solidFill>
          <a:ln/>
        </p:spPr>
      </p:sp>
      <p:sp>
        <p:nvSpPr>
          <p:cNvPr id="49" name="圆角矩形 48"/>
          <p:cNvSpPr/>
          <p:nvPr/>
        </p:nvSpPr>
        <p:spPr>
          <a:xfrm>
            <a:off x="7548465" y="2082268"/>
            <a:ext cx="1479177" cy="66545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文本框 49"/>
          <p:cNvSpPr txBox="1"/>
          <p:nvPr/>
        </p:nvSpPr>
        <p:spPr>
          <a:xfrm>
            <a:off x="7928143" y="2243034"/>
            <a:ext cx="7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Agent</a:t>
            </a:r>
            <a:endParaRPr lang="en-US" dirty="0"/>
          </a:p>
        </p:txBody>
      </p:sp>
      <p:sp>
        <p:nvSpPr>
          <p:cNvPr id="51" name="内容占位符 2"/>
          <p:cNvSpPr>
            <a:spLocks noGrp="1"/>
          </p:cNvSpPr>
          <p:nvPr>
            <p:ph idx="1"/>
          </p:nvPr>
        </p:nvSpPr>
        <p:spPr>
          <a:xfrm>
            <a:off x="767443" y="3135258"/>
            <a:ext cx="10657114" cy="30121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 smtClean="0"/>
              <a:t>Core idea:</a:t>
            </a:r>
          </a:p>
          <a:p>
            <a:r>
              <a:rPr lang="en-US" sz="1800" dirty="0"/>
              <a:t>Instead of forcing agents to translate loose, high-level intent directly into rigid YANG leaf nodes, the agent first compiles the intent into a declarative intent/policy overlay</a:t>
            </a:r>
          </a:p>
          <a:p>
            <a:r>
              <a:rPr lang="en-US" altLang="zh-CN" sz="1800" dirty="0" smtClean="0"/>
              <a:t>The overlay could explicitly capture </a:t>
            </a:r>
            <a:r>
              <a:rPr lang="en-US" sz="1800" dirty="0" smtClean="0"/>
              <a:t>invariants, constraints, policies that existing YANG models cannot represent</a:t>
            </a:r>
          </a:p>
          <a:p>
            <a:r>
              <a:rPr lang="en-US" sz="1800" dirty="0" smtClean="0"/>
              <a:t>The overlay is co-delivered alongside the generated YANG instances to lower-layer agents</a:t>
            </a:r>
            <a:endParaRPr lang="en-US" sz="1800" dirty="0"/>
          </a:p>
        </p:txBody>
      </p:sp>
      <p:sp>
        <p:nvSpPr>
          <p:cNvPr id="5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smtClean="0"/>
              <a:t>Declarative Intent/Policy Overlay</a:t>
            </a:r>
            <a:endParaRPr lang="en-US" dirty="0"/>
          </a:p>
        </p:txBody>
      </p:sp>
      <p:sp>
        <p:nvSpPr>
          <p:cNvPr id="53" name="矩形 52"/>
          <p:cNvSpPr/>
          <p:nvPr/>
        </p:nvSpPr>
        <p:spPr>
          <a:xfrm>
            <a:off x="767443" y="5224055"/>
            <a:ext cx="3161891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Industry </a:t>
            </a:r>
            <a:r>
              <a:rPr lang="en-US" b="1" dirty="0" smtClean="0"/>
              <a:t>exploration: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3GPP intent meta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TMF intent management API</a:t>
            </a:r>
          </a:p>
        </p:txBody>
      </p:sp>
      <p:sp>
        <p:nvSpPr>
          <p:cNvPr id="12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17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31431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/>
        </p:nvSpPr>
        <p:spPr>
          <a:xfrm>
            <a:off x="9651982" y="3035618"/>
            <a:ext cx="2232212" cy="94581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矩形 10"/>
          <p:cNvSpPr/>
          <p:nvPr/>
        </p:nvSpPr>
        <p:spPr>
          <a:xfrm>
            <a:off x="7067140" y="1416021"/>
            <a:ext cx="2277036" cy="47049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99416" y="904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 smtClean="0"/>
              <a:t>Token-efficient Data Format for LLM input? TOON?</a:t>
            </a:r>
            <a:endParaRPr lang="en-US" sz="40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5640" y="1209209"/>
            <a:ext cx="6158174" cy="2919502"/>
          </a:xfrm>
        </p:spPr>
        <p:txBody>
          <a:bodyPr>
            <a:noAutofit/>
          </a:bodyPr>
          <a:lstStyle/>
          <a:p>
            <a:r>
              <a:rPr lang="en-US" altLang="zh-CN" sz="2000" dirty="0" smtClean="0"/>
              <a:t>TOON (Token-Oriented </a:t>
            </a:r>
            <a:r>
              <a:rPr lang="en-US" altLang="zh-CN" sz="2000" dirty="0"/>
              <a:t>O</a:t>
            </a:r>
            <a:r>
              <a:rPr lang="en-US" altLang="zh-CN" sz="2000" dirty="0" smtClean="0"/>
              <a:t>bject </a:t>
            </a:r>
            <a:r>
              <a:rPr lang="en-US" altLang="zh-CN" sz="2000" dirty="0"/>
              <a:t>N</a:t>
            </a:r>
            <a:r>
              <a:rPr lang="en-US" altLang="zh-CN" sz="2000" dirty="0" smtClean="0"/>
              <a:t>otation)</a:t>
            </a:r>
            <a:endParaRPr lang="en-US" sz="2000" dirty="0" smtClean="0"/>
          </a:p>
          <a:p>
            <a:pPr lvl="1"/>
            <a:r>
              <a:rPr lang="en-US" sz="1600" dirty="0" smtClean="0"/>
              <a:t>a data serialization format designed specifically for LLM applications.</a:t>
            </a:r>
          </a:p>
          <a:p>
            <a:pPr lvl="1"/>
            <a:r>
              <a:rPr lang="en-US" sz="1600" dirty="0" smtClean="0"/>
              <a:t>Zero syntax redundancy: removes clos</a:t>
            </a:r>
            <a:r>
              <a:rPr lang="en-US" altLang="zh-CN" sz="1600" dirty="0" smtClean="0"/>
              <a:t>ing XML tags and JSON braces</a:t>
            </a:r>
            <a:endParaRPr lang="en-US" sz="1600" dirty="0" smtClean="0"/>
          </a:p>
          <a:p>
            <a:pPr lvl="1"/>
            <a:r>
              <a:rPr lang="en-US" sz="1600" dirty="0" smtClean="0"/>
              <a:t>Context window relief: 30%~60% less token consumption</a:t>
            </a:r>
          </a:p>
          <a:p>
            <a:pPr lvl="1"/>
            <a:r>
              <a:rPr lang="en-US" sz="1600" dirty="0"/>
              <a:t>Think of it as a translation layer: use JSON programmatically, and encode it as TOON for LLM input</a:t>
            </a:r>
            <a:r>
              <a:rPr lang="en-US" sz="1600" dirty="0" smtClean="0"/>
              <a:t>.</a:t>
            </a:r>
          </a:p>
          <a:p>
            <a:pPr lvl="1"/>
            <a:r>
              <a:rPr lang="en-US" sz="1600" dirty="0" smtClean="0"/>
              <a:t>Official Repositories:</a:t>
            </a:r>
          </a:p>
          <a:p>
            <a:pPr lvl="2"/>
            <a:r>
              <a:rPr lang="en-US" sz="1400" dirty="0">
                <a:hlinkClick r:id="rId2"/>
              </a:rPr>
              <a:t>https://</a:t>
            </a:r>
            <a:r>
              <a:rPr lang="en-US" sz="1400" dirty="0" smtClean="0">
                <a:hlinkClick r:id="rId2"/>
              </a:rPr>
              <a:t>github.com/toon-format/toon</a:t>
            </a:r>
            <a:endParaRPr lang="en-US" sz="1400" dirty="0" smtClean="0"/>
          </a:p>
          <a:p>
            <a:pPr lvl="2"/>
            <a:r>
              <a:rPr lang="en-US" sz="1400" dirty="0">
                <a:hlinkClick r:id="rId3"/>
              </a:rPr>
              <a:t>https://</a:t>
            </a:r>
            <a:r>
              <a:rPr lang="en-US" sz="1400" dirty="0" smtClean="0">
                <a:hlinkClick r:id="rId3"/>
              </a:rPr>
              <a:t>github.com/toon-format/spec</a:t>
            </a:r>
            <a:endParaRPr lang="en-US" sz="1400" dirty="0" smtClean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文本框 3"/>
          <p:cNvSpPr txBox="1"/>
          <p:nvPr/>
        </p:nvSpPr>
        <p:spPr>
          <a:xfrm>
            <a:off x="8612878" y="6443085"/>
            <a:ext cx="18342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Format Comparison</a:t>
            </a:r>
            <a:endParaRPr lang="en-US" sz="1600" dirty="0"/>
          </a:p>
        </p:txBody>
      </p:sp>
      <p:sp>
        <p:nvSpPr>
          <p:cNvPr id="5" name="文本框 4"/>
          <p:cNvSpPr txBox="1"/>
          <p:nvPr/>
        </p:nvSpPr>
        <p:spPr>
          <a:xfrm>
            <a:off x="7133861" y="1356604"/>
            <a:ext cx="184224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{</a:t>
            </a:r>
          </a:p>
          <a:p>
            <a:r>
              <a:rPr lang="en-US" sz="1400" dirty="0" smtClean="0"/>
              <a:t>  "users": [</a:t>
            </a:r>
          </a:p>
          <a:p>
            <a:r>
              <a:rPr lang="en-US" sz="1400" dirty="0" smtClean="0"/>
              <a:t>    {</a:t>
            </a:r>
          </a:p>
          <a:p>
            <a:r>
              <a:rPr lang="en-US" sz="1400" dirty="0" smtClean="0"/>
              <a:t>      "id": 1,</a:t>
            </a:r>
          </a:p>
          <a:p>
            <a:r>
              <a:rPr lang="en-US" sz="1400" dirty="0" smtClean="0"/>
              <a:t>      "name": "Alice",</a:t>
            </a:r>
          </a:p>
          <a:p>
            <a:r>
              <a:rPr lang="en-US" sz="1400" dirty="0" smtClean="0"/>
              <a:t>      "role": "Admin",</a:t>
            </a:r>
          </a:p>
          <a:p>
            <a:r>
              <a:rPr lang="en-US" sz="1400" dirty="0" smtClean="0"/>
              <a:t>      "status": "Active"</a:t>
            </a:r>
          </a:p>
          <a:p>
            <a:r>
              <a:rPr lang="en-US" sz="1400" dirty="0" smtClean="0"/>
              <a:t>    },</a:t>
            </a:r>
          </a:p>
          <a:p>
            <a:r>
              <a:rPr lang="en-US" sz="1400" dirty="0" smtClean="0"/>
              <a:t>    {</a:t>
            </a:r>
          </a:p>
          <a:p>
            <a:r>
              <a:rPr lang="en-US" sz="1400" dirty="0" smtClean="0"/>
              <a:t>      "id": 2,</a:t>
            </a:r>
          </a:p>
          <a:p>
            <a:r>
              <a:rPr lang="en-US" sz="1400" dirty="0" smtClean="0"/>
              <a:t>      "name": "Bob",</a:t>
            </a:r>
          </a:p>
          <a:p>
            <a:r>
              <a:rPr lang="en-US" sz="1400" dirty="0" smtClean="0"/>
              <a:t>      "role": "User",</a:t>
            </a:r>
          </a:p>
          <a:p>
            <a:r>
              <a:rPr lang="en-US" sz="1400" dirty="0" smtClean="0"/>
              <a:t>      "status": "Inactive"</a:t>
            </a:r>
          </a:p>
          <a:p>
            <a:r>
              <a:rPr lang="en-US" sz="1400" dirty="0" smtClean="0"/>
              <a:t>    },</a:t>
            </a:r>
          </a:p>
          <a:p>
            <a:r>
              <a:rPr lang="en-US" sz="1400" dirty="0" smtClean="0"/>
              <a:t>    {</a:t>
            </a:r>
          </a:p>
          <a:p>
            <a:r>
              <a:rPr lang="en-US" sz="1400" dirty="0" smtClean="0"/>
              <a:t>      "id": 3,</a:t>
            </a:r>
          </a:p>
          <a:p>
            <a:r>
              <a:rPr lang="en-US" sz="1400" dirty="0" smtClean="0"/>
              <a:t>      "name": "Charlie",</a:t>
            </a:r>
          </a:p>
          <a:p>
            <a:r>
              <a:rPr lang="en-US" sz="1400" dirty="0" smtClean="0"/>
              <a:t>      "role": "User",</a:t>
            </a:r>
          </a:p>
          <a:p>
            <a:r>
              <a:rPr lang="en-US" sz="1400" dirty="0" smtClean="0"/>
              <a:t>      "status": "Active"</a:t>
            </a:r>
          </a:p>
          <a:p>
            <a:r>
              <a:rPr lang="en-US" sz="1400" dirty="0" smtClean="0"/>
              <a:t>    }</a:t>
            </a:r>
          </a:p>
          <a:p>
            <a:r>
              <a:rPr lang="en-US" sz="1400" dirty="0" smtClean="0"/>
              <a:t>  ]</a:t>
            </a:r>
          </a:p>
          <a:p>
            <a:r>
              <a:rPr lang="en-US" sz="1400" dirty="0" smtClean="0"/>
              <a:t>}</a:t>
            </a:r>
            <a:endParaRPr lang="en-US" sz="1400" dirty="0"/>
          </a:p>
        </p:txBody>
      </p:sp>
      <p:sp>
        <p:nvSpPr>
          <p:cNvPr id="6" name="矩形 5"/>
          <p:cNvSpPr/>
          <p:nvPr/>
        </p:nvSpPr>
        <p:spPr>
          <a:xfrm>
            <a:off x="9610165" y="3018068"/>
            <a:ext cx="2581835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 smtClean="0"/>
              <a:t>users[3]{</a:t>
            </a:r>
            <a:r>
              <a:rPr lang="en-US" sz="1400" dirty="0" err="1"/>
              <a:t>id,name,role,status</a:t>
            </a:r>
            <a:r>
              <a:rPr lang="en-US" sz="1400" dirty="0"/>
              <a:t>}:</a:t>
            </a:r>
          </a:p>
          <a:p>
            <a:r>
              <a:rPr lang="en-US" sz="1400" dirty="0"/>
              <a:t>1,Alice,Admin,Active</a:t>
            </a:r>
          </a:p>
          <a:p>
            <a:r>
              <a:rPr lang="en-US" sz="1400" dirty="0"/>
              <a:t>2,Bob,User,Inactive</a:t>
            </a:r>
          </a:p>
          <a:p>
            <a:r>
              <a:rPr lang="en-US" sz="1400" dirty="0"/>
              <a:t>3,Charlie,User,Active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7518348" y="6097415"/>
            <a:ext cx="10945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JSON format</a:t>
            </a:r>
            <a:endParaRPr lang="en-US" sz="1400" dirty="0"/>
          </a:p>
        </p:txBody>
      </p:sp>
      <p:sp>
        <p:nvSpPr>
          <p:cNvPr id="8" name="文本框 7"/>
          <p:cNvSpPr txBox="1"/>
          <p:nvPr/>
        </p:nvSpPr>
        <p:spPr>
          <a:xfrm>
            <a:off x="10189692" y="6097415"/>
            <a:ext cx="11567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TOON format</a:t>
            </a:r>
            <a:endParaRPr lang="en-US" sz="1400" dirty="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448" y="4209830"/>
            <a:ext cx="5831353" cy="1736638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338416" y="6027587"/>
            <a:ext cx="6015731" cy="5847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 smtClean="0"/>
              <a:t>TOON achieves 76.4% accuracy (vs JSON‘s 75.0%) while using 39.9% fewer tokens. However, fit for YANG data has not yet been verified.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399678" y="6581001"/>
            <a:ext cx="44897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statistics source</a:t>
            </a:r>
            <a:r>
              <a:rPr lang="en-US" altLang="zh-CN" sz="1200" dirty="0" smtClean="0"/>
              <a:t>: </a:t>
            </a:r>
            <a:r>
              <a:rPr lang="en-US" altLang="zh-CN" sz="1200" dirty="0" smtClean="0">
                <a:hlinkClick r:id="rId5"/>
              </a:rPr>
              <a:t>https</a:t>
            </a:r>
            <a:r>
              <a:rPr lang="en-US" altLang="zh-CN" sz="1200" dirty="0">
                <a:hlinkClick r:id="rId5"/>
              </a:rPr>
              <a:t>://</a:t>
            </a:r>
            <a:r>
              <a:rPr lang="en-US" altLang="zh-CN" sz="1200" dirty="0" smtClean="0">
                <a:hlinkClick r:id="rId5"/>
              </a:rPr>
              <a:t>github.com/toon-format/toon#benchmarks</a:t>
            </a:r>
            <a:r>
              <a:rPr lang="en-US" altLang="zh-CN" sz="1200" dirty="0" smtClean="0"/>
              <a:t>  </a:t>
            </a:r>
            <a:endParaRPr lang="en-US" sz="1200" dirty="0"/>
          </a:p>
        </p:txBody>
      </p:sp>
      <p:sp>
        <p:nvSpPr>
          <p:cNvPr id="14" name="文本框 13"/>
          <p:cNvSpPr txBox="1"/>
          <p:nvPr/>
        </p:nvSpPr>
        <p:spPr>
          <a:xfrm>
            <a:off x="6534247" y="1363132"/>
            <a:ext cx="555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18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7363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2920" y="1691640"/>
            <a:ext cx="5989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smtClean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Ways Forward 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92240" y="1691640"/>
            <a:ext cx="16733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92240" y="1719072"/>
            <a:ext cx="167335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lnSpc>
                <a:spcPct val="105000"/>
              </a:lnSpc>
            </a:pPr>
            <a:r>
              <a:rPr lang="en-US" sz="1200" b="1" dirty="0">
                <a:solidFill>
                  <a:srgbClr val="C1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</a:t>
            </a:r>
            <a:r>
              <a:rPr lang="en-US" sz="1200" b="1" dirty="0" smtClean="0">
                <a:solidFill>
                  <a:srgbClr val="C1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  <a:p>
            <a:pPr algn="ctr">
              <a:lnSpc>
                <a:spcPct val="105000"/>
              </a:lnSpc>
            </a:pPr>
            <a:r>
              <a:rPr lang="en-US" sz="1200" b="1" dirty="0" smtClean="0">
                <a:solidFill>
                  <a:srgbClr val="C1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</a:t>
            </a:r>
            <a:r>
              <a:rPr lang="en-US" sz="1200" b="1" dirty="0">
                <a:solidFill>
                  <a:srgbClr val="C1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</a:t>
            </a:r>
          </a:p>
        </p:txBody>
      </p:sp>
      <p:sp>
        <p:nvSpPr>
          <p:cNvPr id="7" name="Shape 5"/>
          <p:cNvSpPr/>
          <p:nvPr/>
        </p:nvSpPr>
        <p:spPr>
          <a:xfrm>
            <a:off x="8275320" y="1691640"/>
            <a:ext cx="16733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275320" y="1719072"/>
            <a:ext cx="167335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2</a:t>
            </a:r>
            <a:endParaRPr lang="en-US" sz="12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</a:t>
            </a:r>
            <a:r>
              <a:rPr lang="en-US" sz="1200" b="1" dirty="0" smtClean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058400" y="1691640"/>
            <a:ext cx="1673352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0" y="1719072"/>
            <a:ext cx="167335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3</a:t>
            </a:r>
            <a:endParaRPr lang="en-US" sz="1200" dirty="0"/>
          </a:p>
          <a:p>
            <a:pPr algn="ctr">
              <a:lnSpc>
                <a:spcPct val="105000"/>
              </a:lnSpc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Non-determinism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359152"/>
            <a:ext cx="5989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1B2A4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" y="2487168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AI-</a:t>
            </a:r>
            <a:r>
              <a:rPr lang="en-US" sz="16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Invocable</a:t>
            </a: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Tools</a:t>
            </a:r>
          </a:p>
        </p:txBody>
      </p:sp>
      <p:sp>
        <p:nvSpPr>
          <p:cNvPr id="13" name="Text 11"/>
          <p:cNvSpPr/>
          <p:nvPr/>
        </p:nvSpPr>
        <p:spPr>
          <a:xfrm>
            <a:off x="758952" y="279806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274052" y="2784348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17" name="Shape 15"/>
          <p:cNvSpPr/>
          <p:nvPr/>
        </p:nvSpPr>
        <p:spPr>
          <a:xfrm>
            <a:off x="9057132" y="2784348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18" name="Shape 16"/>
          <p:cNvSpPr/>
          <p:nvPr/>
        </p:nvSpPr>
        <p:spPr>
          <a:xfrm>
            <a:off x="10675620" y="2619756"/>
            <a:ext cx="438912" cy="43891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675620" y="26014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2920" y="3447288"/>
            <a:ext cx="5989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1B2A4A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8952" y="3886200"/>
            <a:ext cx="540858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Semantic Enhancement via Knowledge Graphs &amp; Semantic Metadata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58952" y="3886200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09460" y="3707892"/>
            <a:ext cx="438912" cy="438912"/>
          </a:xfrm>
          <a:prstGeom prst="ellipse">
            <a:avLst/>
          </a:prstGeom>
          <a:solidFill>
            <a:srgbClr val="C1554D"/>
          </a:solidFill>
          <a:ln/>
        </p:spPr>
      </p:sp>
      <p:sp>
        <p:nvSpPr>
          <p:cNvPr id="26" name="Text 24"/>
          <p:cNvSpPr/>
          <p:nvPr/>
        </p:nvSpPr>
        <p:spPr>
          <a:xfrm>
            <a:off x="7109460" y="36896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9057132" y="3872484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40212" y="3872484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29" name="Shape 27"/>
          <p:cNvSpPr/>
          <p:nvPr/>
        </p:nvSpPr>
        <p:spPr>
          <a:xfrm>
            <a:off x="502920" y="4535424"/>
            <a:ext cx="5989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1B2A4A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58952" y="46634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Declarative Intent/Policy Overlay</a:t>
            </a:r>
          </a:p>
        </p:txBody>
      </p:sp>
      <p:sp>
        <p:nvSpPr>
          <p:cNvPr id="31" name="Text 29"/>
          <p:cNvSpPr/>
          <p:nvPr/>
        </p:nvSpPr>
        <p:spPr>
          <a:xfrm>
            <a:off x="758952" y="4974336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09460" y="4796028"/>
            <a:ext cx="438912" cy="438912"/>
          </a:xfrm>
          <a:prstGeom prst="ellipse">
            <a:avLst/>
          </a:prstGeom>
          <a:solidFill>
            <a:srgbClr val="C1554D"/>
          </a:solidFill>
          <a:ln/>
        </p:spPr>
      </p:sp>
      <p:sp>
        <p:nvSpPr>
          <p:cNvPr id="35" name="Text 33"/>
          <p:cNvSpPr/>
          <p:nvPr/>
        </p:nvSpPr>
        <p:spPr>
          <a:xfrm>
            <a:off x="7109460" y="47777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9057132" y="4960620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37" name="Shape 35"/>
          <p:cNvSpPr/>
          <p:nvPr/>
        </p:nvSpPr>
        <p:spPr>
          <a:xfrm>
            <a:off x="10840212" y="4960620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38" name="Shape 36"/>
          <p:cNvSpPr/>
          <p:nvPr/>
        </p:nvSpPr>
        <p:spPr>
          <a:xfrm>
            <a:off x="502920" y="5623560"/>
            <a:ext cx="5989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1B2A4A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58952" y="5751576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Token-Efficient YANG Serialization</a:t>
            </a:r>
          </a:p>
        </p:txBody>
      </p:sp>
      <p:sp>
        <p:nvSpPr>
          <p:cNvPr id="40" name="Text 38"/>
          <p:cNvSpPr/>
          <p:nvPr/>
        </p:nvSpPr>
        <p:spPr>
          <a:xfrm>
            <a:off x="758952" y="6062472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274052" y="6048756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44" name="Shape 42"/>
          <p:cNvSpPr/>
          <p:nvPr/>
        </p:nvSpPr>
        <p:spPr>
          <a:xfrm>
            <a:off x="8892540" y="5884164"/>
            <a:ext cx="438912" cy="43891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5" name="Text 43"/>
          <p:cNvSpPr/>
          <p:nvPr/>
        </p:nvSpPr>
        <p:spPr>
          <a:xfrm>
            <a:off x="8892540" y="58658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10840212" y="6048756"/>
            <a:ext cx="109728" cy="109728"/>
          </a:xfrm>
          <a:prstGeom prst="ellipse">
            <a:avLst/>
          </a:prstGeom>
          <a:solidFill>
            <a:srgbClr val="DCE3EA"/>
          </a:solidFill>
          <a:ln/>
        </p:spPr>
      </p:sp>
      <p:sp>
        <p:nvSpPr>
          <p:cNvPr id="47" name="标题 1"/>
          <p:cNvSpPr>
            <a:spLocks noGrp="1"/>
          </p:cNvSpPr>
          <p:nvPr>
            <p:ph type="title"/>
          </p:nvPr>
        </p:nvSpPr>
        <p:spPr>
          <a:xfrm>
            <a:off x="871351" y="24169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 smtClean="0"/>
              <a:t>Mapping Between the Four Paths and the Gaps</a:t>
            </a:r>
            <a:endParaRPr lang="en-US" sz="4000" dirty="0"/>
          </a:p>
        </p:txBody>
      </p:sp>
      <p:sp>
        <p:nvSpPr>
          <p:cNvPr id="41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14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2476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698240" y="221951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Comments, Questions, Concerns?</a:t>
            </a:r>
            <a:endParaRPr lang="en-US" sz="4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19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3365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5B6B7A"/>
        </a:solidFill>
        <a:ln/>
      </a:spPr>
      <a:bodyPr/>
      <a:lstStyle/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9643</TotalTime>
  <Words>1520</Words>
  <Application>Microsoft Office PowerPoint</Application>
  <PresentationFormat>宽屏</PresentationFormat>
  <Paragraphs>255</Paragraphs>
  <Slides>19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5" baseType="lpstr">
      <vt:lpstr>宋体</vt:lpstr>
      <vt:lpstr>Arial</vt:lpstr>
      <vt:lpstr>Calibri</vt:lpstr>
      <vt:lpstr>Calibri Light</vt:lpstr>
      <vt:lpstr>Cambria</vt:lpstr>
      <vt:lpstr>Office 主题</vt:lpstr>
      <vt:lpstr>Rethinking YANG-based Service and Network Management in the Era of Agentic AI</vt:lpstr>
      <vt:lpstr>Outline</vt:lpstr>
      <vt:lpstr>Background and Goal</vt:lpstr>
      <vt:lpstr>The RFC 8969 Paradigm for Model-driven Automation </vt:lpstr>
      <vt:lpstr>Shift towards an Agentic AI based Hierarchy</vt:lpstr>
      <vt:lpstr>Workflow Examples</vt:lpstr>
      <vt:lpstr>Intent-Driven Service Provisioning/Optimization</vt:lpstr>
      <vt:lpstr>Network Troubleshooting</vt:lpstr>
      <vt:lpstr>Core Challenges Analysis</vt:lpstr>
      <vt:lpstr>Gap Analysis 1: The Semantic Divide</vt:lpstr>
      <vt:lpstr>PowerPoint 演示文稿</vt:lpstr>
      <vt:lpstr>PowerPoint 演示文稿</vt:lpstr>
      <vt:lpstr>Potential Ways Forward</vt:lpstr>
      <vt:lpstr>YANG-driven Operations as AI-Invocable Tools</vt:lpstr>
      <vt:lpstr>Semantic Enrichment via Knowledge Graphs</vt:lpstr>
      <vt:lpstr>Declarative Intent/Policy Overlay</vt:lpstr>
      <vt:lpstr>Token-efficient Data Format for LLM input? TOON?</vt:lpstr>
      <vt:lpstr>Mapping Between the Four Paths and the Gaps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maqiufang (A)</dc:creator>
  <cp:lastModifiedBy>maqiufang (A)</cp:lastModifiedBy>
  <cp:revision>106</cp:revision>
  <dcterms:created xsi:type="dcterms:W3CDTF">2026-07-03T09:07:50Z</dcterms:created>
  <dcterms:modified xsi:type="dcterms:W3CDTF">2026-07-15T07:59:52Z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readonly">
    <vt:lpwstr/>
  </property>
  <property fmtid="{D5CDD505-2E9C-101B-9397-08002B2CF9AE}" pid="3" name="_change">
    <vt:lpwstr/>
  </property>
  <property fmtid="{D5CDD505-2E9C-101B-9397-08002B2CF9AE}" pid="4" name="_full-control">
    <vt:lpwstr/>
  </property>
  <property fmtid="{D5CDD505-2E9C-101B-9397-08002B2CF9AE}" pid="5" name="sflag">
    <vt:lpwstr>1784021964</vt:lpwstr>
  </property>
</Properties>
</file>