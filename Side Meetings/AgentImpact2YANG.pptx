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2" r:id="rId3"/>
    <p:sldId id="266" r:id="rId4"/>
    <p:sldId id="281" r:id="rId5"/>
    <p:sldId id="261" r:id="rId6"/>
    <p:sldId id="263" r:id="rId7"/>
    <p:sldId id="264" r:id="rId8"/>
    <p:sldId id="279" r:id="rId9"/>
    <p:sldId id="269" r:id="rId10"/>
    <p:sldId id="268" r:id="rId11"/>
    <p:sldId id="258" r:id="rId12"/>
    <p:sldId id="260" r:id="rId13"/>
    <p:sldId id="271" r:id="rId14"/>
    <p:sldId id="283" r:id="rId15"/>
    <p:sldId id="276" r:id="rId16"/>
    <p:sldId id="284" r:id="rId17"/>
    <p:sldId id="285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7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0" autoAdjust="0"/>
    <p:restoredTop sz="89872" autoAdjust="0"/>
  </p:normalViewPr>
  <p:slideViewPr>
    <p:cSldViewPr snapToGrid="0">
      <p:cViewPr varScale="1">
        <p:scale>
          <a:sx n="103" d="100"/>
          <a:sy n="103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0CF82-65EC-44B8-81F8-2F4982E48986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854AF-5357-44EF-B59D-5258B4C5F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896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854AF-5357-44EF-B59D-5258B4C5F46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105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EE5B8-BB87-4586-AA02-8EB91A2F44B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106FA-9A78-48D1-8B1D-CF20CEF36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790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EE5B8-BB87-4586-AA02-8EB91A2F44B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106FA-9A78-48D1-8B1D-CF20CEF36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1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EE5B8-BB87-4586-AA02-8EB91A2F44B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106FA-9A78-48D1-8B1D-CF20CEF36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86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EE5B8-BB87-4586-AA02-8EB91A2F44B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106FA-9A78-48D1-8B1D-CF20CEF36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579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EE5B8-BB87-4586-AA02-8EB91A2F44B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106FA-9A78-48D1-8B1D-CF20CEF36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6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EE5B8-BB87-4586-AA02-8EB91A2F44B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106FA-9A78-48D1-8B1D-CF20CEF36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80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EE5B8-BB87-4586-AA02-8EB91A2F44B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106FA-9A78-48D1-8B1D-CF20CEF36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35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EE5B8-BB87-4586-AA02-8EB91A2F44B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106FA-9A78-48D1-8B1D-CF20CEF36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15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EE5B8-BB87-4586-AA02-8EB91A2F44B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106FA-9A78-48D1-8B1D-CF20CEF36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61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EE5B8-BB87-4586-AA02-8EB91A2F44B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106FA-9A78-48D1-8B1D-CF20CEF36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891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EE5B8-BB87-4586-AA02-8EB91A2F44B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106FA-9A78-48D1-8B1D-CF20CEF36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849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EE5B8-BB87-4586-AA02-8EB91A2F44B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1106FA-9A78-48D1-8B1D-CF20CEF36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75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niper/junos-mcp-server" TargetMode="External"/><Relationship Id="rId2" Type="http://schemas.openxmlformats.org/officeDocument/2006/relationships/hyperlink" Target="https://github.com/jillesca/gNMIBuddy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draft-tailhardat-nmop-incident-management-noria/" TargetMode="External"/><Relationship Id="rId2" Type="http://schemas.openxmlformats.org/officeDocument/2006/relationships/hyperlink" Target="https://datatracker.ietf.org/doc/draft-mackey-nmop-kg-for-netop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tatracker.ietf.org/doc/draft-ietf-nmop-network-anomaly-semantics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html/2603.23772v1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on-format/spec" TargetMode="External"/><Relationship Id="rId2" Type="http://schemas.openxmlformats.org/officeDocument/2006/relationships/hyperlink" Target="https://github.com/toon-format/toon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toon-format/toon#benchmarks" TargetMode="Externa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Rethinking YANG-based Service and Network Management in the Era of Agentic AI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An investigation into how Agent-to-Agent (A2A) communications impact the traditional service, network, and device YANG model.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55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20" name="内容占位符 19"/>
          <p:cNvSpPr>
            <a:spLocks noGrp="1"/>
          </p:cNvSpPr>
          <p:nvPr>
            <p:ph idx="1"/>
          </p:nvPr>
        </p:nvSpPr>
        <p:spPr>
          <a:xfrm>
            <a:off x="775447" y="1714407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Background &amp; Context</a:t>
            </a:r>
          </a:p>
          <a:p>
            <a:pPr marL="457200" lvl="1" indent="0">
              <a:buNone/>
            </a:pPr>
            <a:r>
              <a:rPr lang="en-US" altLang="zh-CN" dirty="0" smtClean="0">
                <a:solidFill>
                  <a:schemeClr val="bg2">
                    <a:lumMod val="75000"/>
                  </a:schemeClr>
                </a:solidFill>
              </a:rPr>
              <a:t>Understanding the convergence of YANG data models and AI Agents in modern network management</a:t>
            </a:r>
            <a:endParaRPr lang="en-US" dirty="0" smtClean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dirty="0" smtClean="0"/>
              <a:t>Two workflow Examples</a:t>
            </a:r>
          </a:p>
          <a:p>
            <a:r>
              <a:rPr lang="en-US" dirty="0" smtClean="0"/>
              <a:t>Core Challenges Analysis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Deep dive into major gaps impeding the effective AI-YANG integration</a:t>
            </a:r>
          </a:p>
          <a:p>
            <a:r>
              <a:rPr lang="en-US" dirty="0" smtClean="0"/>
              <a:t>Potential Solutions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Exploring technical and architectural pathways to bridge the identified gaps</a:t>
            </a:r>
          </a:p>
          <a:p>
            <a:r>
              <a:rPr lang="en-US" dirty="0" smtClean="0"/>
              <a:t>Open Discussion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Interactive Q&amp;A, feedback sharing, and collaborative idea exchange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417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Background and Context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altLang="zh-CN" dirty="0" smtClean="0"/>
              <a:t>We are moving from model-driven automation to AGENTICOPS, where LLM-based agents interpret intent and execute complex workflows across heterogeneous layers.</a:t>
            </a:r>
          </a:p>
          <a:p>
            <a:r>
              <a:rPr lang="en-US" altLang="zh-CN" dirty="0" smtClean="0"/>
              <a:t>What we are targeting is the full autonomy…this is the final objective.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We now have protocols defined, e.g., MCP, A2A, A2A is sending plain text…but we would still want to send YANG data </a:t>
            </a:r>
          </a:p>
          <a:p>
            <a:r>
              <a:rPr lang="en-US" dirty="0" smtClean="0"/>
              <a:t>How we should Integrate YANG into A2A message?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489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 smtClean="0"/>
              <a:t>The goal is to open community discussion, not to finalize a solution</a:t>
            </a:r>
          </a:p>
          <a:p>
            <a:r>
              <a:rPr lang="en-US" dirty="0" smtClean="0"/>
              <a:t>Not a redesign of YANG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979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14"/>
          <p:cNvSpPr/>
          <p:nvPr/>
        </p:nvSpPr>
        <p:spPr>
          <a:xfrm>
            <a:off x="535081" y="5256923"/>
            <a:ext cx="4360046" cy="914400"/>
          </a:xfrm>
          <a:prstGeom prst="roundRect">
            <a:avLst>
              <a:gd name="adj" fmla="val 9000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7" name="Shape 8"/>
          <p:cNvSpPr/>
          <p:nvPr/>
        </p:nvSpPr>
        <p:spPr>
          <a:xfrm>
            <a:off x="535081" y="3693928"/>
            <a:ext cx="4360046" cy="1060075"/>
          </a:xfrm>
          <a:prstGeom prst="roundRect">
            <a:avLst>
              <a:gd name="adj" fmla="val 9000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6" name="Shape 2"/>
          <p:cNvSpPr/>
          <p:nvPr/>
        </p:nvSpPr>
        <p:spPr>
          <a:xfrm>
            <a:off x="503164" y="2224309"/>
            <a:ext cx="4360046" cy="914400"/>
          </a:xfrm>
          <a:prstGeom prst="roundRect">
            <a:avLst>
              <a:gd name="adj" fmla="val 9000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7188" y="54636"/>
            <a:ext cx="11075894" cy="1325563"/>
          </a:xfrm>
        </p:spPr>
        <p:txBody>
          <a:bodyPr>
            <a:normAutofit/>
          </a:bodyPr>
          <a:lstStyle/>
          <a:p>
            <a:r>
              <a:rPr lang="en-US" sz="3600" dirty="0" smtClean="0"/>
              <a:t>The RFC 8969 Paradigm for Model-driven Automation </a:t>
            </a:r>
            <a:endParaRPr lang="en-US" sz="3600" dirty="0"/>
          </a:p>
        </p:txBody>
      </p:sp>
      <p:sp>
        <p:nvSpPr>
          <p:cNvPr id="4" name="文本框 3"/>
          <p:cNvSpPr txBox="1"/>
          <p:nvPr/>
        </p:nvSpPr>
        <p:spPr>
          <a:xfrm>
            <a:off x="1974293" y="2167809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</a:pPr>
            <a:r>
              <a:rPr lang="en-US" altLang="zh-CN" sz="1400" b="1" dirty="0">
                <a:solidFill>
                  <a:schemeClr val="bg1"/>
                </a:solidFill>
                <a:latin typeface="Arial" charset="0"/>
                <a:ea typeface="宋体" pitchFamily="2" charset="-122"/>
              </a:rPr>
              <a:t>Orchestrator </a:t>
            </a:r>
            <a:endParaRPr lang="en-US" sz="1400" b="1" dirty="0">
              <a:solidFill>
                <a:schemeClr val="bg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94572" y="3640944"/>
            <a:ext cx="1040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</a:pPr>
            <a:r>
              <a:rPr lang="en-US" altLang="zh-CN" sz="1400" b="1" dirty="0" smtClean="0">
                <a:solidFill>
                  <a:schemeClr val="bg1"/>
                </a:solidFill>
                <a:latin typeface="Arial" charset="0"/>
                <a:ea typeface="宋体" pitchFamily="2" charset="-122"/>
              </a:rPr>
              <a:t>Controller</a:t>
            </a:r>
            <a:endParaRPr lang="en-US" sz="1400" b="1" dirty="0">
              <a:solidFill>
                <a:schemeClr val="bg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56100" y="5294011"/>
            <a:ext cx="16177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</a:pPr>
            <a:r>
              <a:rPr lang="en-US" altLang="zh-CN" sz="1400" b="1" dirty="0" smtClean="0">
                <a:solidFill>
                  <a:schemeClr val="bg1"/>
                </a:solidFill>
                <a:latin typeface="Arial" charset="0"/>
                <a:ea typeface="宋体" pitchFamily="2" charset="-122"/>
              </a:rPr>
              <a:t>Network </a:t>
            </a:r>
            <a:r>
              <a:rPr lang="en-US" sz="1400" b="1" dirty="0" smtClean="0">
                <a:solidFill>
                  <a:schemeClr val="bg1"/>
                </a:solidFill>
                <a:latin typeface="Arial" charset="0"/>
                <a:ea typeface="宋体" pitchFamily="2" charset="-122"/>
              </a:rPr>
              <a:t>Devices</a:t>
            </a:r>
            <a:endParaRPr lang="en-US" sz="1400" b="1" dirty="0">
              <a:solidFill>
                <a:schemeClr val="bg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82074" y="5623483"/>
            <a:ext cx="1595309" cy="30777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</a:pPr>
            <a:r>
              <a:rPr lang="en-US" sz="1400" b="1" dirty="0" smtClean="0">
                <a:solidFill>
                  <a:prstClr val="black"/>
                </a:solidFill>
                <a:latin typeface="Arial" charset="0"/>
                <a:ea typeface="宋体" pitchFamily="2" charset="-122"/>
              </a:rPr>
              <a:t>Device Modeling</a:t>
            </a:r>
            <a:endParaRPr lang="en-US" sz="1400" b="1" dirty="0">
              <a:solidFill>
                <a:prstClr val="black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57566" y="4337482"/>
            <a:ext cx="2114681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</a:pPr>
            <a:r>
              <a:rPr lang="en-US" sz="1400" b="1" dirty="0" smtClean="0">
                <a:solidFill>
                  <a:schemeClr val="bg1"/>
                </a:solidFill>
                <a:latin typeface="Arial" charset="0"/>
                <a:ea typeface="宋体" pitchFamily="2" charset="-122"/>
              </a:rPr>
              <a:t>Network Orchestration</a:t>
            </a:r>
            <a:endParaRPr lang="en-US" sz="1400" b="1" dirty="0">
              <a:solidFill>
                <a:schemeClr val="bg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44620" y="2814348"/>
            <a:ext cx="2045753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</a:pPr>
            <a:r>
              <a:rPr lang="en-US" sz="1400" b="1" dirty="0" smtClean="0">
                <a:solidFill>
                  <a:schemeClr val="bg1"/>
                </a:solidFill>
                <a:latin typeface="Arial" charset="0"/>
                <a:ea typeface="宋体" pitchFamily="2" charset="-122"/>
              </a:rPr>
              <a:t>Service Orchestration</a:t>
            </a:r>
            <a:endParaRPr lang="en-US" sz="1400" b="1" dirty="0">
              <a:solidFill>
                <a:schemeClr val="bg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60019" y="3957017"/>
            <a:ext cx="1725152" cy="307777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</a:pPr>
            <a:r>
              <a:rPr lang="en-US" sz="1400" b="1" dirty="0" smtClean="0">
                <a:solidFill>
                  <a:prstClr val="black"/>
                </a:solidFill>
                <a:latin typeface="Arial" charset="0"/>
                <a:ea typeface="宋体" pitchFamily="2" charset="-122"/>
              </a:rPr>
              <a:t>Network Modeling</a:t>
            </a:r>
            <a:endParaRPr lang="en-US" sz="1400" b="1" dirty="0">
              <a:solidFill>
                <a:prstClr val="black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67025" y="2452978"/>
            <a:ext cx="1656223" cy="307777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</a:pPr>
            <a:r>
              <a:rPr lang="en-US" sz="1400" b="1" dirty="0" smtClean="0">
                <a:solidFill>
                  <a:prstClr val="black"/>
                </a:solidFill>
                <a:latin typeface="Arial" charset="0"/>
                <a:ea typeface="宋体" pitchFamily="2" charset="-122"/>
              </a:rPr>
              <a:t>Service Modeling</a:t>
            </a:r>
            <a:endParaRPr lang="en-US" sz="1400" b="1" dirty="0">
              <a:solidFill>
                <a:prstClr val="black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164630" y="2106462"/>
            <a:ext cx="68301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Deterministic workflow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Automation follows rigid, predefined workflows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Hard-coded logic to map service-&gt;network-&gt;device layers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Highly Structured Interface &amp; Data Modeling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Mandates highly structured YANG data models for every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1" name="文本框 40"/>
          <p:cNvSpPr txBox="1"/>
          <p:nvPr/>
        </p:nvSpPr>
        <p:spPr>
          <a:xfrm>
            <a:off x="882062" y="1208489"/>
            <a:ext cx="7262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 Framework for Automating Service and Network Management with YANG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9" name="Shape 3"/>
          <p:cNvSpPr/>
          <p:nvPr/>
        </p:nvSpPr>
        <p:spPr>
          <a:xfrm>
            <a:off x="638358" y="243062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0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32" y="2562296"/>
            <a:ext cx="285293" cy="285293"/>
          </a:xfrm>
          <a:prstGeom prst="rect">
            <a:avLst/>
          </a:prstGeom>
        </p:spPr>
      </p:pic>
      <p:sp>
        <p:nvSpPr>
          <p:cNvPr id="51" name="Shape 3"/>
          <p:cNvSpPr/>
          <p:nvPr/>
        </p:nvSpPr>
        <p:spPr>
          <a:xfrm>
            <a:off x="663840" y="3988049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14" y="4119723"/>
            <a:ext cx="285293" cy="285293"/>
          </a:xfrm>
          <a:prstGeom prst="rect">
            <a:avLst/>
          </a:prstGeom>
        </p:spPr>
      </p:pic>
      <p:sp>
        <p:nvSpPr>
          <p:cNvPr id="53" name="Shape 3"/>
          <p:cNvSpPr/>
          <p:nvPr/>
        </p:nvSpPr>
        <p:spPr>
          <a:xfrm>
            <a:off x="739597" y="537866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271" y="5510336"/>
            <a:ext cx="285293" cy="285293"/>
          </a:xfrm>
          <a:prstGeom prst="rect">
            <a:avLst/>
          </a:prstGeom>
        </p:spPr>
      </p:pic>
      <p:cxnSp>
        <p:nvCxnSpPr>
          <p:cNvPr id="24" name="直接箭头连接符 23"/>
          <p:cNvCxnSpPr/>
          <p:nvPr/>
        </p:nvCxnSpPr>
        <p:spPr>
          <a:xfrm flipH="1">
            <a:off x="2564975" y="3132618"/>
            <a:ext cx="7949" cy="546834"/>
          </a:xfrm>
          <a:prstGeom prst="straightConnector1">
            <a:avLst/>
          </a:prstGeom>
          <a:ln w="76200"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H="1">
            <a:off x="2561000" y="4746196"/>
            <a:ext cx="7949" cy="546834"/>
          </a:xfrm>
          <a:prstGeom prst="straightConnector1">
            <a:avLst/>
          </a:prstGeom>
          <a:ln w="76200"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033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9635" y="236141"/>
            <a:ext cx="11075894" cy="1325563"/>
          </a:xfrm>
        </p:spPr>
        <p:txBody>
          <a:bodyPr/>
          <a:lstStyle/>
          <a:p>
            <a:r>
              <a:rPr lang="en-US" dirty="0" smtClean="0"/>
              <a:t>From Static Pipeline to Agent Hierarchy</a:t>
            </a:r>
            <a:endParaRPr lang="en-US" dirty="0"/>
          </a:p>
        </p:txBody>
      </p:sp>
      <p:sp>
        <p:nvSpPr>
          <p:cNvPr id="17" name="Shape 2"/>
          <p:cNvSpPr/>
          <p:nvPr/>
        </p:nvSpPr>
        <p:spPr>
          <a:xfrm>
            <a:off x="535081" y="2422283"/>
            <a:ext cx="4360046" cy="914400"/>
          </a:xfrm>
          <a:prstGeom prst="roundRect">
            <a:avLst>
              <a:gd name="adj" fmla="val 9000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3"/>
          <p:cNvSpPr/>
          <p:nvPr/>
        </p:nvSpPr>
        <p:spPr>
          <a:xfrm>
            <a:off x="717961" y="2605163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35" y="2736837"/>
            <a:ext cx="285293" cy="285293"/>
          </a:xfrm>
          <a:prstGeom prst="rect">
            <a:avLst/>
          </a:prstGeom>
        </p:spPr>
      </p:pic>
      <p:sp>
        <p:nvSpPr>
          <p:cNvPr id="20" name="Text 4"/>
          <p:cNvSpPr/>
          <p:nvPr/>
        </p:nvSpPr>
        <p:spPr>
          <a:xfrm>
            <a:off x="1449481" y="2550299"/>
            <a:ext cx="29432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AI Agent(s</a:t>
            </a: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endParaRPr lang="en-US" sz="1500" dirty="0"/>
          </a:p>
        </p:txBody>
      </p:sp>
      <p:sp>
        <p:nvSpPr>
          <p:cNvPr id="21" name="Text 5"/>
          <p:cNvSpPr/>
          <p:nvPr/>
        </p:nvSpPr>
        <p:spPr>
          <a:xfrm>
            <a:off x="1449481" y="2934347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NL intent → service </a:t>
            </a:r>
            <a:r>
              <a:rPr lang="en-US" sz="1100" dirty="0" smtClean="0">
                <a:solidFill>
                  <a:srgbClr val="E4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23" name="Text 7"/>
          <p:cNvSpPr/>
          <p:nvPr/>
        </p:nvSpPr>
        <p:spPr>
          <a:xfrm>
            <a:off x="2563407" y="3309987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i="1" dirty="0" smtClean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 Agent communication Protocol</a:t>
            </a:r>
            <a:endParaRPr lang="en-US" sz="950" dirty="0"/>
          </a:p>
        </p:txBody>
      </p:sp>
      <p:sp>
        <p:nvSpPr>
          <p:cNvPr id="24" name="Shape 8"/>
          <p:cNvSpPr/>
          <p:nvPr/>
        </p:nvSpPr>
        <p:spPr>
          <a:xfrm>
            <a:off x="535081" y="3839603"/>
            <a:ext cx="4360046" cy="914400"/>
          </a:xfrm>
          <a:prstGeom prst="roundRect">
            <a:avLst>
              <a:gd name="adj" fmla="val 9000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Shape 9"/>
          <p:cNvSpPr/>
          <p:nvPr/>
        </p:nvSpPr>
        <p:spPr>
          <a:xfrm>
            <a:off x="717961" y="4022483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35" y="4154157"/>
            <a:ext cx="285293" cy="285293"/>
          </a:xfrm>
          <a:prstGeom prst="rect">
            <a:avLst/>
          </a:prstGeom>
        </p:spPr>
      </p:pic>
      <p:sp>
        <p:nvSpPr>
          <p:cNvPr id="27" name="Text 10"/>
          <p:cNvSpPr/>
          <p:nvPr/>
        </p:nvSpPr>
        <p:spPr>
          <a:xfrm>
            <a:off x="1449481" y="3967619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AI Agent(s)</a:t>
            </a:r>
            <a:endParaRPr lang="en-US" sz="1500" dirty="0"/>
          </a:p>
        </p:txBody>
      </p:sp>
      <p:sp>
        <p:nvSpPr>
          <p:cNvPr id="28" name="Text 11"/>
          <p:cNvSpPr/>
          <p:nvPr/>
        </p:nvSpPr>
        <p:spPr>
          <a:xfrm>
            <a:off x="1449481" y="4351667"/>
            <a:ext cx="237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E4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Orchestration</a:t>
            </a:r>
            <a:endParaRPr lang="en-US" sz="1100" dirty="0"/>
          </a:p>
        </p:txBody>
      </p:sp>
      <p:sp>
        <p:nvSpPr>
          <p:cNvPr id="30" name="Text 13"/>
          <p:cNvSpPr/>
          <p:nvPr/>
        </p:nvSpPr>
        <p:spPr>
          <a:xfrm>
            <a:off x="2624150" y="473824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NETCONF / RESTCONF / Telemetry</a:t>
            </a:r>
            <a:endParaRPr lang="en-US" sz="950" dirty="0"/>
          </a:p>
        </p:txBody>
      </p:sp>
      <p:sp>
        <p:nvSpPr>
          <p:cNvPr id="31" name="Shape 14"/>
          <p:cNvSpPr/>
          <p:nvPr/>
        </p:nvSpPr>
        <p:spPr>
          <a:xfrm>
            <a:off x="535081" y="5256923"/>
            <a:ext cx="4360046" cy="914400"/>
          </a:xfrm>
          <a:prstGeom prst="roundRect">
            <a:avLst>
              <a:gd name="adj" fmla="val 9000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2" name="Shape 15"/>
          <p:cNvSpPr/>
          <p:nvPr/>
        </p:nvSpPr>
        <p:spPr>
          <a:xfrm>
            <a:off x="717961" y="5439803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35" y="5571477"/>
            <a:ext cx="285293" cy="285293"/>
          </a:xfrm>
          <a:prstGeom prst="rect">
            <a:avLst/>
          </a:prstGeom>
        </p:spPr>
      </p:pic>
      <p:sp>
        <p:nvSpPr>
          <p:cNvPr id="34" name="Text 16"/>
          <p:cNvSpPr/>
          <p:nvPr/>
        </p:nvSpPr>
        <p:spPr>
          <a:xfrm>
            <a:off x="1449481" y="5384939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Devices</a:t>
            </a:r>
            <a:endParaRPr lang="en-US" sz="1500" dirty="0"/>
          </a:p>
        </p:txBody>
      </p:sp>
      <p:sp>
        <p:nvSpPr>
          <p:cNvPr id="35" name="Text 17"/>
          <p:cNvSpPr/>
          <p:nvPr/>
        </p:nvSpPr>
        <p:spPr>
          <a:xfrm>
            <a:off x="1449481" y="5768987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changes, report results</a:t>
            </a:r>
            <a:endParaRPr lang="en-US" sz="1100" dirty="0"/>
          </a:p>
        </p:txBody>
      </p:sp>
      <p:sp>
        <p:nvSpPr>
          <p:cNvPr id="3" name="文本框 2"/>
          <p:cNvSpPr txBox="1"/>
          <p:nvPr/>
        </p:nvSpPr>
        <p:spPr>
          <a:xfrm>
            <a:off x="5159498" y="1899007"/>
            <a:ext cx="68934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If the pipeline is re-implemented with AI Agents at each/some layer…</a:t>
            </a:r>
          </a:p>
          <a:p>
            <a:endParaRPr lang="en-US" dirty="0" smtClean="0"/>
          </a:p>
          <a:p>
            <a:r>
              <a:rPr lang="en-US" dirty="0" smtClean="0"/>
              <a:t>What would change?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Interfaces between  layers are no longer YANG-driven management protocols – it now travels alongside natural language intent, agent context,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workflow is done by a probabilistic reasoning engine, “some intent twice” may no longer mean “same device YANG configuration twice”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cxnSp>
        <p:nvCxnSpPr>
          <p:cNvPr id="36" name="直接箭头连接符 35"/>
          <p:cNvCxnSpPr/>
          <p:nvPr/>
        </p:nvCxnSpPr>
        <p:spPr>
          <a:xfrm flipH="1">
            <a:off x="2346220" y="3328442"/>
            <a:ext cx="7949" cy="546834"/>
          </a:xfrm>
          <a:prstGeom prst="straightConnector1">
            <a:avLst/>
          </a:prstGeom>
          <a:ln w="76200"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H="1">
            <a:off x="2308316" y="4745762"/>
            <a:ext cx="7949" cy="546834"/>
          </a:xfrm>
          <a:prstGeom prst="straightConnector1">
            <a:avLst/>
          </a:prstGeom>
          <a:ln w="76200"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下箭头 9"/>
          <p:cNvSpPr/>
          <p:nvPr/>
        </p:nvSpPr>
        <p:spPr>
          <a:xfrm>
            <a:off x="2249550" y="1971852"/>
            <a:ext cx="209238" cy="451001"/>
          </a:xfrm>
          <a:prstGeom prst="downArrow">
            <a:avLst/>
          </a:prstGeom>
          <a:solidFill>
            <a:srgbClr val="5B6B7A"/>
          </a:solidFill>
          <a:ln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 13"/>
          <p:cNvSpPr/>
          <p:nvPr/>
        </p:nvSpPr>
        <p:spPr>
          <a:xfrm>
            <a:off x="2563407" y="188191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i="1" dirty="0" smtClean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Intent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918364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2181560" y="1464182"/>
            <a:ext cx="6705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Workflow Example 1: intent-driven service provisioning / optimization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Shape 5"/>
          <p:cNvSpPr/>
          <p:nvPr/>
        </p:nvSpPr>
        <p:spPr>
          <a:xfrm>
            <a:off x="669921" y="2112264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9" name="Text 6"/>
          <p:cNvSpPr/>
          <p:nvPr/>
        </p:nvSpPr>
        <p:spPr>
          <a:xfrm>
            <a:off x="669921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7"/>
          <p:cNvSpPr/>
          <p:nvPr/>
        </p:nvSpPr>
        <p:spPr>
          <a:xfrm>
            <a:off x="669921" y="2706624"/>
            <a:ext cx="19604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</a:t>
            </a:r>
            <a:r>
              <a:rPr lang="en-US" sz="1300" b="1" dirty="0" smtClean="0">
                <a:solidFill>
                  <a:srgbClr val="1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</a:t>
            </a:r>
            <a:endParaRPr lang="en-US" sz="1300" dirty="0"/>
          </a:p>
        </p:txBody>
      </p:sp>
      <p:sp>
        <p:nvSpPr>
          <p:cNvPr id="42" name="Shape 9"/>
          <p:cNvSpPr/>
          <p:nvPr/>
        </p:nvSpPr>
        <p:spPr>
          <a:xfrm>
            <a:off x="2961408" y="2331720"/>
            <a:ext cx="164592" cy="0"/>
          </a:xfrm>
          <a:prstGeom prst="line">
            <a:avLst/>
          </a:prstGeom>
          <a:noFill/>
          <a:ln w="19050">
            <a:solidFill>
              <a:srgbClr val="DADFE2"/>
            </a:solidFill>
            <a:prstDash val="solid"/>
          </a:ln>
        </p:spPr>
      </p:sp>
      <p:sp>
        <p:nvSpPr>
          <p:cNvPr id="43" name="Shape 10"/>
          <p:cNvSpPr/>
          <p:nvPr/>
        </p:nvSpPr>
        <p:spPr>
          <a:xfrm>
            <a:off x="3144288" y="21031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4" name="Text 11"/>
          <p:cNvSpPr/>
          <p:nvPr/>
        </p:nvSpPr>
        <p:spPr>
          <a:xfrm>
            <a:off x="314428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Text 12"/>
          <p:cNvSpPr/>
          <p:nvPr/>
        </p:nvSpPr>
        <p:spPr>
          <a:xfrm>
            <a:off x="3043704" y="2697480"/>
            <a:ext cx="19604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 </a:t>
            </a:r>
            <a:r>
              <a:rPr lang="en-US" sz="1300" b="1" dirty="0" smtClean="0">
                <a:solidFill>
                  <a:srgbClr val="1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</a:t>
            </a:r>
            <a:endParaRPr lang="en-US" sz="1300" dirty="0"/>
          </a:p>
        </p:txBody>
      </p:sp>
      <p:sp>
        <p:nvSpPr>
          <p:cNvPr id="46" name="Shape 14"/>
          <p:cNvSpPr/>
          <p:nvPr/>
        </p:nvSpPr>
        <p:spPr>
          <a:xfrm>
            <a:off x="5123049" y="2331720"/>
            <a:ext cx="164592" cy="0"/>
          </a:xfrm>
          <a:prstGeom prst="line">
            <a:avLst/>
          </a:prstGeom>
          <a:noFill/>
          <a:ln w="19050">
            <a:solidFill>
              <a:srgbClr val="DADFE2"/>
            </a:solidFill>
            <a:prstDash val="solid"/>
          </a:ln>
        </p:spPr>
      </p:sp>
      <p:sp>
        <p:nvSpPr>
          <p:cNvPr id="47" name="Shape 15"/>
          <p:cNvSpPr/>
          <p:nvPr/>
        </p:nvSpPr>
        <p:spPr>
          <a:xfrm>
            <a:off x="5305929" y="21031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8" name="Text 16"/>
          <p:cNvSpPr/>
          <p:nvPr/>
        </p:nvSpPr>
        <p:spPr>
          <a:xfrm>
            <a:off x="5305929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9" name="Text 17"/>
          <p:cNvSpPr/>
          <p:nvPr/>
        </p:nvSpPr>
        <p:spPr>
          <a:xfrm>
            <a:off x="5305929" y="2697480"/>
            <a:ext cx="19604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1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Communication</a:t>
            </a:r>
            <a:endParaRPr lang="en-US" sz="1300" dirty="0"/>
          </a:p>
        </p:txBody>
      </p:sp>
      <p:sp>
        <p:nvSpPr>
          <p:cNvPr id="50" name="Shape 19"/>
          <p:cNvSpPr/>
          <p:nvPr/>
        </p:nvSpPr>
        <p:spPr>
          <a:xfrm>
            <a:off x="7449863" y="2331720"/>
            <a:ext cx="164592" cy="0"/>
          </a:xfrm>
          <a:prstGeom prst="line">
            <a:avLst/>
          </a:prstGeom>
          <a:noFill/>
          <a:ln w="19050">
            <a:solidFill>
              <a:srgbClr val="DADFE2"/>
            </a:solidFill>
            <a:prstDash val="solid"/>
          </a:ln>
        </p:spPr>
      </p:sp>
      <p:sp>
        <p:nvSpPr>
          <p:cNvPr id="51" name="Shape 20"/>
          <p:cNvSpPr/>
          <p:nvPr/>
        </p:nvSpPr>
        <p:spPr>
          <a:xfrm>
            <a:off x="7632743" y="21031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2" name="Text 21"/>
          <p:cNvSpPr/>
          <p:nvPr/>
        </p:nvSpPr>
        <p:spPr>
          <a:xfrm>
            <a:off x="7632743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53" name="Text 22"/>
          <p:cNvSpPr/>
          <p:nvPr/>
        </p:nvSpPr>
        <p:spPr>
          <a:xfrm>
            <a:off x="7632743" y="2697480"/>
            <a:ext cx="19604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</a:t>
            </a:r>
            <a:r>
              <a:rPr lang="en-US" sz="1300" b="1" dirty="0" smtClean="0">
                <a:solidFill>
                  <a:srgbClr val="1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</a:t>
            </a:r>
            <a:endParaRPr lang="en-US" sz="1300" dirty="0"/>
          </a:p>
        </p:txBody>
      </p:sp>
      <p:sp>
        <p:nvSpPr>
          <p:cNvPr id="54" name="Shape 24"/>
          <p:cNvSpPr/>
          <p:nvPr/>
        </p:nvSpPr>
        <p:spPr>
          <a:xfrm>
            <a:off x="9711508" y="2340864"/>
            <a:ext cx="164592" cy="0"/>
          </a:xfrm>
          <a:prstGeom prst="line">
            <a:avLst/>
          </a:prstGeom>
          <a:noFill/>
          <a:ln w="19050">
            <a:solidFill>
              <a:srgbClr val="DADFE2"/>
            </a:solidFill>
            <a:prstDash val="solid"/>
          </a:ln>
        </p:spPr>
      </p:sp>
      <p:sp>
        <p:nvSpPr>
          <p:cNvPr id="55" name="Shape 25"/>
          <p:cNvSpPr/>
          <p:nvPr/>
        </p:nvSpPr>
        <p:spPr>
          <a:xfrm>
            <a:off x="9894388" y="2112264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6" name="Text 26"/>
          <p:cNvSpPr/>
          <p:nvPr/>
        </p:nvSpPr>
        <p:spPr>
          <a:xfrm>
            <a:off x="9894388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57" name="Text 27"/>
          <p:cNvSpPr/>
          <p:nvPr/>
        </p:nvSpPr>
        <p:spPr>
          <a:xfrm>
            <a:off x="9894388" y="2706624"/>
            <a:ext cx="19604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execution</a:t>
            </a:r>
            <a:endParaRPr lang="en-US" sz="1300" dirty="0"/>
          </a:p>
        </p:txBody>
      </p:sp>
      <p:sp>
        <p:nvSpPr>
          <p:cNvPr id="5" name="矩形 4"/>
          <p:cNvSpPr/>
          <p:nvPr/>
        </p:nvSpPr>
        <p:spPr>
          <a:xfrm>
            <a:off x="441931" y="3637599"/>
            <a:ext cx="21001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/>
              <a:t>T</a:t>
            </a:r>
            <a:r>
              <a:rPr lang="en-US" altLang="zh-CN" sz="1200" dirty="0" smtClean="0"/>
              <a:t>he </a:t>
            </a:r>
            <a:r>
              <a:rPr lang="en-US" altLang="zh-CN" sz="1200" dirty="0"/>
              <a:t>network operator submits natural language </a:t>
            </a:r>
            <a:r>
              <a:rPr lang="en-US" altLang="zh-CN" sz="1200" dirty="0" smtClean="0"/>
              <a:t>service request</a:t>
            </a:r>
            <a:endParaRPr lang="en-US" altLang="zh-CN" sz="1200" dirty="0"/>
          </a:p>
        </p:txBody>
      </p:sp>
      <p:sp>
        <p:nvSpPr>
          <p:cNvPr id="60" name="矩形 59"/>
          <p:cNvSpPr/>
          <p:nvPr/>
        </p:nvSpPr>
        <p:spPr>
          <a:xfrm>
            <a:off x="2727322" y="3637599"/>
            <a:ext cx="216471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/>
              <a:t>parses </a:t>
            </a:r>
            <a:r>
              <a:rPr lang="en-US" altLang="zh-CN" sz="1200" dirty="0" smtClean="0"/>
              <a:t>intents into a </a:t>
            </a:r>
            <a:r>
              <a:rPr lang="en-US" altLang="zh-CN" sz="1200" dirty="0"/>
              <a:t>service model representation, </a:t>
            </a:r>
            <a:r>
              <a:rPr lang="en-US" altLang="zh-CN" sz="1200" dirty="0" smtClean="0"/>
              <a:t>confirms with the user, decomposes </a:t>
            </a:r>
            <a:r>
              <a:rPr lang="en-US" altLang="zh-CN" sz="1200" dirty="0"/>
              <a:t>into structured network </a:t>
            </a:r>
            <a:r>
              <a:rPr lang="en-US" altLang="zh-CN" sz="1200" dirty="0" smtClean="0"/>
              <a:t>model based parameters </a:t>
            </a:r>
            <a:endParaRPr lang="en-US" altLang="zh-CN" sz="1200" dirty="0"/>
          </a:p>
        </p:txBody>
      </p:sp>
      <p:sp>
        <p:nvSpPr>
          <p:cNvPr id="61" name="矩形 60"/>
          <p:cNvSpPr/>
          <p:nvPr/>
        </p:nvSpPr>
        <p:spPr>
          <a:xfrm>
            <a:off x="5305929" y="3637598"/>
            <a:ext cx="19787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 smtClean="0"/>
              <a:t>YANG-structured data + context metadata sent to network AI agent over Agent-to-Agent communication protocol</a:t>
            </a:r>
            <a:endParaRPr lang="en-US" altLang="zh-CN" sz="1200" dirty="0"/>
          </a:p>
        </p:txBody>
      </p:sp>
      <p:sp>
        <p:nvSpPr>
          <p:cNvPr id="62" name="矩形 61"/>
          <p:cNvSpPr/>
          <p:nvPr/>
        </p:nvSpPr>
        <p:spPr>
          <a:xfrm>
            <a:off x="7290758" y="3637598"/>
            <a:ext cx="19787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/>
              <a:t>Converted to device model </a:t>
            </a:r>
            <a:r>
              <a:rPr lang="en-US" altLang="zh-CN" sz="1200" dirty="0" smtClean="0"/>
              <a:t>based configuration </a:t>
            </a:r>
            <a:r>
              <a:rPr lang="en-US" altLang="zh-CN" sz="1200" dirty="0"/>
              <a:t>and delivered to network devices via protocols like NETCONF/RESTCONF</a:t>
            </a:r>
          </a:p>
        </p:txBody>
      </p:sp>
      <p:sp>
        <p:nvSpPr>
          <p:cNvPr id="63" name="矩形 62"/>
          <p:cNvSpPr/>
          <p:nvPr/>
        </p:nvSpPr>
        <p:spPr>
          <a:xfrm>
            <a:off x="9711508" y="3637597"/>
            <a:ext cx="197876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 smtClean="0"/>
              <a:t>Devices apply the configuration change and report execution results back up the chain 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499320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2994660" y="1338071"/>
            <a:ext cx="4582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Workflow Example 2: Network Troubleshooting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" name="Shape 5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1" name="Text 6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2" name="Text 7"/>
          <p:cNvSpPr/>
          <p:nvPr/>
        </p:nvSpPr>
        <p:spPr>
          <a:xfrm>
            <a:off x="548640" y="2697480"/>
            <a:ext cx="24460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 smtClean="0">
                <a:solidFill>
                  <a:srgbClr val="1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</a:t>
            </a:r>
            <a:r>
              <a:rPr lang="en-US" sz="1350" b="1" dirty="0">
                <a:solidFill>
                  <a:srgbClr val="1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</a:t>
            </a:r>
            <a:endParaRPr lang="en-US" sz="1350" dirty="0"/>
          </a:p>
        </p:txBody>
      </p:sp>
      <p:sp>
        <p:nvSpPr>
          <p:cNvPr id="43" name="Text 8"/>
          <p:cNvSpPr/>
          <p:nvPr/>
        </p:nvSpPr>
        <p:spPr>
          <a:xfrm>
            <a:off x="548640" y="3291840"/>
            <a:ext cx="24460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Operator asks the agent to continuously monitor, diagnose, and autonomously repair issues.</a:t>
            </a:r>
            <a:endParaRPr lang="en-US" sz="1150" dirty="0"/>
          </a:p>
        </p:txBody>
      </p:sp>
      <p:sp>
        <p:nvSpPr>
          <p:cNvPr id="53" name="Shape 9"/>
          <p:cNvSpPr/>
          <p:nvPr/>
        </p:nvSpPr>
        <p:spPr>
          <a:xfrm flipV="1">
            <a:off x="2798064" y="2331720"/>
            <a:ext cx="434340" cy="0"/>
          </a:xfrm>
          <a:prstGeom prst="line">
            <a:avLst/>
          </a:prstGeom>
          <a:noFill/>
          <a:ln w="19050">
            <a:solidFill>
              <a:srgbClr val="DADFE2"/>
            </a:solidFill>
            <a:prstDash val="solid"/>
          </a:ln>
        </p:spPr>
      </p:sp>
      <p:sp>
        <p:nvSpPr>
          <p:cNvPr id="54" name="Shape 10"/>
          <p:cNvSpPr/>
          <p:nvPr/>
        </p:nvSpPr>
        <p:spPr>
          <a:xfrm>
            <a:off x="3268980" y="21031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5" name="Text 11"/>
          <p:cNvSpPr/>
          <p:nvPr/>
        </p:nvSpPr>
        <p:spPr>
          <a:xfrm>
            <a:off x="32689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56" name="Text 12"/>
          <p:cNvSpPr/>
          <p:nvPr/>
        </p:nvSpPr>
        <p:spPr>
          <a:xfrm>
            <a:off x="3268980" y="2697480"/>
            <a:ext cx="24460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 smtClean="0">
                <a:solidFill>
                  <a:srgbClr val="1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operational state </a:t>
            </a:r>
            <a:r>
              <a:rPr lang="en-US" sz="1350" b="1" dirty="0">
                <a:solidFill>
                  <a:srgbClr val="1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awareness</a:t>
            </a:r>
            <a:endParaRPr lang="en-US" sz="1350" dirty="0"/>
          </a:p>
        </p:txBody>
      </p:sp>
      <p:sp>
        <p:nvSpPr>
          <p:cNvPr id="57" name="Text 13"/>
          <p:cNvSpPr/>
          <p:nvPr/>
        </p:nvSpPr>
        <p:spPr>
          <a:xfrm>
            <a:off x="3268980" y="3703320"/>
            <a:ext cx="24460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8000"/>
              </a:lnSpc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Agent grasps a holistic view of the network operational </a:t>
            </a:r>
            <a:r>
              <a:rPr lang="en-US" sz="115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</a:p>
        </p:txBody>
      </p:sp>
      <p:sp>
        <p:nvSpPr>
          <p:cNvPr id="58" name="Shape 14"/>
          <p:cNvSpPr/>
          <p:nvPr/>
        </p:nvSpPr>
        <p:spPr>
          <a:xfrm>
            <a:off x="5751576" y="2331720"/>
            <a:ext cx="201168" cy="0"/>
          </a:xfrm>
          <a:prstGeom prst="line">
            <a:avLst/>
          </a:prstGeom>
          <a:noFill/>
          <a:ln w="19050">
            <a:solidFill>
              <a:srgbClr val="DADFE2"/>
            </a:solidFill>
            <a:prstDash val="solid"/>
          </a:ln>
        </p:spPr>
      </p:sp>
      <p:sp>
        <p:nvSpPr>
          <p:cNvPr id="59" name="Shape 15"/>
          <p:cNvSpPr/>
          <p:nvPr/>
        </p:nvSpPr>
        <p:spPr>
          <a:xfrm>
            <a:off x="5989320" y="21031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0" name="Text 16"/>
          <p:cNvSpPr/>
          <p:nvPr/>
        </p:nvSpPr>
        <p:spPr>
          <a:xfrm>
            <a:off x="59893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61" name="Text 17"/>
          <p:cNvSpPr/>
          <p:nvPr/>
        </p:nvSpPr>
        <p:spPr>
          <a:xfrm>
            <a:off x="5989320" y="2697480"/>
            <a:ext cx="24460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&amp; </a:t>
            </a:r>
            <a:r>
              <a:rPr lang="en-US" sz="1350" b="1" dirty="0" smtClean="0">
                <a:solidFill>
                  <a:srgbClr val="1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350" dirty="0"/>
          </a:p>
        </p:txBody>
      </p:sp>
      <p:sp>
        <p:nvSpPr>
          <p:cNvPr id="62" name="Text 18"/>
          <p:cNvSpPr/>
          <p:nvPr/>
        </p:nvSpPr>
        <p:spPr>
          <a:xfrm>
            <a:off x="5952744" y="3291840"/>
            <a:ext cx="24460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Once a fault is identified, the agent determines root cause and generates a targeted </a:t>
            </a:r>
            <a:r>
              <a:rPr lang="en-US" sz="115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repair plan.</a:t>
            </a:r>
            <a:endParaRPr lang="en-US" sz="1150" dirty="0"/>
          </a:p>
        </p:txBody>
      </p:sp>
      <p:sp>
        <p:nvSpPr>
          <p:cNvPr id="63" name="Shape 19"/>
          <p:cNvSpPr/>
          <p:nvPr/>
        </p:nvSpPr>
        <p:spPr>
          <a:xfrm>
            <a:off x="8924544" y="1700784"/>
            <a:ext cx="0" cy="292608"/>
          </a:xfrm>
          <a:prstGeom prst="line">
            <a:avLst/>
          </a:prstGeom>
          <a:noFill/>
          <a:ln w="19050">
            <a:solidFill>
              <a:srgbClr val="DADFE2"/>
            </a:solidFill>
            <a:prstDash val="solid"/>
          </a:ln>
        </p:spPr>
      </p:sp>
      <p:sp>
        <p:nvSpPr>
          <p:cNvPr id="64" name="Shape 20"/>
          <p:cNvSpPr/>
          <p:nvPr/>
        </p:nvSpPr>
        <p:spPr>
          <a:xfrm>
            <a:off x="8709660" y="21031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5" name="Text 21"/>
          <p:cNvSpPr/>
          <p:nvPr/>
        </p:nvSpPr>
        <p:spPr>
          <a:xfrm>
            <a:off x="87096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66" name="Text 22"/>
          <p:cNvSpPr/>
          <p:nvPr/>
        </p:nvSpPr>
        <p:spPr>
          <a:xfrm>
            <a:off x="8709660" y="2697480"/>
            <a:ext cx="24460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 &amp; </a:t>
            </a:r>
            <a:r>
              <a:rPr lang="en-US" sz="1350" b="1" dirty="0" smtClean="0">
                <a:solidFill>
                  <a:srgbClr val="1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350" dirty="0"/>
          </a:p>
        </p:txBody>
      </p:sp>
      <p:sp>
        <p:nvSpPr>
          <p:cNvPr id="67" name="Text 23"/>
          <p:cNvSpPr/>
          <p:nvPr/>
        </p:nvSpPr>
        <p:spPr>
          <a:xfrm>
            <a:off x="8673084" y="3849624"/>
            <a:ext cx="24460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Digital-twin simulation validates the fix, then the agent delivers YANG configuration changes to </a:t>
            </a:r>
            <a:r>
              <a:rPr lang="en-US" sz="115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network devices</a:t>
            </a: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68" name="Shape 19"/>
          <p:cNvSpPr/>
          <p:nvPr/>
        </p:nvSpPr>
        <p:spPr>
          <a:xfrm flipH="1">
            <a:off x="3031236" y="1700784"/>
            <a:ext cx="5893308" cy="0"/>
          </a:xfrm>
          <a:prstGeom prst="line">
            <a:avLst/>
          </a:prstGeom>
          <a:noFill/>
          <a:ln w="19050">
            <a:solidFill>
              <a:srgbClr val="DADFE2"/>
            </a:solidFill>
            <a:prstDash val="solid"/>
          </a:ln>
        </p:spPr>
      </p:sp>
      <p:sp>
        <p:nvSpPr>
          <p:cNvPr id="69" name="Shape 9"/>
          <p:cNvSpPr/>
          <p:nvPr/>
        </p:nvSpPr>
        <p:spPr>
          <a:xfrm flipV="1">
            <a:off x="3031236" y="1714020"/>
            <a:ext cx="4572" cy="630936"/>
          </a:xfrm>
          <a:prstGeom prst="line">
            <a:avLst/>
          </a:prstGeom>
          <a:noFill/>
          <a:ln w="19050">
            <a:solidFill>
              <a:srgbClr val="DADFE2"/>
            </a:solidFill>
            <a:prstDash val="solid"/>
          </a:ln>
        </p:spPr>
      </p:sp>
      <p:sp>
        <p:nvSpPr>
          <p:cNvPr id="70" name="Shape 14"/>
          <p:cNvSpPr/>
          <p:nvPr/>
        </p:nvSpPr>
        <p:spPr>
          <a:xfrm>
            <a:off x="8471916" y="2331720"/>
            <a:ext cx="201168" cy="0"/>
          </a:xfrm>
          <a:prstGeom prst="line">
            <a:avLst/>
          </a:prstGeom>
          <a:noFill/>
          <a:ln w="19050">
            <a:solidFill>
              <a:srgbClr val="DADFE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923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Core Challenges Analysis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181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225308"/>
            <a:ext cx="8979408" cy="24969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6483" y="0"/>
            <a:ext cx="11075894" cy="1325563"/>
          </a:xfrm>
        </p:spPr>
        <p:txBody>
          <a:bodyPr/>
          <a:lstStyle/>
          <a:p>
            <a:r>
              <a:rPr lang="en-US" dirty="0" smtClean="0"/>
              <a:t>Gap Analysis 1: The Semantic Divide</a:t>
            </a:r>
            <a:endParaRPr 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849635" y="4023218"/>
            <a:ext cx="1003653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Natural Language: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Pros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Empowers human operators to express richer intent, e.g., expectations, constraints, preferences, retry strategies, and fallback rules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Communication protocols like A2A natively support unstructured plain text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Cons: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Could be ambiguous, and lacks the precision needed for network operations </a:t>
            </a:r>
            <a:endParaRPr lang="en-US" sz="1200" dirty="0"/>
          </a:p>
          <a:p>
            <a:endParaRPr lang="en-US" sz="1200" dirty="0" smtClean="0"/>
          </a:p>
          <a:p>
            <a:r>
              <a:rPr lang="en-US" sz="1200" dirty="0" smtClean="0"/>
              <a:t>Structured YANG: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Pros: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ensure deterministic, high-efficiency execution with highly structured and validated schema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Cons: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Completely inflexible and has expressiveness limits </a:t>
            </a:r>
          </a:p>
          <a:p>
            <a:endParaRPr lang="en-US" sz="1200" dirty="0" smtClean="0"/>
          </a:p>
          <a:p>
            <a:r>
              <a:rPr lang="en-US" sz="1200" dirty="0" smtClean="0"/>
              <a:t>The core challenge is translating high-level natural language negotiations into precise YANG representations without losing context.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798036" y="2473495"/>
            <a:ext cx="266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C00000"/>
                </a:solidFill>
              </a:rPr>
              <a:t>Orchestrator Agents must prune and simplify intent to fit YANG data model </a:t>
            </a:r>
            <a:endParaRPr lang="en-US" sz="1200" b="1" dirty="0">
              <a:solidFill>
                <a:srgbClr val="C00000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3008376" y="1755648"/>
            <a:ext cx="1901924" cy="717847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059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标题 1"/>
          <p:cNvSpPr txBox="1">
            <a:spLocks/>
          </p:cNvSpPr>
          <p:nvPr/>
        </p:nvSpPr>
        <p:spPr>
          <a:xfrm>
            <a:off x="355390" y="57035"/>
            <a:ext cx="11603528" cy="9396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smtClean="0"/>
              <a:t>Gap Analysis 2: Token Efficiency and Encoding Overhead </a:t>
            </a:r>
            <a:endParaRPr lang="en-US" sz="4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93" y="893453"/>
            <a:ext cx="9604054" cy="113139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771" y="2240280"/>
            <a:ext cx="8488486" cy="1145177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3584448" y="2671136"/>
            <a:ext cx="2075688" cy="697121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椭圆 75"/>
          <p:cNvSpPr/>
          <p:nvPr/>
        </p:nvSpPr>
        <p:spPr>
          <a:xfrm>
            <a:off x="2842163" y="1310531"/>
            <a:ext cx="5358384" cy="722921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文本框 76"/>
          <p:cNvSpPr txBox="1"/>
          <p:nvPr/>
        </p:nvSpPr>
        <p:spPr>
          <a:xfrm>
            <a:off x="127697" y="3674336"/>
            <a:ext cx="58890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Key Concepts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LLMs don’t read text as humans do – they process tokens. Tokens are the basic units of text that LLMs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Each model has a maximum number of tokens it can handle (context window)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Both input (prompt + context) and output (responses) consumes tokens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LLM tokens cost money </a:t>
            </a:r>
            <a:endParaRPr lang="en-US" dirty="0"/>
          </a:p>
        </p:txBody>
      </p:sp>
      <p:sp>
        <p:nvSpPr>
          <p:cNvPr id="78" name="文本框 77"/>
          <p:cNvSpPr txBox="1"/>
          <p:nvPr/>
        </p:nvSpPr>
        <p:spPr>
          <a:xfrm>
            <a:off x="2651955" y="1994043"/>
            <a:ext cx="6306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C00000"/>
                </a:solidFill>
              </a:rPr>
              <a:t>Injecting verbose encoding into the LLM context window adds attention noise, latency, and cost without semantic payoff. </a:t>
            </a:r>
            <a:endParaRPr lang="en-US" sz="1200" b="1" dirty="0">
              <a:solidFill>
                <a:srgbClr val="C00000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429909" y="3995693"/>
            <a:ext cx="54024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Structured formats (JSON/XML) often cost more tokens due to repeated field names/markup.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Highly compressed formats like CBOR solve bandwidth issues but are incompatible with LLMs (LLMs cannot consume raw binary payloads directly)</a:t>
            </a:r>
          </a:p>
        </p:txBody>
      </p:sp>
    </p:spTree>
    <p:extLst>
      <p:ext uri="{BB962C8B-B14F-4D97-AF65-F5344CB8AC3E}">
        <p14:creationId xmlns:p14="http://schemas.microsoft.com/office/powerpoint/2010/main" val="4088857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>
            <a:spLocks/>
          </p:cNvSpPr>
          <p:nvPr/>
        </p:nvSpPr>
        <p:spPr>
          <a:xfrm>
            <a:off x="446224" y="65811"/>
            <a:ext cx="1107589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Gap Analysis 3: Non-determinism Task </a:t>
            </a:r>
            <a:r>
              <a:rPr lang="en-US" dirty="0"/>
              <a:t>H</a:t>
            </a:r>
            <a:r>
              <a:rPr lang="en-US" altLang="zh-CN" dirty="0" smtClean="0"/>
              <a:t>andling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61583" y="4182995"/>
            <a:ext cx="54619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Root-causes of Agent non-determinism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At the core, LLM runs on next-token prediction probabilities, which inherently introduces randomness.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Context drift: even minor shifts in historical context can alter outcomes for identical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Ambiguous natural language instructions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33" y="1044732"/>
            <a:ext cx="9604054" cy="113139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211" y="2391559"/>
            <a:ext cx="8488486" cy="1145177"/>
          </a:xfrm>
          <a:prstGeom prst="rect">
            <a:avLst/>
          </a:prstGeom>
        </p:spPr>
      </p:pic>
      <p:sp>
        <p:nvSpPr>
          <p:cNvPr id="12" name="椭圆 11"/>
          <p:cNvSpPr/>
          <p:nvPr/>
        </p:nvSpPr>
        <p:spPr>
          <a:xfrm>
            <a:off x="2816352" y="1522828"/>
            <a:ext cx="2075688" cy="697121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椭圆 12"/>
          <p:cNvSpPr/>
          <p:nvPr/>
        </p:nvSpPr>
        <p:spPr>
          <a:xfrm>
            <a:off x="6620969" y="1479010"/>
            <a:ext cx="2075688" cy="697121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椭圆 13"/>
          <p:cNvSpPr/>
          <p:nvPr/>
        </p:nvSpPr>
        <p:spPr>
          <a:xfrm>
            <a:off x="5588125" y="2753956"/>
            <a:ext cx="4141376" cy="697121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本框 7"/>
          <p:cNvSpPr txBox="1"/>
          <p:nvPr/>
        </p:nvSpPr>
        <p:spPr>
          <a:xfrm>
            <a:off x="1604083" y="2148686"/>
            <a:ext cx="8584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The same high-level intent can produce different YANG instance data across invocations; the same observed network state can yield multiple, distinct diagnostic trajectories and conclusions.</a:t>
            </a:r>
          </a:p>
        </p:txBody>
      </p:sp>
      <p:sp>
        <p:nvSpPr>
          <p:cNvPr id="2" name="矩形 1"/>
          <p:cNvSpPr/>
          <p:nvPr/>
        </p:nvSpPr>
        <p:spPr>
          <a:xfrm>
            <a:off x="6224016" y="4321494"/>
            <a:ext cx="569061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Key </a:t>
            </a:r>
            <a:r>
              <a:rPr lang="en-US" dirty="0"/>
              <a:t>impacts of non-determinism on network operations</a:t>
            </a:r>
          </a:p>
          <a:p>
            <a:r>
              <a:rPr lang="en-US" dirty="0"/>
              <a:t>Undermined reliability</a:t>
            </a:r>
          </a:p>
          <a:p>
            <a:r>
              <a:rPr lang="en-US" dirty="0"/>
              <a:t>Reduced consistency</a:t>
            </a:r>
          </a:p>
          <a:p>
            <a:r>
              <a:rPr lang="en-US" dirty="0"/>
              <a:t>Increased operational complexity</a:t>
            </a:r>
          </a:p>
          <a:p>
            <a:r>
              <a:rPr lang="en-US" dirty="0"/>
              <a:t>Potential for harm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708726" y="6214320"/>
            <a:ext cx="73605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AI Agents introduces probability that challenge the deterministic foundations of model-driven networking. 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001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Potential Ways Forward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69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1691640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 smtClean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Ways Forward 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92240" y="1691640"/>
            <a:ext cx="167335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92240" y="1719072"/>
            <a:ext cx="167335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05000"/>
              </a:lnSpc>
            </a:pPr>
            <a:r>
              <a:rPr lang="en-US" sz="1200" b="1" dirty="0">
                <a:solidFill>
                  <a:srgbClr val="C1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</a:t>
            </a:r>
            <a:r>
              <a:rPr lang="en-US" sz="1200" b="1" dirty="0" smtClean="0">
                <a:solidFill>
                  <a:srgbClr val="C1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  <a:p>
            <a:pPr algn="ctr">
              <a:lnSpc>
                <a:spcPct val="105000"/>
              </a:lnSpc>
            </a:pPr>
            <a:r>
              <a:rPr lang="en-US" sz="1200" b="1" dirty="0" smtClean="0">
                <a:solidFill>
                  <a:srgbClr val="C1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</a:t>
            </a:r>
            <a:r>
              <a:rPr lang="en-US" sz="1200" b="1" dirty="0">
                <a:solidFill>
                  <a:srgbClr val="C1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</a:p>
        </p:txBody>
      </p:sp>
      <p:sp>
        <p:nvSpPr>
          <p:cNvPr id="7" name="Shape 5"/>
          <p:cNvSpPr/>
          <p:nvPr/>
        </p:nvSpPr>
        <p:spPr>
          <a:xfrm>
            <a:off x="8275320" y="1691640"/>
            <a:ext cx="167335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719072"/>
            <a:ext cx="167335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</a:t>
            </a:r>
            <a:r>
              <a:rPr lang="en-US" sz="1200" b="1" dirty="0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0" y="1691640"/>
            <a:ext cx="167335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0" y="1719072"/>
            <a:ext cx="167335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</a:t>
            </a:r>
            <a:endParaRPr lang="en-US" sz="1200" dirty="0"/>
          </a:p>
          <a:p>
            <a:pPr algn="ctr">
              <a:lnSpc>
                <a:spcPct val="105000"/>
              </a:lnSpc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359152"/>
            <a:ext cx="5989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8952" y="248716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AI-</a:t>
            </a:r>
            <a:r>
              <a:rPr lang="en-US" sz="16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Invocable</a:t>
            </a: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Tools</a:t>
            </a:r>
          </a:p>
        </p:txBody>
      </p:sp>
      <p:sp>
        <p:nvSpPr>
          <p:cNvPr id="13" name="Text 11"/>
          <p:cNvSpPr/>
          <p:nvPr/>
        </p:nvSpPr>
        <p:spPr>
          <a:xfrm>
            <a:off x="758952" y="2798064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74052" y="2784348"/>
            <a:ext cx="109728" cy="109728"/>
          </a:xfrm>
          <a:prstGeom prst="ellipse">
            <a:avLst/>
          </a:prstGeom>
          <a:solidFill>
            <a:srgbClr val="DCE3EA"/>
          </a:solidFill>
          <a:ln/>
        </p:spPr>
      </p:sp>
      <p:sp>
        <p:nvSpPr>
          <p:cNvPr id="17" name="Shape 15"/>
          <p:cNvSpPr/>
          <p:nvPr/>
        </p:nvSpPr>
        <p:spPr>
          <a:xfrm>
            <a:off x="9057132" y="2784348"/>
            <a:ext cx="109728" cy="109728"/>
          </a:xfrm>
          <a:prstGeom prst="ellipse">
            <a:avLst/>
          </a:prstGeom>
          <a:solidFill>
            <a:srgbClr val="DCE3E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675620" y="261975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10675620" y="26014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3447288"/>
            <a:ext cx="5989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" y="3886200"/>
            <a:ext cx="540858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Semantic Enhancement via Knowledge Graphs &amp; Semantic Metadata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8952" y="3886200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09460" y="3707892"/>
            <a:ext cx="438912" cy="438912"/>
          </a:xfrm>
          <a:prstGeom prst="ellipse">
            <a:avLst/>
          </a:prstGeom>
          <a:solidFill>
            <a:srgbClr val="C1554D"/>
          </a:solidFill>
          <a:ln/>
        </p:spPr>
      </p:sp>
      <p:sp>
        <p:nvSpPr>
          <p:cNvPr id="26" name="Text 24"/>
          <p:cNvSpPr/>
          <p:nvPr/>
        </p:nvSpPr>
        <p:spPr>
          <a:xfrm>
            <a:off x="7109460" y="36896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057132" y="3872484"/>
            <a:ext cx="109728" cy="109728"/>
          </a:xfrm>
          <a:prstGeom prst="ellipse">
            <a:avLst/>
          </a:prstGeom>
          <a:solidFill>
            <a:srgbClr val="DCE3E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840212" y="3872484"/>
            <a:ext cx="109728" cy="109728"/>
          </a:xfrm>
          <a:prstGeom prst="ellipse">
            <a:avLst/>
          </a:prstGeom>
          <a:solidFill>
            <a:srgbClr val="DCE3EA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" y="4535424"/>
            <a:ext cx="5989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8952" y="46634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Declarative Intent/Policy Overlay</a:t>
            </a:r>
          </a:p>
        </p:txBody>
      </p:sp>
      <p:sp>
        <p:nvSpPr>
          <p:cNvPr id="31" name="Text 29"/>
          <p:cNvSpPr/>
          <p:nvPr/>
        </p:nvSpPr>
        <p:spPr>
          <a:xfrm>
            <a:off x="758952" y="4974336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109460" y="4796028"/>
            <a:ext cx="438912" cy="438912"/>
          </a:xfrm>
          <a:prstGeom prst="ellipse">
            <a:avLst/>
          </a:prstGeom>
          <a:solidFill>
            <a:srgbClr val="C1554D"/>
          </a:solidFill>
          <a:ln/>
        </p:spPr>
      </p:sp>
      <p:sp>
        <p:nvSpPr>
          <p:cNvPr id="35" name="Text 33"/>
          <p:cNvSpPr/>
          <p:nvPr/>
        </p:nvSpPr>
        <p:spPr>
          <a:xfrm>
            <a:off x="7109460" y="47777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057132" y="4960620"/>
            <a:ext cx="109728" cy="109728"/>
          </a:xfrm>
          <a:prstGeom prst="ellipse">
            <a:avLst/>
          </a:prstGeom>
          <a:solidFill>
            <a:srgbClr val="DCE3EA"/>
          </a:solidFill>
          <a:ln/>
        </p:spPr>
      </p:sp>
      <p:sp>
        <p:nvSpPr>
          <p:cNvPr id="37" name="Shape 35"/>
          <p:cNvSpPr/>
          <p:nvPr/>
        </p:nvSpPr>
        <p:spPr>
          <a:xfrm>
            <a:off x="10840212" y="4960620"/>
            <a:ext cx="109728" cy="109728"/>
          </a:xfrm>
          <a:prstGeom prst="ellipse">
            <a:avLst/>
          </a:prstGeom>
          <a:solidFill>
            <a:srgbClr val="DCE3EA"/>
          </a:solidFill>
          <a:ln/>
        </p:spPr>
      </p:sp>
      <p:sp>
        <p:nvSpPr>
          <p:cNvPr id="38" name="Shape 36"/>
          <p:cNvSpPr/>
          <p:nvPr/>
        </p:nvSpPr>
        <p:spPr>
          <a:xfrm>
            <a:off x="502920" y="5623560"/>
            <a:ext cx="5989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58952" y="575157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Token-Efficient YANG Serialization</a:t>
            </a:r>
          </a:p>
        </p:txBody>
      </p:sp>
      <p:sp>
        <p:nvSpPr>
          <p:cNvPr id="40" name="Text 38"/>
          <p:cNvSpPr/>
          <p:nvPr/>
        </p:nvSpPr>
        <p:spPr>
          <a:xfrm>
            <a:off x="758952" y="6062472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74052" y="6048756"/>
            <a:ext cx="109728" cy="109728"/>
          </a:xfrm>
          <a:prstGeom prst="ellipse">
            <a:avLst/>
          </a:prstGeom>
          <a:solidFill>
            <a:srgbClr val="DCE3EA"/>
          </a:solidFill>
          <a:ln/>
        </p:spPr>
      </p:sp>
      <p:sp>
        <p:nvSpPr>
          <p:cNvPr id="44" name="Shape 42"/>
          <p:cNvSpPr/>
          <p:nvPr/>
        </p:nvSpPr>
        <p:spPr>
          <a:xfrm>
            <a:off x="8892540" y="5884164"/>
            <a:ext cx="438912" cy="43891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5" name="Text 43"/>
          <p:cNvSpPr/>
          <p:nvPr/>
        </p:nvSpPr>
        <p:spPr>
          <a:xfrm>
            <a:off x="8892540" y="58658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840212" y="6048756"/>
            <a:ext cx="109728" cy="109728"/>
          </a:xfrm>
          <a:prstGeom prst="ellipse">
            <a:avLst/>
          </a:prstGeom>
          <a:solidFill>
            <a:srgbClr val="DCE3EA"/>
          </a:solidFill>
          <a:ln/>
        </p:spPr>
      </p:sp>
      <p:sp>
        <p:nvSpPr>
          <p:cNvPr id="47" name="标题 1"/>
          <p:cNvSpPr>
            <a:spLocks noGrp="1"/>
          </p:cNvSpPr>
          <p:nvPr>
            <p:ph type="title"/>
          </p:nvPr>
        </p:nvSpPr>
        <p:spPr>
          <a:xfrm>
            <a:off x="871351" y="24169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Mapping Between the Four Paths and the Gaps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72476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51" y="241695"/>
            <a:ext cx="10515600" cy="1325563"/>
          </a:xfrm>
        </p:spPr>
        <p:txBody>
          <a:bodyPr/>
          <a:lstStyle/>
          <a:p>
            <a:r>
              <a:rPr lang="en-US" dirty="0" smtClean="0"/>
              <a:t>YANG-driven Operations as AI-Invocable Tools</a:t>
            </a:r>
            <a:endParaRPr lang="en-US" dirty="0"/>
          </a:p>
        </p:txBody>
      </p:sp>
      <p:sp>
        <p:nvSpPr>
          <p:cNvPr id="5" name="圆角矩形 4"/>
          <p:cNvSpPr/>
          <p:nvPr/>
        </p:nvSpPr>
        <p:spPr>
          <a:xfrm>
            <a:off x="1664687" y="2254408"/>
            <a:ext cx="1479177" cy="66545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文本框 5"/>
          <p:cNvSpPr txBox="1"/>
          <p:nvPr/>
        </p:nvSpPr>
        <p:spPr>
          <a:xfrm>
            <a:off x="1681735" y="2439840"/>
            <a:ext cx="736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Agent</a:t>
            </a:r>
            <a:endParaRPr lang="en-US" dirty="0"/>
          </a:p>
        </p:txBody>
      </p:sp>
      <p:sp>
        <p:nvSpPr>
          <p:cNvPr id="7" name="圆角矩形 6"/>
          <p:cNvSpPr/>
          <p:nvPr/>
        </p:nvSpPr>
        <p:spPr>
          <a:xfrm>
            <a:off x="2444865" y="2341121"/>
            <a:ext cx="708212" cy="450905"/>
          </a:xfrm>
          <a:prstGeom prst="roundRect">
            <a:avLst/>
          </a:prstGeom>
          <a:solidFill>
            <a:schemeClr val="accent2"/>
          </a:solidFill>
          <a:ln/>
        </p:spPr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8" name="文本框 7"/>
          <p:cNvSpPr txBox="1"/>
          <p:nvPr/>
        </p:nvSpPr>
        <p:spPr>
          <a:xfrm>
            <a:off x="2418252" y="2277158"/>
            <a:ext cx="708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MCP Client</a:t>
            </a:r>
            <a:endParaRPr lang="en-US" sz="1600" dirty="0"/>
          </a:p>
        </p:txBody>
      </p:sp>
      <p:sp>
        <p:nvSpPr>
          <p:cNvPr id="9" name="圆角矩形 8"/>
          <p:cNvSpPr/>
          <p:nvPr/>
        </p:nvSpPr>
        <p:spPr>
          <a:xfrm>
            <a:off x="3905136" y="1664218"/>
            <a:ext cx="1586754" cy="1770875"/>
          </a:xfrm>
          <a:prstGeom prst="roundRect">
            <a:avLst/>
          </a:prstGeom>
          <a:solidFill>
            <a:schemeClr val="accent2"/>
          </a:solidFill>
          <a:ln/>
        </p:spPr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0" name="文本框 9"/>
          <p:cNvSpPr txBox="1"/>
          <p:nvPr/>
        </p:nvSpPr>
        <p:spPr>
          <a:xfrm>
            <a:off x="4057538" y="1754300"/>
            <a:ext cx="12819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MCP Server</a:t>
            </a:r>
            <a:endParaRPr lang="en-US" sz="16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012408" y="2123268"/>
            <a:ext cx="15867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Tool examples:</a:t>
            </a:r>
          </a:p>
          <a:p>
            <a:r>
              <a:rPr lang="en-US" sz="1200" dirty="0" err="1" smtClean="0"/>
              <a:t>get_devices_info</a:t>
            </a:r>
            <a:endParaRPr lang="en-US" sz="1200" dirty="0" smtClean="0"/>
          </a:p>
          <a:p>
            <a:r>
              <a:rPr lang="en-US" sz="1200" dirty="0" err="1" smtClean="0"/>
              <a:t>get_vpn_info</a:t>
            </a:r>
            <a:endParaRPr lang="en-US" sz="1200" dirty="0" smtClean="0"/>
          </a:p>
          <a:p>
            <a:r>
              <a:rPr lang="en-US" sz="1200" dirty="0" err="1" smtClean="0"/>
              <a:t>get_mpls_info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err="1" smtClean="0"/>
              <a:t>get_interface_info</a:t>
            </a:r>
            <a:endParaRPr lang="en-US" sz="1200" dirty="0" smtClean="0"/>
          </a:p>
          <a:p>
            <a:r>
              <a:rPr lang="en-US" sz="1200" dirty="0" err="1" smtClean="0"/>
              <a:t>get_config_diff</a:t>
            </a:r>
            <a:endParaRPr lang="en-US" sz="1200" dirty="0" smtClean="0"/>
          </a:p>
          <a:p>
            <a:r>
              <a:rPr lang="en-US" sz="1200" dirty="0" err="1"/>
              <a:t>c</a:t>
            </a:r>
            <a:r>
              <a:rPr lang="en-US" sz="1200" dirty="0" err="1" smtClean="0"/>
              <a:t>ommit_check</a:t>
            </a:r>
            <a:endParaRPr lang="en-US" sz="1200" dirty="0"/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5491890" y="2578230"/>
            <a:ext cx="1586751" cy="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457942" y="2254408"/>
            <a:ext cx="1342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NETCONF/</a:t>
            </a:r>
            <a:r>
              <a:rPr lang="en-US" sz="1400" dirty="0" err="1" smtClean="0"/>
              <a:t>gNMI</a:t>
            </a:r>
            <a:endParaRPr lang="en-US" sz="1400" dirty="0"/>
          </a:p>
        </p:txBody>
      </p:sp>
      <p:sp>
        <p:nvSpPr>
          <p:cNvPr id="17" name="圆角矩形 16"/>
          <p:cNvSpPr/>
          <p:nvPr/>
        </p:nvSpPr>
        <p:spPr>
          <a:xfrm>
            <a:off x="7085695" y="1594339"/>
            <a:ext cx="2173318" cy="184075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9" name="文本框 18"/>
          <p:cNvSpPr txBox="1"/>
          <p:nvPr/>
        </p:nvSpPr>
        <p:spPr>
          <a:xfrm>
            <a:off x="7735796" y="1571174"/>
            <a:ext cx="12819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/>
              <a:t>Network</a:t>
            </a:r>
            <a:endParaRPr lang="en-US" sz="1600" dirty="0"/>
          </a:p>
        </p:txBody>
      </p:sp>
      <p:sp>
        <p:nvSpPr>
          <p:cNvPr id="26" name="圆柱形 25"/>
          <p:cNvSpPr/>
          <p:nvPr/>
        </p:nvSpPr>
        <p:spPr>
          <a:xfrm>
            <a:off x="7343681" y="2034572"/>
            <a:ext cx="382683" cy="141719"/>
          </a:xfrm>
          <a:prstGeom prst="can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文本框 36"/>
          <p:cNvSpPr txBox="1"/>
          <p:nvPr/>
        </p:nvSpPr>
        <p:spPr>
          <a:xfrm>
            <a:off x="7379859" y="1809382"/>
            <a:ext cx="6523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R1</a:t>
            </a:r>
            <a:endParaRPr lang="en-US" sz="1200" dirty="0"/>
          </a:p>
        </p:txBody>
      </p:sp>
      <p:sp>
        <p:nvSpPr>
          <p:cNvPr id="38" name="圆柱形 37"/>
          <p:cNvSpPr/>
          <p:nvPr/>
        </p:nvSpPr>
        <p:spPr>
          <a:xfrm>
            <a:off x="8748220" y="2019365"/>
            <a:ext cx="382683" cy="141719"/>
          </a:xfrm>
          <a:prstGeom prst="can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文本框 38"/>
          <p:cNvSpPr txBox="1"/>
          <p:nvPr/>
        </p:nvSpPr>
        <p:spPr>
          <a:xfrm>
            <a:off x="8792872" y="1781823"/>
            <a:ext cx="4661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R2</a:t>
            </a:r>
            <a:endParaRPr lang="en-US" sz="1200" dirty="0"/>
          </a:p>
        </p:txBody>
      </p:sp>
      <p:sp>
        <p:nvSpPr>
          <p:cNvPr id="40" name="圆柱形 39"/>
          <p:cNvSpPr/>
          <p:nvPr/>
        </p:nvSpPr>
        <p:spPr>
          <a:xfrm>
            <a:off x="7320079" y="3047662"/>
            <a:ext cx="382683" cy="141719"/>
          </a:xfrm>
          <a:prstGeom prst="can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文本框 40"/>
          <p:cNvSpPr txBox="1"/>
          <p:nvPr/>
        </p:nvSpPr>
        <p:spPr>
          <a:xfrm>
            <a:off x="7378831" y="3215244"/>
            <a:ext cx="3569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R4</a:t>
            </a:r>
            <a:endParaRPr lang="en-US" sz="1200" dirty="0"/>
          </a:p>
        </p:txBody>
      </p:sp>
      <p:sp>
        <p:nvSpPr>
          <p:cNvPr id="42" name="圆柱形 41"/>
          <p:cNvSpPr/>
          <p:nvPr/>
        </p:nvSpPr>
        <p:spPr>
          <a:xfrm>
            <a:off x="8024037" y="2446057"/>
            <a:ext cx="352735" cy="179404"/>
          </a:xfrm>
          <a:prstGeom prst="can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文本框 42"/>
          <p:cNvSpPr txBox="1"/>
          <p:nvPr/>
        </p:nvSpPr>
        <p:spPr>
          <a:xfrm>
            <a:off x="8016750" y="2584934"/>
            <a:ext cx="521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R3</a:t>
            </a:r>
            <a:endParaRPr lang="en-US" sz="1200" dirty="0"/>
          </a:p>
        </p:txBody>
      </p:sp>
      <p:sp>
        <p:nvSpPr>
          <p:cNvPr id="44" name="圆柱形 43"/>
          <p:cNvSpPr/>
          <p:nvPr/>
        </p:nvSpPr>
        <p:spPr>
          <a:xfrm>
            <a:off x="8738637" y="3047662"/>
            <a:ext cx="382683" cy="141719"/>
          </a:xfrm>
          <a:prstGeom prst="can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文本框 44"/>
          <p:cNvSpPr txBox="1"/>
          <p:nvPr/>
        </p:nvSpPr>
        <p:spPr>
          <a:xfrm>
            <a:off x="8687609" y="3158094"/>
            <a:ext cx="3565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R5</a:t>
            </a:r>
            <a:endParaRPr lang="en-US" sz="1200" dirty="0"/>
          </a:p>
        </p:txBody>
      </p:sp>
      <p:cxnSp>
        <p:nvCxnSpPr>
          <p:cNvPr id="47" name="直接连接符 46"/>
          <p:cNvCxnSpPr>
            <a:stCxn id="26" idx="3"/>
            <a:endCxn id="40" idx="1"/>
          </p:cNvCxnSpPr>
          <p:nvPr/>
        </p:nvCxnSpPr>
        <p:spPr>
          <a:xfrm flipH="1">
            <a:off x="7511421" y="2176291"/>
            <a:ext cx="23602" cy="8713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>
            <a:stCxn id="38" idx="2"/>
            <a:endCxn id="26" idx="4"/>
          </p:cNvCxnSpPr>
          <p:nvPr/>
        </p:nvCxnSpPr>
        <p:spPr>
          <a:xfrm flipH="1">
            <a:off x="7726364" y="2090225"/>
            <a:ext cx="1021856" cy="152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>
            <a:stCxn id="42" idx="2"/>
            <a:endCxn id="26" idx="4"/>
          </p:cNvCxnSpPr>
          <p:nvPr/>
        </p:nvCxnSpPr>
        <p:spPr>
          <a:xfrm flipH="1" flipV="1">
            <a:off x="7726364" y="2105432"/>
            <a:ext cx="297673" cy="4303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>
            <a:stCxn id="42" idx="2"/>
            <a:endCxn id="40" idx="4"/>
          </p:cNvCxnSpPr>
          <p:nvPr/>
        </p:nvCxnSpPr>
        <p:spPr>
          <a:xfrm flipH="1">
            <a:off x="7702762" y="2535759"/>
            <a:ext cx="321275" cy="5827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stCxn id="44" idx="2"/>
            <a:endCxn id="40" idx="4"/>
          </p:cNvCxnSpPr>
          <p:nvPr/>
        </p:nvCxnSpPr>
        <p:spPr>
          <a:xfrm flipH="1">
            <a:off x="7702762" y="3118522"/>
            <a:ext cx="10358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>
            <a:stCxn id="38" idx="2"/>
            <a:endCxn id="42" idx="4"/>
          </p:cNvCxnSpPr>
          <p:nvPr/>
        </p:nvCxnSpPr>
        <p:spPr>
          <a:xfrm flipH="1">
            <a:off x="8376772" y="2090225"/>
            <a:ext cx="371448" cy="445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>
            <a:stCxn id="44" idx="2"/>
            <a:endCxn id="42" idx="4"/>
          </p:cNvCxnSpPr>
          <p:nvPr/>
        </p:nvCxnSpPr>
        <p:spPr>
          <a:xfrm flipH="1" flipV="1">
            <a:off x="8376772" y="2535759"/>
            <a:ext cx="361865" cy="5827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>
            <a:stCxn id="38" idx="3"/>
            <a:endCxn id="44" idx="1"/>
          </p:cNvCxnSpPr>
          <p:nvPr/>
        </p:nvCxnSpPr>
        <p:spPr>
          <a:xfrm flipH="1">
            <a:off x="8929979" y="2161084"/>
            <a:ext cx="9583" cy="8865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>
            <a:stCxn id="5" idx="3"/>
            <a:endCxn id="9" idx="1"/>
          </p:cNvCxnSpPr>
          <p:nvPr/>
        </p:nvCxnSpPr>
        <p:spPr>
          <a:xfrm flipV="1">
            <a:off x="3143864" y="2549656"/>
            <a:ext cx="761272" cy="3748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本框 108"/>
          <p:cNvSpPr txBox="1"/>
          <p:nvPr/>
        </p:nvSpPr>
        <p:spPr>
          <a:xfrm>
            <a:off x="3203977" y="2299883"/>
            <a:ext cx="7082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MCP</a:t>
            </a:r>
            <a:endParaRPr lang="en-US" sz="1600" dirty="0"/>
          </a:p>
        </p:txBody>
      </p:sp>
      <p:sp>
        <p:nvSpPr>
          <p:cNvPr id="114" name="矩形 113"/>
          <p:cNvSpPr/>
          <p:nvPr/>
        </p:nvSpPr>
        <p:spPr>
          <a:xfrm>
            <a:off x="3577" y="4949157"/>
            <a:ext cx="447039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Industry </a:t>
            </a:r>
            <a:r>
              <a:rPr lang="en-US" b="1" dirty="0" smtClean="0"/>
              <a:t>exploration:</a:t>
            </a:r>
          </a:p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github.com/jillesca/gNMIBuddy</a:t>
            </a:r>
            <a:endParaRPr lang="en-US" dirty="0" smtClean="0"/>
          </a:p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github.com/Juniper/junos-mcp-server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116" name="矩形 115"/>
          <p:cNvSpPr/>
          <p:nvPr/>
        </p:nvSpPr>
        <p:spPr>
          <a:xfrm>
            <a:off x="100350" y="3681487"/>
            <a:ext cx="1200145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Core idea: </a:t>
            </a:r>
            <a:endParaRPr lang="en-US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refactor </a:t>
            </a:r>
            <a:r>
              <a:rPr lang="en-US" dirty="0"/>
              <a:t>YANG-based network operations into AI-</a:t>
            </a:r>
            <a:r>
              <a:rPr lang="en-US" dirty="0" err="1"/>
              <a:t>invocable</a:t>
            </a:r>
            <a:r>
              <a:rPr lang="en-US" dirty="0"/>
              <a:t> tools using the Model Context Protocol (</a:t>
            </a:r>
            <a:r>
              <a:rPr lang="en-US" dirty="0" smtClean="0"/>
              <a:t>MCP)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abstraction layer shields agents from low-level YANG syntax and schema complexity, reducing </a:t>
            </a:r>
            <a:r>
              <a:rPr lang="en-US" dirty="0" smtClean="0"/>
              <a:t>non-determinism </a:t>
            </a:r>
            <a:r>
              <a:rPr lang="en-US" dirty="0"/>
              <a:t>risk</a:t>
            </a:r>
          </a:p>
        </p:txBody>
      </p:sp>
    </p:spTree>
    <p:extLst>
      <p:ext uri="{BB962C8B-B14F-4D97-AF65-F5344CB8AC3E}">
        <p14:creationId xmlns:p14="http://schemas.microsoft.com/office/powerpoint/2010/main" val="3136721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48584"/>
            <a:ext cx="10515600" cy="1325563"/>
          </a:xfrm>
        </p:spPr>
        <p:txBody>
          <a:bodyPr/>
          <a:lstStyle/>
          <a:p>
            <a:r>
              <a:rPr lang="en-US" dirty="0" smtClean="0"/>
              <a:t>Semantic Enrichment via Knowledge Graphs</a:t>
            </a:r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264834" y="5723598"/>
            <a:ext cx="8048357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Related IETF efforts:</a:t>
            </a:r>
          </a:p>
          <a:p>
            <a:r>
              <a:rPr lang="en-US" dirty="0">
                <a:solidFill>
                  <a:prstClr val="black"/>
                </a:solidFill>
                <a:hlinkClick r:id="rId2"/>
              </a:rPr>
              <a:t>https://datatracker.ietf.org/doc/draft-mackey-nmop-kg-for-netops</a:t>
            </a:r>
            <a:r>
              <a:rPr lang="en-US" dirty="0" smtClean="0">
                <a:solidFill>
                  <a:prstClr val="black"/>
                </a:solidFill>
                <a:hlinkClick r:id="rId2"/>
              </a:rPr>
              <a:t>/</a:t>
            </a:r>
            <a:endParaRPr lang="en-US" dirty="0" smtClean="0">
              <a:solidFill>
                <a:prstClr val="black"/>
              </a:solidFill>
            </a:endParaRPr>
          </a:p>
          <a:p>
            <a:r>
              <a:rPr lang="en-US" dirty="0">
                <a:solidFill>
                  <a:prstClr val="black"/>
                </a:solidFill>
                <a:hlinkClick r:id="rId3"/>
              </a:rPr>
              <a:t>https://datatracker.ietf.org/doc/draft-tailhardat-nmop-incident-management-noria</a:t>
            </a:r>
            <a:r>
              <a:rPr lang="en-US" dirty="0" smtClean="0">
                <a:solidFill>
                  <a:prstClr val="black"/>
                </a:solidFill>
                <a:hlinkClick r:id="rId3"/>
              </a:rPr>
              <a:t>/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endParaRPr lang="en-US" dirty="0">
              <a:solidFill>
                <a:prstClr val="black"/>
              </a:solidFill>
            </a:endParaRPr>
          </a:p>
          <a:p>
            <a:r>
              <a:rPr lang="en-US" dirty="0">
                <a:solidFill>
                  <a:prstClr val="black"/>
                </a:solidFill>
                <a:hlinkClick r:id="rId4"/>
              </a:rPr>
              <a:t>https://datatracker.ietf.org/doc/draft-ietf-nmop-network-anomaly-semantics/</a:t>
            </a:r>
            <a:r>
              <a:rPr lang="en-US" dirty="0">
                <a:solidFill>
                  <a:prstClr val="black"/>
                </a:solidFill>
              </a:rPr>
              <a:t> </a:t>
            </a:r>
          </a:p>
          <a:p>
            <a:endParaRPr lang="en-US" dirty="0"/>
          </a:p>
        </p:txBody>
      </p:sp>
      <p:sp>
        <p:nvSpPr>
          <p:cNvPr id="6" name="矩形 5"/>
          <p:cNvSpPr/>
          <p:nvPr/>
        </p:nvSpPr>
        <p:spPr>
          <a:xfrm>
            <a:off x="199519" y="3832594"/>
            <a:ext cx="1138910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Core idea: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add a semantic layer on top of YANG data models to </a:t>
            </a:r>
            <a:r>
              <a:rPr lang="en-US" dirty="0" smtClean="0">
                <a:solidFill>
                  <a:prstClr val="black"/>
                </a:solidFill>
              </a:rPr>
              <a:t>address YANG expressiveness limits via </a:t>
            </a:r>
            <a:r>
              <a:rPr lang="en-US" dirty="0">
                <a:solidFill>
                  <a:prstClr val="black"/>
                </a:solidFill>
              </a:rPr>
              <a:t>knowledge graph, which can </a:t>
            </a:r>
            <a:r>
              <a:rPr lang="en-US" dirty="0" smtClean="0">
                <a:solidFill>
                  <a:prstClr val="black"/>
                </a:solidFill>
              </a:rPr>
              <a:t>explicitly </a:t>
            </a:r>
            <a:r>
              <a:rPr lang="en-US" dirty="0">
                <a:solidFill>
                  <a:prstClr val="black"/>
                </a:solidFill>
              </a:rPr>
              <a:t>model concepts absent from YANG, e.g., “preferred vs. optional” and “transient vs. persistent failure</a:t>
            </a:r>
            <a:r>
              <a:rPr lang="en-US" dirty="0" smtClean="0">
                <a:solidFill>
                  <a:prstClr val="black"/>
                </a:solidFill>
              </a:rPr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</a:rPr>
              <a:t>KGs give </a:t>
            </a:r>
            <a:r>
              <a:rPr lang="en-US" dirty="0">
                <a:solidFill>
                  <a:prstClr val="black"/>
                </a:solidFill>
              </a:rPr>
              <a:t>AI agents a machine-readable view of network semantics, relationships, and </a:t>
            </a:r>
            <a:r>
              <a:rPr lang="en-US" dirty="0" smtClean="0">
                <a:solidFill>
                  <a:prstClr val="black"/>
                </a:solidFill>
              </a:rPr>
              <a:t>constraints. E.g., </a:t>
            </a:r>
            <a:r>
              <a:rPr lang="en-US" dirty="0"/>
              <a:t>for the intent “check why the VPN tunnel is down,” a KG-enhanced agent queries relationships between the affected services and </a:t>
            </a:r>
            <a:r>
              <a:rPr lang="en-US" dirty="0" smtClean="0"/>
              <a:t>metrics</a:t>
            </a:r>
            <a:endParaRPr lang="en-US" dirty="0">
              <a:solidFill>
                <a:prstClr val="black"/>
              </a:solidFill>
            </a:endParaRPr>
          </a:p>
          <a:p>
            <a:endParaRPr lang="en-US" dirty="0"/>
          </a:p>
        </p:txBody>
      </p:sp>
      <p:sp>
        <p:nvSpPr>
          <p:cNvPr id="52" name="圆角矩形 51"/>
          <p:cNvSpPr/>
          <p:nvPr/>
        </p:nvSpPr>
        <p:spPr>
          <a:xfrm>
            <a:off x="1002136" y="1742836"/>
            <a:ext cx="2173318" cy="184075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53" name="文本框 52"/>
          <p:cNvSpPr txBox="1"/>
          <p:nvPr/>
        </p:nvSpPr>
        <p:spPr>
          <a:xfrm>
            <a:off x="1652237" y="1719671"/>
            <a:ext cx="12819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/>
              <a:t>Network</a:t>
            </a:r>
            <a:endParaRPr lang="en-US" sz="1600" dirty="0"/>
          </a:p>
        </p:txBody>
      </p:sp>
      <p:sp>
        <p:nvSpPr>
          <p:cNvPr id="54" name="圆柱形 53"/>
          <p:cNvSpPr/>
          <p:nvPr/>
        </p:nvSpPr>
        <p:spPr>
          <a:xfrm>
            <a:off x="1260122" y="2183069"/>
            <a:ext cx="382683" cy="141719"/>
          </a:xfrm>
          <a:prstGeom prst="can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文本框 54"/>
          <p:cNvSpPr txBox="1"/>
          <p:nvPr/>
        </p:nvSpPr>
        <p:spPr>
          <a:xfrm>
            <a:off x="1296300" y="1957879"/>
            <a:ext cx="6523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R1</a:t>
            </a:r>
            <a:endParaRPr lang="en-US" sz="1200" dirty="0"/>
          </a:p>
        </p:txBody>
      </p:sp>
      <p:sp>
        <p:nvSpPr>
          <p:cNvPr id="56" name="圆柱形 55"/>
          <p:cNvSpPr/>
          <p:nvPr/>
        </p:nvSpPr>
        <p:spPr>
          <a:xfrm>
            <a:off x="2664661" y="2167862"/>
            <a:ext cx="382683" cy="141719"/>
          </a:xfrm>
          <a:prstGeom prst="can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文本框 56"/>
          <p:cNvSpPr txBox="1"/>
          <p:nvPr/>
        </p:nvSpPr>
        <p:spPr>
          <a:xfrm>
            <a:off x="2709313" y="1930320"/>
            <a:ext cx="4661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R2</a:t>
            </a:r>
            <a:endParaRPr lang="en-US" sz="1200" dirty="0"/>
          </a:p>
        </p:txBody>
      </p:sp>
      <p:sp>
        <p:nvSpPr>
          <p:cNvPr id="58" name="圆柱形 57"/>
          <p:cNvSpPr/>
          <p:nvPr/>
        </p:nvSpPr>
        <p:spPr>
          <a:xfrm>
            <a:off x="1236520" y="3196159"/>
            <a:ext cx="382683" cy="141719"/>
          </a:xfrm>
          <a:prstGeom prst="can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文本框 58"/>
          <p:cNvSpPr txBox="1"/>
          <p:nvPr/>
        </p:nvSpPr>
        <p:spPr>
          <a:xfrm>
            <a:off x="1295272" y="3363741"/>
            <a:ext cx="3569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R4</a:t>
            </a:r>
            <a:endParaRPr lang="en-US" sz="1200" dirty="0"/>
          </a:p>
        </p:txBody>
      </p:sp>
      <p:sp>
        <p:nvSpPr>
          <p:cNvPr id="60" name="圆柱形 59"/>
          <p:cNvSpPr/>
          <p:nvPr/>
        </p:nvSpPr>
        <p:spPr>
          <a:xfrm>
            <a:off x="1940478" y="2594554"/>
            <a:ext cx="352735" cy="179404"/>
          </a:xfrm>
          <a:prstGeom prst="can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文本框 60"/>
          <p:cNvSpPr txBox="1"/>
          <p:nvPr/>
        </p:nvSpPr>
        <p:spPr>
          <a:xfrm>
            <a:off x="1933191" y="2733431"/>
            <a:ext cx="521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R3</a:t>
            </a:r>
            <a:endParaRPr lang="en-US" sz="1200" dirty="0"/>
          </a:p>
        </p:txBody>
      </p:sp>
      <p:sp>
        <p:nvSpPr>
          <p:cNvPr id="62" name="圆柱形 61"/>
          <p:cNvSpPr/>
          <p:nvPr/>
        </p:nvSpPr>
        <p:spPr>
          <a:xfrm>
            <a:off x="2655078" y="3196159"/>
            <a:ext cx="382683" cy="141719"/>
          </a:xfrm>
          <a:prstGeom prst="can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文本框 62"/>
          <p:cNvSpPr txBox="1"/>
          <p:nvPr/>
        </p:nvSpPr>
        <p:spPr>
          <a:xfrm>
            <a:off x="2604050" y="3306591"/>
            <a:ext cx="3565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R5</a:t>
            </a:r>
            <a:endParaRPr lang="en-US" sz="1200" dirty="0"/>
          </a:p>
        </p:txBody>
      </p:sp>
      <p:cxnSp>
        <p:nvCxnSpPr>
          <p:cNvPr id="64" name="直接连接符 63"/>
          <p:cNvCxnSpPr>
            <a:stCxn id="54" idx="3"/>
            <a:endCxn id="58" idx="1"/>
          </p:cNvCxnSpPr>
          <p:nvPr/>
        </p:nvCxnSpPr>
        <p:spPr>
          <a:xfrm flipH="1">
            <a:off x="1427862" y="2324788"/>
            <a:ext cx="23602" cy="8713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>
            <a:stCxn id="56" idx="2"/>
            <a:endCxn id="54" idx="4"/>
          </p:cNvCxnSpPr>
          <p:nvPr/>
        </p:nvCxnSpPr>
        <p:spPr>
          <a:xfrm flipH="1">
            <a:off x="1642805" y="2238722"/>
            <a:ext cx="1021856" cy="152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stCxn id="60" idx="2"/>
            <a:endCxn id="54" idx="4"/>
          </p:cNvCxnSpPr>
          <p:nvPr/>
        </p:nvCxnSpPr>
        <p:spPr>
          <a:xfrm flipH="1" flipV="1">
            <a:off x="1642805" y="2253929"/>
            <a:ext cx="297673" cy="4303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>
            <a:stCxn id="60" idx="2"/>
            <a:endCxn id="58" idx="4"/>
          </p:cNvCxnSpPr>
          <p:nvPr/>
        </p:nvCxnSpPr>
        <p:spPr>
          <a:xfrm flipH="1">
            <a:off x="1619203" y="2684256"/>
            <a:ext cx="321275" cy="5827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>
            <a:stCxn id="62" idx="2"/>
            <a:endCxn id="58" idx="4"/>
          </p:cNvCxnSpPr>
          <p:nvPr/>
        </p:nvCxnSpPr>
        <p:spPr>
          <a:xfrm flipH="1">
            <a:off x="1619203" y="3267019"/>
            <a:ext cx="10358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stCxn id="56" idx="2"/>
            <a:endCxn id="60" idx="4"/>
          </p:cNvCxnSpPr>
          <p:nvPr/>
        </p:nvCxnSpPr>
        <p:spPr>
          <a:xfrm flipH="1">
            <a:off x="2293213" y="2238722"/>
            <a:ext cx="371448" cy="445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>
            <a:stCxn id="62" idx="2"/>
            <a:endCxn id="60" idx="4"/>
          </p:cNvCxnSpPr>
          <p:nvPr/>
        </p:nvCxnSpPr>
        <p:spPr>
          <a:xfrm flipH="1" flipV="1">
            <a:off x="2293213" y="2684256"/>
            <a:ext cx="361865" cy="5827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>
            <a:stCxn id="56" idx="3"/>
            <a:endCxn id="62" idx="1"/>
          </p:cNvCxnSpPr>
          <p:nvPr/>
        </p:nvCxnSpPr>
        <p:spPr>
          <a:xfrm flipH="1">
            <a:off x="2846420" y="2309581"/>
            <a:ext cx="9583" cy="8865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肘形连接符 72"/>
          <p:cNvCxnSpPr/>
          <p:nvPr/>
        </p:nvCxnSpPr>
        <p:spPr>
          <a:xfrm flipV="1">
            <a:off x="3175454" y="2195195"/>
            <a:ext cx="1699099" cy="3147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肘形连接符 74"/>
          <p:cNvCxnSpPr/>
          <p:nvPr/>
        </p:nvCxnSpPr>
        <p:spPr>
          <a:xfrm>
            <a:off x="3175454" y="2856524"/>
            <a:ext cx="1704456" cy="1539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3442308" y="1901900"/>
            <a:ext cx="14655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Operational State</a:t>
            </a:r>
            <a:endParaRPr lang="en-US" sz="1400" dirty="0"/>
          </a:p>
        </p:txBody>
      </p:sp>
      <p:sp>
        <p:nvSpPr>
          <p:cNvPr id="77" name="文本框 76"/>
          <p:cNvSpPr txBox="1"/>
          <p:nvPr/>
        </p:nvSpPr>
        <p:spPr>
          <a:xfrm>
            <a:off x="3427504" y="3017376"/>
            <a:ext cx="1180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Configuration</a:t>
            </a:r>
            <a:endParaRPr lang="en-US" sz="1400" dirty="0"/>
          </a:p>
        </p:txBody>
      </p:sp>
      <p:sp>
        <p:nvSpPr>
          <p:cNvPr id="78" name="圆柱形 77"/>
          <p:cNvSpPr/>
          <p:nvPr/>
        </p:nvSpPr>
        <p:spPr>
          <a:xfrm>
            <a:off x="6518837" y="2297248"/>
            <a:ext cx="1794354" cy="579722"/>
          </a:xfrm>
          <a:prstGeom prst="can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r>
              <a:rPr lang="en-US" dirty="0" smtClean="0"/>
              <a:t>Knowledge Graph</a:t>
            </a:r>
            <a:endParaRPr lang="en-US" dirty="0"/>
          </a:p>
        </p:txBody>
      </p:sp>
      <p:sp>
        <p:nvSpPr>
          <p:cNvPr id="79" name="圆角矩形 78"/>
          <p:cNvSpPr/>
          <p:nvPr/>
        </p:nvSpPr>
        <p:spPr>
          <a:xfrm>
            <a:off x="4874553" y="1978445"/>
            <a:ext cx="1123626" cy="119282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rtlCol="0" anchor="ctr"/>
          <a:lstStyle/>
          <a:p>
            <a:pPr algn="ctr"/>
            <a:r>
              <a:rPr lang="en-US" dirty="0" smtClean="0"/>
              <a:t>KG builder</a:t>
            </a:r>
            <a:endParaRPr lang="en-US" dirty="0"/>
          </a:p>
        </p:txBody>
      </p:sp>
      <p:sp>
        <p:nvSpPr>
          <p:cNvPr id="80" name="圆角矩形 79"/>
          <p:cNvSpPr/>
          <p:nvPr/>
        </p:nvSpPr>
        <p:spPr>
          <a:xfrm>
            <a:off x="9203822" y="2254380"/>
            <a:ext cx="2468774" cy="66545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文本框 80"/>
          <p:cNvSpPr txBox="1"/>
          <p:nvPr/>
        </p:nvSpPr>
        <p:spPr>
          <a:xfrm>
            <a:off x="9077740" y="2378906"/>
            <a:ext cx="2670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Semantic Agent Reasoning</a:t>
            </a:r>
            <a:endParaRPr lang="en-US" dirty="0"/>
          </a:p>
        </p:txBody>
      </p:sp>
      <p:cxnSp>
        <p:nvCxnSpPr>
          <p:cNvPr id="84" name="直接箭头连接符 83"/>
          <p:cNvCxnSpPr>
            <a:stCxn id="79" idx="3"/>
            <a:endCxn id="78" idx="2"/>
          </p:cNvCxnSpPr>
          <p:nvPr/>
        </p:nvCxnSpPr>
        <p:spPr>
          <a:xfrm>
            <a:off x="5998179" y="2574855"/>
            <a:ext cx="520658" cy="1225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框 93"/>
          <p:cNvSpPr txBox="1"/>
          <p:nvPr/>
        </p:nvSpPr>
        <p:spPr>
          <a:xfrm>
            <a:off x="8443336" y="2232257"/>
            <a:ext cx="634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Query</a:t>
            </a:r>
            <a:endParaRPr lang="en-US" sz="1400" dirty="0"/>
          </a:p>
        </p:txBody>
      </p:sp>
      <p:cxnSp>
        <p:nvCxnSpPr>
          <p:cNvPr id="99" name="直接箭头连接符 98"/>
          <p:cNvCxnSpPr>
            <a:stCxn id="80" idx="1"/>
            <a:endCxn id="78" idx="4"/>
          </p:cNvCxnSpPr>
          <p:nvPr/>
        </p:nvCxnSpPr>
        <p:spPr>
          <a:xfrm flipH="1">
            <a:off x="8313191" y="2587109"/>
            <a:ext cx="8906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703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5985447" y="1918091"/>
            <a:ext cx="1646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YANG-structured payload + overlay</a:t>
            </a:r>
            <a:endParaRPr lang="en-US" sz="1400" dirty="0"/>
          </a:p>
        </p:txBody>
      </p:sp>
      <p:sp>
        <p:nvSpPr>
          <p:cNvPr id="44" name="DiagBox101"/>
          <p:cNvSpPr/>
          <p:nvPr/>
        </p:nvSpPr>
        <p:spPr>
          <a:xfrm>
            <a:off x="1562384" y="2082268"/>
            <a:ext cx="2027861" cy="658476"/>
          </a:xfrm>
          <a:prstGeom prst="roundRect">
            <a:avLst>
              <a:gd name="adj" fmla="val 9000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High-level Intent</a:t>
            </a:r>
          </a:p>
        </p:txBody>
      </p:sp>
      <p:sp>
        <p:nvSpPr>
          <p:cNvPr id="45" name="DiagArrow102"/>
          <p:cNvSpPr/>
          <p:nvPr/>
        </p:nvSpPr>
        <p:spPr>
          <a:xfrm>
            <a:off x="3590245" y="2307335"/>
            <a:ext cx="400000" cy="320000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46" name="DiagBox103"/>
          <p:cNvSpPr/>
          <p:nvPr/>
        </p:nvSpPr>
        <p:spPr>
          <a:xfrm>
            <a:off x="3957588" y="2100920"/>
            <a:ext cx="2027861" cy="658476"/>
          </a:xfrm>
          <a:prstGeom prst="roundRect">
            <a:avLst>
              <a:gd name="adj" fmla="val 9000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Declarative Intent/Policy Overlay</a:t>
            </a:r>
          </a:p>
        </p:txBody>
      </p:sp>
      <p:sp>
        <p:nvSpPr>
          <p:cNvPr id="47" name="DiagArrow104"/>
          <p:cNvSpPr/>
          <p:nvPr/>
        </p:nvSpPr>
        <p:spPr>
          <a:xfrm>
            <a:off x="5985448" y="2323531"/>
            <a:ext cx="1563017" cy="320000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49" name="圆角矩形 48"/>
          <p:cNvSpPr/>
          <p:nvPr/>
        </p:nvSpPr>
        <p:spPr>
          <a:xfrm>
            <a:off x="7548465" y="2082268"/>
            <a:ext cx="1479177" cy="66545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文本框 49"/>
          <p:cNvSpPr txBox="1"/>
          <p:nvPr/>
        </p:nvSpPr>
        <p:spPr>
          <a:xfrm>
            <a:off x="7928143" y="2243034"/>
            <a:ext cx="736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Agent</a:t>
            </a:r>
            <a:endParaRPr lang="en-US" dirty="0"/>
          </a:p>
        </p:txBody>
      </p:sp>
      <p:sp>
        <p:nvSpPr>
          <p:cNvPr id="51" name="内容占位符 2"/>
          <p:cNvSpPr>
            <a:spLocks noGrp="1"/>
          </p:cNvSpPr>
          <p:nvPr>
            <p:ph idx="1"/>
          </p:nvPr>
        </p:nvSpPr>
        <p:spPr>
          <a:xfrm>
            <a:off x="656890" y="3153166"/>
            <a:ext cx="10657114" cy="3012127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Core idea:</a:t>
            </a:r>
          </a:p>
          <a:p>
            <a:pPr lvl="1"/>
            <a:r>
              <a:rPr lang="en-US" sz="1800" dirty="0"/>
              <a:t>Instead of forcing agents to translate loose, high-level intent directly into rigid YANG leaf nodes, the agent first compiles the intent into a declarative intent/policy overlay</a:t>
            </a:r>
          </a:p>
          <a:p>
            <a:pPr lvl="1"/>
            <a:r>
              <a:rPr lang="en-US" altLang="zh-CN" sz="1800" dirty="0" smtClean="0"/>
              <a:t>The overlay could explicitly capture </a:t>
            </a:r>
            <a:r>
              <a:rPr lang="en-US" sz="1800" dirty="0" smtClean="0"/>
              <a:t>invariants, constraints, policies that existing YANG models cannot represent</a:t>
            </a:r>
          </a:p>
          <a:p>
            <a:pPr lvl="1"/>
            <a:r>
              <a:rPr lang="en-US" sz="1800" dirty="0" smtClean="0"/>
              <a:t>The overlay is co-delivered alongside the generated YANG instances to lower-layer agents</a:t>
            </a:r>
            <a:endParaRPr lang="en-US" sz="1800" dirty="0"/>
          </a:p>
        </p:txBody>
      </p:sp>
      <p:sp>
        <p:nvSpPr>
          <p:cNvPr id="5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smtClean="0"/>
              <a:t>Declarative Intent/Policy Overlay</a:t>
            </a:r>
            <a:endParaRPr lang="en-US" dirty="0"/>
          </a:p>
        </p:txBody>
      </p:sp>
      <p:sp>
        <p:nvSpPr>
          <p:cNvPr id="53" name="矩形 52"/>
          <p:cNvSpPr/>
          <p:nvPr/>
        </p:nvSpPr>
        <p:spPr>
          <a:xfrm>
            <a:off x="656890" y="5213796"/>
            <a:ext cx="9706632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Industry </a:t>
            </a:r>
            <a:r>
              <a:rPr lang="en-US" b="1" dirty="0" smtClean="0"/>
              <a:t>exploration: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3GPP intent meta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TMF intent management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AI-driven </a:t>
            </a:r>
            <a:r>
              <a:rPr lang="en-US" dirty="0"/>
              <a:t>Intent-Based Networking Approach for Self-configuration of Next Generation Networks</a:t>
            </a:r>
            <a:endParaRPr lang="en-US" dirty="0" smtClean="0"/>
          </a:p>
          <a:p>
            <a:r>
              <a:rPr lang="en-US" dirty="0" smtClean="0">
                <a:hlinkClick r:id="rId2"/>
              </a:rPr>
              <a:t>      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arxiv.org/html/2603.23772v1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143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9416" y="9045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 smtClean="0"/>
              <a:t>Token-efficient Data Format for LLM input? TOON?</a:t>
            </a:r>
            <a:endParaRPr 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8416" y="1416021"/>
            <a:ext cx="6195831" cy="2549151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 smtClean="0"/>
              <a:t>TOON (Token-Oriented </a:t>
            </a:r>
            <a:r>
              <a:rPr lang="en-US" altLang="zh-CN" dirty="0"/>
              <a:t>O</a:t>
            </a:r>
            <a:r>
              <a:rPr lang="en-US" altLang="zh-CN" dirty="0" smtClean="0"/>
              <a:t>bject </a:t>
            </a:r>
            <a:r>
              <a:rPr lang="en-US" altLang="zh-CN" dirty="0"/>
              <a:t>N</a:t>
            </a:r>
            <a:r>
              <a:rPr lang="en-US" altLang="zh-CN" dirty="0" smtClean="0"/>
              <a:t>otation)</a:t>
            </a:r>
            <a:endParaRPr lang="en-US" dirty="0" smtClean="0"/>
          </a:p>
          <a:p>
            <a:pPr lvl="1"/>
            <a:r>
              <a:rPr lang="en-US" dirty="0" smtClean="0"/>
              <a:t>a data serialization format designed specifically for LLM applications.</a:t>
            </a:r>
          </a:p>
          <a:p>
            <a:pPr lvl="1"/>
            <a:r>
              <a:rPr lang="en-US" dirty="0" smtClean="0"/>
              <a:t>Zero syntax redundancy: removes clos</a:t>
            </a:r>
            <a:r>
              <a:rPr lang="en-US" altLang="zh-CN" dirty="0" smtClean="0"/>
              <a:t>ing XML tags and JSON braces</a:t>
            </a:r>
            <a:endParaRPr lang="en-US" dirty="0" smtClean="0"/>
          </a:p>
          <a:p>
            <a:pPr lvl="1"/>
            <a:r>
              <a:rPr lang="en-US" dirty="0" smtClean="0"/>
              <a:t>Context window relief: 30%~60% less token consumption</a:t>
            </a:r>
          </a:p>
          <a:p>
            <a:pPr lvl="1"/>
            <a:r>
              <a:rPr lang="en-US" dirty="0" smtClean="0"/>
              <a:t>Official Repositories:</a:t>
            </a:r>
          </a:p>
          <a:p>
            <a:pPr lvl="2"/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github.com/toon-format/toon</a:t>
            </a:r>
            <a:endParaRPr lang="en-US" dirty="0" smtClean="0"/>
          </a:p>
          <a:p>
            <a:pPr lvl="2"/>
            <a:r>
              <a:rPr lang="en-US" dirty="0">
                <a:hlinkClick r:id="rId3"/>
              </a:rPr>
              <a:t>https://github.com/toon-format/spec</a:t>
            </a:r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327540" y="6537361"/>
            <a:ext cx="18342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Format Comparison</a:t>
            </a:r>
            <a:endParaRPr lang="en-US" sz="1600" dirty="0"/>
          </a:p>
        </p:txBody>
      </p:sp>
      <p:sp>
        <p:nvSpPr>
          <p:cNvPr id="5" name="文本框 4"/>
          <p:cNvSpPr txBox="1"/>
          <p:nvPr/>
        </p:nvSpPr>
        <p:spPr>
          <a:xfrm>
            <a:off x="7026258" y="1563774"/>
            <a:ext cx="184224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{</a:t>
            </a:r>
          </a:p>
          <a:p>
            <a:r>
              <a:rPr lang="en-US" sz="1400" dirty="0" smtClean="0"/>
              <a:t>  "users": [</a:t>
            </a:r>
          </a:p>
          <a:p>
            <a:r>
              <a:rPr lang="en-US" sz="1400" dirty="0" smtClean="0"/>
              <a:t>    {</a:t>
            </a:r>
          </a:p>
          <a:p>
            <a:r>
              <a:rPr lang="en-US" sz="1400" dirty="0" smtClean="0"/>
              <a:t>      "id": 1,</a:t>
            </a:r>
          </a:p>
          <a:p>
            <a:r>
              <a:rPr lang="en-US" sz="1400" dirty="0" smtClean="0"/>
              <a:t>      "name": "Alice",</a:t>
            </a:r>
          </a:p>
          <a:p>
            <a:r>
              <a:rPr lang="en-US" sz="1400" dirty="0" smtClean="0"/>
              <a:t>      "role": "Admin",</a:t>
            </a:r>
          </a:p>
          <a:p>
            <a:r>
              <a:rPr lang="en-US" sz="1400" dirty="0" smtClean="0"/>
              <a:t>      "status": "Active"</a:t>
            </a:r>
          </a:p>
          <a:p>
            <a:r>
              <a:rPr lang="en-US" sz="1400" dirty="0" smtClean="0"/>
              <a:t>    },</a:t>
            </a:r>
          </a:p>
          <a:p>
            <a:r>
              <a:rPr lang="en-US" sz="1400" dirty="0" smtClean="0"/>
              <a:t>    {</a:t>
            </a:r>
          </a:p>
          <a:p>
            <a:r>
              <a:rPr lang="en-US" sz="1400" dirty="0" smtClean="0"/>
              <a:t>      "id": 2,</a:t>
            </a:r>
          </a:p>
          <a:p>
            <a:r>
              <a:rPr lang="en-US" sz="1400" dirty="0" smtClean="0"/>
              <a:t>      "name": "Bob",</a:t>
            </a:r>
          </a:p>
          <a:p>
            <a:r>
              <a:rPr lang="en-US" sz="1400" dirty="0" smtClean="0"/>
              <a:t>      "role": "User",</a:t>
            </a:r>
          </a:p>
          <a:p>
            <a:r>
              <a:rPr lang="en-US" sz="1400" dirty="0" smtClean="0"/>
              <a:t>      "status": "Inactive"</a:t>
            </a:r>
          </a:p>
          <a:p>
            <a:r>
              <a:rPr lang="en-US" sz="1400" dirty="0" smtClean="0"/>
              <a:t>    },</a:t>
            </a:r>
          </a:p>
          <a:p>
            <a:r>
              <a:rPr lang="en-US" sz="1400" dirty="0" smtClean="0"/>
              <a:t>    {</a:t>
            </a:r>
          </a:p>
          <a:p>
            <a:r>
              <a:rPr lang="en-US" sz="1400" dirty="0" smtClean="0"/>
              <a:t>      "id": 3,</a:t>
            </a:r>
          </a:p>
          <a:p>
            <a:r>
              <a:rPr lang="en-US" sz="1400" dirty="0" smtClean="0"/>
              <a:t>      "name": "Charlie",</a:t>
            </a:r>
          </a:p>
          <a:p>
            <a:r>
              <a:rPr lang="en-US" sz="1400" dirty="0" smtClean="0"/>
              <a:t>      "role": "User",</a:t>
            </a:r>
          </a:p>
          <a:p>
            <a:r>
              <a:rPr lang="en-US" sz="1400" dirty="0" smtClean="0"/>
              <a:t>      "status": "Active"</a:t>
            </a:r>
          </a:p>
          <a:p>
            <a:r>
              <a:rPr lang="en-US" sz="1400" dirty="0" smtClean="0"/>
              <a:t>    }</a:t>
            </a:r>
          </a:p>
          <a:p>
            <a:r>
              <a:rPr lang="en-US" sz="1400" dirty="0" smtClean="0"/>
              <a:t>  ]</a:t>
            </a:r>
          </a:p>
          <a:p>
            <a:r>
              <a:rPr lang="en-US" sz="1400" dirty="0" smtClean="0"/>
              <a:t>}</a:t>
            </a:r>
            <a:endParaRPr lang="en-US" sz="1400" dirty="0"/>
          </a:p>
        </p:txBody>
      </p:sp>
      <p:sp>
        <p:nvSpPr>
          <p:cNvPr id="6" name="矩形 5"/>
          <p:cNvSpPr/>
          <p:nvPr/>
        </p:nvSpPr>
        <p:spPr>
          <a:xfrm>
            <a:off x="9502562" y="3225238"/>
            <a:ext cx="258183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users[3]{</a:t>
            </a:r>
            <a:r>
              <a:rPr lang="en-US" sz="1400" dirty="0" err="1"/>
              <a:t>id,name,role,status</a:t>
            </a:r>
            <a:r>
              <a:rPr lang="en-US" sz="1400" dirty="0"/>
              <a:t>}:</a:t>
            </a:r>
          </a:p>
          <a:p>
            <a:r>
              <a:rPr lang="en-US" sz="1400" dirty="0"/>
              <a:t>1,Alice,Admin,Active</a:t>
            </a:r>
          </a:p>
          <a:p>
            <a:r>
              <a:rPr lang="en-US" sz="1400" dirty="0"/>
              <a:t>2,Bob,User,Inactive</a:t>
            </a:r>
          </a:p>
          <a:p>
            <a:r>
              <a:rPr lang="en-US" sz="1400" dirty="0"/>
              <a:t>3,Charlie,User,Active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339188" y="6304585"/>
            <a:ext cx="10945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JSON format</a:t>
            </a:r>
            <a:endParaRPr lang="en-US" sz="1400" dirty="0"/>
          </a:p>
        </p:txBody>
      </p:sp>
      <p:sp>
        <p:nvSpPr>
          <p:cNvPr id="8" name="文本框 7"/>
          <p:cNvSpPr txBox="1"/>
          <p:nvPr/>
        </p:nvSpPr>
        <p:spPr>
          <a:xfrm>
            <a:off x="10082089" y="6304585"/>
            <a:ext cx="11567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TOON format</a:t>
            </a:r>
            <a:endParaRPr lang="en-US" sz="14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894" y="4168125"/>
            <a:ext cx="5831353" cy="1736638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99678" y="6027587"/>
            <a:ext cx="6242721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 smtClean="0"/>
              <a:t>TOON achieves 76.4% accuracy (vs JSON's 75.0%) while using 39.9% fewer tokens.</a:t>
            </a:r>
          </a:p>
        </p:txBody>
      </p:sp>
      <p:sp>
        <p:nvSpPr>
          <p:cNvPr id="11" name="矩形 10"/>
          <p:cNvSpPr/>
          <p:nvPr/>
        </p:nvSpPr>
        <p:spPr>
          <a:xfrm>
            <a:off x="6959537" y="1623191"/>
            <a:ext cx="2277036" cy="47049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/>
          <p:cNvSpPr/>
          <p:nvPr/>
        </p:nvSpPr>
        <p:spPr>
          <a:xfrm>
            <a:off x="9544379" y="3242788"/>
            <a:ext cx="2232212" cy="9458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文本框 12"/>
          <p:cNvSpPr txBox="1"/>
          <p:nvPr/>
        </p:nvSpPr>
        <p:spPr>
          <a:xfrm>
            <a:off x="399678" y="6581001"/>
            <a:ext cx="44897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statistics source</a:t>
            </a:r>
            <a:r>
              <a:rPr lang="en-US" altLang="zh-CN" sz="1200" dirty="0" smtClean="0"/>
              <a:t>: </a:t>
            </a:r>
            <a:r>
              <a:rPr lang="en-US" altLang="zh-CN" sz="1200" dirty="0" smtClean="0">
                <a:hlinkClick r:id="rId5"/>
              </a:rPr>
              <a:t>https</a:t>
            </a:r>
            <a:r>
              <a:rPr lang="en-US" altLang="zh-CN" sz="1200" dirty="0">
                <a:hlinkClick r:id="rId5"/>
              </a:rPr>
              <a:t>://</a:t>
            </a:r>
            <a:r>
              <a:rPr lang="en-US" altLang="zh-CN" sz="1200" dirty="0" smtClean="0">
                <a:hlinkClick r:id="rId5"/>
              </a:rPr>
              <a:t>github.com/toon-format/toon#benchmarks</a:t>
            </a:r>
            <a:r>
              <a:rPr lang="en-US" altLang="zh-CN" sz="1200" dirty="0" smtClean="0"/>
              <a:t>  </a:t>
            </a:r>
            <a:endParaRPr lang="en-US" sz="1200" dirty="0"/>
          </a:p>
        </p:txBody>
      </p:sp>
      <p:sp>
        <p:nvSpPr>
          <p:cNvPr id="14" name="文本框 13"/>
          <p:cNvSpPr txBox="1"/>
          <p:nvPr/>
        </p:nvSpPr>
        <p:spPr>
          <a:xfrm>
            <a:off x="6534247" y="1363132"/>
            <a:ext cx="555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363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5B6B7A"/>
        </a:solidFill>
        <a:ln/>
      </a:spPr>
      <a:bodyPr/>
      <a:lstStyle/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9281</TotalTime>
  <Words>1404</Words>
  <Application>Microsoft Office PowerPoint</Application>
  <PresentationFormat>宽屏</PresentationFormat>
  <Paragraphs>240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宋体</vt:lpstr>
      <vt:lpstr>Arial</vt:lpstr>
      <vt:lpstr>Calibri</vt:lpstr>
      <vt:lpstr>Calibri Light</vt:lpstr>
      <vt:lpstr>Cambria</vt:lpstr>
      <vt:lpstr>Office 主题</vt:lpstr>
      <vt:lpstr>Rethinking YANG-based Service and Network Management in the Era of Agentic AI</vt:lpstr>
      <vt:lpstr>Agenda</vt:lpstr>
      <vt:lpstr>Background and Context</vt:lpstr>
      <vt:lpstr>Objective</vt:lpstr>
      <vt:lpstr>The RFC 8969 Paradigm for Model-driven Automation </vt:lpstr>
      <vt:lpstr>From Static Pipeline to Agent Hierarchy</vt:lpstr>
      <vt:lpstr>PowerPoint 演示文稿</vt:lpstr>
      <vt:lpstr>PowerPoint 演示文稿</vt:lpstr>
      <vt:lpstr>Core Challenges Analysis</vt:lpstr>
      <vt:lpstr>Gap Analysis 1: The Semantic Divide</vt:lpstr>
      <vt:lpstr>PowerPoint 演示文稿</vt:lpstr>
      <vt:lpstr>PowerPoint 演示文稿</vt:lpstr>
      <vt:lpstr>Potential Ways Forward</vt:lpstr>
      <vt:lpstr>Mapping Between the Four Paths and the Gaps</vt:lpstr>
      <vt:lpstr>YANG-driven Operations as AI-Invocable Tools</vt:lpstr>
      <vt:lpstr>Semantic Enrichment via Knowledge Graphs</vt:lpstr>
      <vt:lpstr>Declarative Intent/Policy Overlay</vt:lpstr>
      <vt:lpstr>Token-efficient Data Format for LLM input? TOON?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maqiufang (A)</dc:creator>
  <cp:lastModifiedBy>maqiufang (A)</cp:lastModifiedBy>
  <cp:revision>75</cp:revision>
  <dcterms:created xsi:type="dcterms:W3CDTF">2026-07-03T09:07:50Z</dcterms:created>
  <dcterms:modified xsi:type="dcterms:W3CDTF">2026-07-13T11:25:28Z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readonly">
    <vt:lpwstr/>
  </property>
  <property fmtid="{D5CDD505-2E9C-101B-9397-08002B2CF9AE}" pid="3" name="_change">
    <vt:lpwstr/>
  </property>
  <property fmtid="{D5CDD505-2E9C-101B-9397-08002B2CF9AE}" pid="4" name="_full-control">
    <vt:lpwstr/>
  </property>
  <property fmtid="{D5CDD505-2E9C-101B-9397-08002B2CF9AE}" pid="5" name="sflag">
    <vt:lpwstr>1782898301</vt:lpwstr>
  </property>
</Properties>
</file>