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80" d="100"/>
          <a:sy n="80" d="100"/>
        </p:scale>
        <p:origin x="60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27A8EF-B618-45FC-A1AB-EAFFA9191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1E61DD0-C5A4-4371-B50E-B1C911772D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C54048-0D74-43DC-9291-DFE94D677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9BCB19-7E1C-4B3A-A4FE-9C69C3DD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E0E44A-3DDE-4EF9-92DB-FA0A7CB95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8776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8A2CC-271D-4F26-9AFD-83EDB19AC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1557DB-2F35-48CD-8644-181EDEDC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3D0912-A4EB-4D57-94F0-154DE0AF0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4DCB4C-4AED-4A07-B1DE-F90E28D3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A26FB8-A57E-411B-963D-F82BF646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8282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C2A2-1B68-466F-B6BD-F31C4311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888A8F-5FE0-4686-9A3C-5B60926CD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3F1393-BF8A-464B-BC3D-D3E48D215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82A640-5224-42C1-8C0B-A910D5A8E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D84918-1044-4BD8-9CA6-E7568ECCC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0846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80E2CF-D6DF-4F84-96F7-51710B53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FD40B0-9653-4B2B-B98E-58BE5A8836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C79EBB-6CC0-4D09-8F09-4FACC597D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E713B0C-E8B0-46D9-9529-9DD49221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469EBD1-A387-46D5-A779-F15B943D8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0D87DF-32E7-4A25-A06F-BD08276A0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0030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50E6B8-06B1-4775-BF76-451B61B7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4F2227-23B8-487B-B2DD-FAFA62069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BCA3B2B-FFD4-454D-82B5-F8A4FAD4A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ACA517-FB69-474D-8ED9-F3A024D474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93FB18-1AB9-4FEE-B4C5-300D5956F8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15052C3-8663-4375-9822-DF1BCB375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17DFB13-B6E0-4A60-A51B-6B349668B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D23DB3-EFFD-4A58-8967-ED07CB65A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6842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C5A552-D46C-441E-ABA9-252F4D870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E27567-6F25-482F-8358-10F3BB7F9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DF33EB9-0EEE-445F-87E9-B7EE8F23F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9FC5A9E-3DEE-4BE2-8776-F102C221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5706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7F4D103-63DB-4E29-AB60-94510A38C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0C4E14F-8F6F-46FF-87A3-8388C0986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DDE86F7-2B44-4B49-83B5-A9D5B972A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303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568191-0F6C-414C-97F5-0E50B5D3F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2AC296-366D-4320-93E9-B809BDC94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063932B-C39C-4195-9F36-A8464378D8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B1CCD8-2A36-48D7-B593-AACA0D70E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50A4F1-2C73-43CE-A916-C9E07B3AD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BA87266-2570-4E71-BFBC-6AA64821C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80548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0599B2-24E7-4391-8F55-0A344B747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E374B4F-8A27-4406-AC7D-AB52920B6B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05818E5-25C3-4991-8934-281EA40C84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1301B6-1149-4DDD-9C1C-BC94F79D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5B3B54-9B23-4A85-A22D-CFC4D62C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3540A1-D2FC-4C4F-8730-45AE7AE81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1664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8F8E7F-BBFF-4EB3-A6B8-C4DFA3E7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AA5EB40-AAC0-48FC-9AC4-9BD164BE1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34DB7F-6493-4E49-887B-EB5B1D4A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317DDB-EBD2-459C-869A-0B0DF1E14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E60790-4E03-4274-B0F8-90FA6860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5766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0062ADF-F931-458A-BBFE-F1CE26EEBA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C9C3CE-8F31-4734-9A18-95CCE43809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215F3C-B04A-447A-B93C-963B50E74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D3474F-AB63-4566-95BD-6967B3191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D7254AE-3680-4BA3-8F0D-0484F84EE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041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9A1AFFF-38F9-4CF8-89C5-C23CD407E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5E842E-D47B-4800-8B91-BF2384D97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CA4C76-C2F9-4567-95EC-AD2122AE67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3279A-1075-4D69-8304-6D9EBC8FBB92}" type="datetimeFigureOut">
              <a:rPr lang="zh-CN" altLang="en-US" smtClean="0"/>
              <a:t>2026/7/11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914F35-1A1A-4188-8437-3AD2F48F2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4BC865-325B-47A4-BA1C-86F68BC298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7D336-22F4-4823-98F6-54C15A43D92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8483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87E166CE-5650-4880-A211-9F72AED65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20026"/>
            <a:ext cx="10127226" cy="1655762"/>
          </a:xfrm>
        </p:spPr>
        <p:txBody>
          <a:bodyPr/>
          <a:lstStyle/>
          <a:p>
            <a:r>
              <a:rPr lang="en-US" altLang="zh-CN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 architecture and requirements briefing for supervising autonomous AI agents deployed for network operations</a:t>
            </a:r>
          </a:p>
          <a:p>
            <a:endParaRPr lang="zh-CN" altLang="en-US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41F9B342-E7C0-4E51-8237-C08E56CF21C0}"/>
              </a:ext>
            </a:extLst>
          </p:cNvPr>
          <p:cNvSpPr/>
          <p:nvPr/>
        </p:nvSpPr>
        <p:spPr>
          <a:xfrm>
            <a:off x="1078597" y="2158682"/>
            <a:ext cx="10248164" cy="14433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lang="en-US" sz="3600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and Requirements for Observability, C&amp;I of Network Management Agents</a:t>
            </a:r>
            <a:endParaRPr lang="en-US" sz="3600" dirty="0">
              <a:latin typeface="Calibri" panose="020F0502020204030204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1CF869-3C14-4C68-A6D4-EDCE3E969CFD}"/>
              </a:ext>
            </a:extLst>
          </p:cNvPr>
          <p:cNvSpPr txBox="1"/>
          <p:nvPr/>
        </p:nvSpPr>
        <p:spPr>
          <a:xfrm>
            <a:off x="68740" y="6286616"/>
            <a:ext cx="8042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https://datatracker.ietf.org/doc/draft-mcw-opsawg-icon-requirements/</a:t>
            </a:r>
          </a:p>
        </p:txBody>
      </p:sp>
    </p:spTree>
    <p:extLst>
      <p:ext uri="{BB962C8B-B14F-4D97-AF65-F5344CB8AC3E}">
        <p14:creationId xmlns:p14="http://schemas.microsoft.com/office/powerpoint/2010/main" val="2064394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02B728-6D0A-4D88-A49E-3AE905DDB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69056"/>
            <a:ext cx="10515600" cy="1325563"/>
          </a:xfrm>
        </p:spPr>
        <p:txBody>
          <a:bodyPr/>
          <a:lstStyle/>
          <a:p>
            <a:r>
              <a:rPr lang="en-US" altLang="zh-CN" dirty="0"/>
              <a:t>A Reference Architecture</a:t>
            </a:r>
            <a:endParaRPr lang="zh-CN" altLang="en-US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084A49AC-22B0-479D-84F4-E5240D126EB4}"/>
              </a:ext>
            </a:extLst>
          </p:cNvPr>
          <p:cNvSpPr/>
          <p:nvPr/>
        </p:nvSpPr>
        <p:spPr>
          <a:xfrm>
            <a:off x="548640" y="1394619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AF1F5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E14E1904-9F56-42DE-94AC-08636BE459DB}"/>
              </a:ext>
            </a:extLst>
          </p:cNvPr>
          <p:cNvSpPr/>
          <p:nvPr/>
        </p:nvSpPr>
        <p:spPr>
          <a:xfrm>
            <a:off x="731520" y="1467771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SUPERVISION PLANE</a:t>
            </a:r>
            <a:endParaRPr lang="en-US" sz="1050" dirty="0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311F6CCC-59F5-4E1D-90B0-63E7606D4AFD}"/>
              </a:ext>
            </a:extLst>
          </p:cNvPr>
          <p:cNvSpPr/>
          <p:nvPr/>
        </p:nvSpPr>
        <p:spPr>
          <a:xfrm>
            <a:off x="822960" y="1778667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1A2340"/>
          </a:solidFill>
          <a:ln w="12700">
            <a:solidFill>
              <a:srgbClr val="1A2340"/>
            </a:solidFill>
            <a:prstDash val="solid"/>
          </a:ln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3FFC70D4-DBA4-48C3-9A8E-E4EDAE9D7836}"/>
              </a:ext>
            </a:extLst>
          </p:cNvPr>
          <p:cNvSpPr/>
          <p:nvPr/>
        </p:nvSpPr>
        <p:spPr>
          <a:xfrm>
            <a:off x="822960" y="1778667"/>
            <a:ext cx="10515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</a:t>
            </a:r>
            <a:endParaRPr lang="en-US" sz="1300" dirty="0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A1E3834F-61D2-47DF-A6DD-1128B2086890}"/>
              </a:ext>
            </a:extLst>
          </p:cNvPr>
          <p:cNvSpPr/>
          <p:nvPr/>
        </p:nvSpPr>
        <p:spPr>
          <a:xfrm>
            <a:off x="822960" y="2290731"/>
            <a:ext cx="10515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BD8BDB0D-9DFE-4382-99D3-4D92871BEBB8}"/>
              </a:ext>
            </a:extLst>
          </p:cNvPr>
          <p:cNvSpPr/>
          <p:nvPr/>
        </p:nvSpPr>
        <p:spPr>
          <a:xfrm>
            <a:off x="960120" y="2318163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Client</a:t>
            </a:r>
            <a:endParaRPr lang="en-US" sz="950" dirty="0"/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4C3E7FC3-82A4-44D7-9B20-FF42D54A4D31}"/>
              </a:ext>
            </a:extLst>
          </p:cNvPr>
          <p:cNvSpPr/>
          <p:nvPr/>
        </p:nvSpPr>
        <p:spPr>
          <a:xfrm>
            <a:off x="960120" y="2565051"/>
            <a:ext cx="3230880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DE8F064D-56AD-4F90-AB08-0714FA4E4182}"/>
              </a:ext>
            </a:extLst>
          </p:cNvPr>
          <p:cNvSpPr/>
          <p:nvPr/>
        </p:nvSpPr>
        <p:spPr>
          <a:xfrm>
            <a:off x="960120" y="2565051"/>
            <a:ext cx="3230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50911C78-4C0C-4660-87F8-D05FE2DEFB5E}"/>
              </a:ext>
            </a:extLst>
          </p:cNvPr>
          <p:cNvSpPr/>
          <p:nvPr/>
        </p:nvSpPr>
        <p:spPr>
          <a:xfrm>
            <a:off x="4328160" y="2565051"/>
            <a:ext cx="3230880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C0211E05-C7AE-4C7E-916D-D648E59EAF77}"/>
              </a:ext>
            </a:extLst>
          </p:cNvPr>
          <p:cNvSpPr/>
          <p:nvPr/>
        </p:nvSpPr>
        <p:spPr>
          <a:xfrm>
            <a:off x="4328160" y="2565051"/>
            <a:ext cx="3230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100" dirty="0"/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11A12F61-F2D3-4C92-92F2-93CF044584DF}"/>
              </a:ext>
            </a:extLst>
          </p:cNvPr>
          <p:cNvSpPr/>
          <p:nvPr/>
        </p:nvSpPr>
        <p:spPr>
          <a:xfrm>
            <a:off x="7696200" y="2565051"/>
            <a:ext cx="3230880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99537C58-24EC-4FCF-8EDF-6445F71A6305}"/>
              </a:ext>
            </a:extLst>
          </p:cNvPr>
          <p:cNvSpPr/>
          <p:nvPr/>
        </p:nvSpPr>
        <p:spPr>
          <a:xfrm>
            <a:off x="7696200" y="2565051"/>
            <a:ext cx="3230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100" dirty="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11C60039-1D73-45C5-BCDD-09191E6C51F7}"/>
              </a:ext>
            </a:extLst>
          </p:cNvPr>
          <p:cNvSpPr/>
          <p:nvPr/>
        </p:nvSpPr>
        <p:spPr>
          <a:xfrm>
            <a:off x="6172200" y="3113691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Interface</a:t>
            </a:r>
            <a:endParaRPr lang="en-US" sz="1050" dirty="0"/>
          </a:p>
        </p:txBody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71AD3023-618D-4E2C-BC52-E288B8EEC79D}"/>
              </a:ext>
            </a:extLst>
          </p:cNvPr>
          <p:cNvSpPr/>
          <p:nvPr/>
        </p:nvSpPr>
        <p:spPr>
          <a:xfrm>
            <a:off x="548640" y="3506883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5D74EED8-82B6-4AA2-A162-53BF5C8F9FA8}"/>
              </a:ext>
            </a:extLst>
          </p:cNvPr>
          <p:cNvSpPr/>
          <p:nvPr/>
        </p:nvSpPr>
        <p:spPr>
          <a:xfrm>
            <a:off x="548640" y="3506883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ENFORCEMENT COMPONENT  (ICON Server)</a:t>
            </a:r>
            <a:endParaRPr lang="en-US" sz="1300" dirty="0"/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BE393F0A-F3C3-4A84-8146-65A2F5B9C1A0}"/>
              </a:ext>
            </a:extLst>
          </p:cNvPr>
          <p:cNvSpPr/>
          <p:nvPr/>
        </p:nvSpPr>
        <p:spPr>
          <a:xfrm>
            <a:off x="548640" y="4375563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EAF1F5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9038E49F-4FAC-49B4-9ADA-A881F74F31DF}"/>
              </a:ext>
            </a:extLst>
          </p:cNvPr>
          <p:cNvSpPr/>
          <p:nvPr/>
        </p:nvSpPr>
        <p:spPr>
          <a:xfrm>
            <a:off x="731520" y="4448715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EXECUTION PLANE</a:t>
            </a:r>
            <a:endParaRPr lang="en-US" sz="1050" dirty="0"/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09DA8E31-BD8F-4396-9FC4-6CC45869B204}"/>
              </a:ext>
            </a:extLst>
          </p:cNvPr>
          <p:cNvSpPr/>
          <p:nvPr/>
        </p:nvSpPr>
        <p:spPr>
          <a:xfrm>
            <a:off x="822960" y="4759611"/>
            <a:ext cx="2526030" cy="438912"/>
          </a:xfrm>
          <a:prstGeom prst="roundRect">
            <a:avLst>
              <a:gd name="adj" fmla="val 1041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E40C1439-EB9A-43B2-AA3A-8EE1B5652F42}"/>
              </a:ext>
            </a:extLst>
          </p:cNvPr>
          <p:cNvSpPr/>
          <p:nvPr/>
        </p:nvSpPr>
        <p:spPr>
          <a:xfrm>
            <a:off x="822960" y="4759611"/>
            <a:ext cx="252603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250" dirty="0"/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D59070DD-5225-491E-8C80-6A3E51E921B4}"/>
              </a:ext>
            </a:extLst>
          </p:cNvPr>
          <p:cNvSpPr/>
          <p:nvPr/>
        </p:nvSpPr>
        <p:spPr>
          <a:xfrm>
            <a:off x="3486150" y="4759611"/>
            <a:ext cx="2526030" cy="438912"/>
          </a:xfrm>
          <a:prstGeom prst="roundRect">
            <a:avLst>
              <a:gd name="adj" fmla="val 1041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9836E200-FC5D-41DE-90E5-7F5B9FC90E7A}"/>
              </a:ext>
            </a:extLst>
          </p:cNvPr>
          <p:cNvSpPr/>
          <p:nvPr/>
        </p:nvSpPr>
        <p:spPr>
          <a:xfrm>
            <a:off x="3486150" y="4759611"/>
            <a:ext cx="252603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250" dirty="0"/>
          </a:p>
        </p:txBody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CF120B50-4F4A-4494-9B6C-9D08C33419A1}"/>
              </a:ext>
            </a:extLst>
          </p:cNvPr>
          <p:cNvSpPr/>
          <p:nvPr/>
        </p:nvSpPr>
        <p:spPr>
          <a:xfrm>
            <a:off x="6149340" y="4759611"/>
            <a:ext cx="252603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⋯</a:t>
            </a:r>
            <a:endParaRPr lang="en-US" sz="2000" dirty="0"/>
          </a:p>
        </p:txBody>
      </p:sp>
      <p:sp>
        <p:nvSpPr>
          <p:cNvPr id="28" name="Shape 27">
            <a:extLst>
              <a:ext uri="{FF2B5EF4-FFF2-40B4-BE49-F238E27FC236}">
                <a16:creationId xmlns:a16="http://schemas.microsoft.com/office/drawing/2014/main" id="{C28DDFF7-C3FB-49CE-B089-21321C0413AB}"/>
              </a:ext>
            </a:extLst>
          </p:cNvPr>
          <p:cNvSpPr/>
          <p:nvPr/>
        </p:nvSpPr>
        <p:spPr>
          <a:xfrm>
            <a:off x="8812530" y="4759611"/>
            <a:ext cx="2526030" cy="438912"/>
          </a:xfrm>
          <a:prstGeom prst="roundRect">
            <a:avLst>
              <a:gd name="adj" fmla="val 1041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Text 28">
            <a:extLst>
              <a:ext uri="{FF2B5EF4-FFF2-40B4-BE49-F238E27FC236}">
                <a16:creationId xmlns:a16="http://schemas.microsoft.com/office/drawing/2014/main" id="{A88621C6-F808-4821-A0D9-BD72E86D0491}"/>
              </a:ext>
            </a:extLst>
          </p:cNvPr>
          <p:cNvSpPr/>
          <p:nvPr/>
        </p:nvSpPr>
        <p:spPr>
          <a:xfrm>
            <a:off x="8812530" y="4759611"/>
            <a:ext cx="252603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</a:t>
            </a:r>
            <a:endParaRPr lang="en-US" sz="1250" dirty="0"/>
          </a:p>
        </p:txBody>
      </p:sp>
      <p:sp>
        <p:nvSpPr>
          <p:cNvPr id="30" name="Shape 29">
            <a:extLst>
              <a:ext uri="{FF2B5EF4-FFF2-40B4-BE49-F238E27FC236}">
                <a16:creationId xmlns:a16="http://schemas.microsoft.com/office/drawing/2014/main" id="{A6497F40-84A8-49D8-8AC1-DFA838DF2B8C}"/>
              </a:ext>
            </a:extLst>
          </p:cNvPr>
          <p:cNvSpPr/>
          <p:nvPr/>
        </p:nvSpPr>
        <p:spPr>
          <a:xfrm>
            <a:off x="822960" y="5326539"/>
            <a:ext cx="105156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30">
            <a:extLst>
              <a:ext uri="{FF2B5EF4-FFF2-40B4-BE49-F238E27FC236}">
                <a16:creationId xmlns:a16="http://schemas.microsoft.com/office/drawing/2014/main" id="{D8FA34BD-9341-44A4-A89C-C93F37755A15}"/>
              </a:ext>
            </a:extLst>
          </p:cNvPr>
          <p:cNvSpPr/>
          <p:nvPr/>
        </p:nvSpPr>
        <p:spPr>
          <a:xfrm>
            <a:off x="822960" y="5326539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Modules &amp; Tools</a:t>
            </a:r>
            <a:endParaRPr lang="en-US" sz="1150" dirty="0"/>
          </a:p>
        </p:txBody>
      </p:sp>
      <p:sp>
        <p:nvSpPr>
          <p:cNvPr id="33" name="Text 32">
            <a:extLst>
              <a:ext uri="{FF2B5EF4-FFF2-40B4-BE49-F238E27FC236}">
                <a16:creationId xmlns:a16="http://schemas.microsoft.com/office/drawing/2014/main" id="{DB643E20-E179-4E84-B69F-68EC3ED12F7C}"/>
              </a:ext>
            </a:extLst>
          </p:cNvPr>
          <p:cNvSpPr/>
          <p:nvPr/>
        </p:nvSpPr>
        <p:spPr>
          <a:xfrm>
            <a:off x="6172200" y="5820315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</a:t>
            </a:r>
            <a:endParaRPr lang="en-US" sz="1050" dirty="0"/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1CE22825-30C6-4FD9-8CAC-D03ECB628822}"/>
              </a:ext>
            </a:extLst>
          </p:cNvPr>
          <p:cNvSpPr/>
          <p:nvPr/>
        </p:nvSpPr>
        <p:spPr>
          <a:xfrm>
            <a:off x="548640" y="6122067"/>
            <a:ext cx="11064240" cy="411480"/>
          </a:xfrm>
          <a:prstGeom prst="roundRect">
            <a:avLst>
              <a:gd name="adj" fmla="val 17778"/>
            </a:avLst>
          </a:prstGeom>
          <a:solidFill>
            <a:srgbClr val="1A2340"/>
          </a:solidFill>
          <a:ln w="12700">
            <a:solidFill>
              <a:srgbClr val="1A2340"/>
            </a:solidFill>
            <a:prstDash val="solid"/>
          </a:ln>
        </p:spPr>
      </p:sp>
      <p:sp>
        <p:nvSpPr>
          <p:cNvPr id="35" name="Text 34">
            <a:extLst>
              <a:ext uri="{FF2B5EF4-FFF2-40B4-BE49-F238E27FC236}">
                <a16:creationId xmlns:a16="http://schemas.microsoft.com/office/drawing/2014/main" id="{70C80CF3-6AC4-488C-A61D-DB993BF51A3F}"/>
              </a:ext>
            </a:extLst>
          </p:cNvPr>
          <p:cNvSpPr/>
          <p:nvPr/>
        </p:nvSpPr>
        <p:spPr>
          <a:xfrm>
            <a:off x="548640" y="6122067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INFRASTRUCTURE</a:t>
            </a:r>
            <a:endParaRPr lang="en-US" sz="1200" dirty="0"/>
          </a:p>
        </p:txBody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B671720F-120F-45D2-9857-9277C20BA6D3}"/>
              </a:ext>
            </a:extLst>
          </p:cNvPr>
          <p:cNvSpPr/>
          <p:nvPr/>
        </p:nvSpPr>
        <p:spPr>
          <a:xfrm>
            <a:off x="457200" y="6176931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1000" dirty="0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EBD885E5-79FC-4839-855C-3F187FD4B3EB}"/>
              </a:ext>
            </a:extLst>
          </p:cNvPr>
          <p:cNvCxnSpPr/>
          <p:nvPr/>
        </p:nvCxnSpPr>
        <p:spPr>
          <a:xfrm>
            <a:off x="5937040" y="3071549"/>
            <a:ext cx="0" cy="43533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8941FB49-34A1-410E-802B-B9979F3A27BB}"/>
              </a:ext>
            </a:extLst>
          </p:cNvPr>
          <p:cNvCxnSpPr/>
          <p:nvPr/>
        </p:nvCxnSpPr>
        <p:spPr>
          <a:xfrm>
            <a:off x="5943600" y="3940229"/>
            <a:ext cx="0" cy="43533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C32315DC-1FC1-4A2E-AF69-4F5D5251C572}"/>
              </a:ext>
            </a:extLst>
          </p:cNvPr>
          <p:cNvCxnSpPr>
            <a:cxnSpLocks/>
          </p:cNvCxnSpPr>
          <p:nvPr/>
        </p:nvCxnSpPr>
        <p:spPr>
          <a:xfrm>
            <a:off x="5986338" y="5792883"/>
            <a:ext cx="0" cy="32918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784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9543EA-3131-444F-84A4-D1733017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Agent Observability Requirements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A5A97EF-FE90-45DB-B31F-611000FFB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See what agents did, why they did it, and how they're performing.</a:t>
            </a:r>
          </a:p>
          <a:p>
            <a:r>
              <a:rPr lang="en-US" altLang="zh-CN" dirty="0"/>
              <a:t>OBS-1: Execution Trajectory Capture</a:t>
            </a:r>
          </a:p>
          <a:p>
            <a:endParaRPr lang="en-US" altLang="zh-CN" dirty="0"/>
          </a:p>
          <a:p>
            <a:r>
              <a:rPr lang="en-US" altLang="zh-CN" dirty="0"/>
              <a:t>OBS-2: Reasoning Provenance Capture</a:t>
            </a:r>
          </a:p>
          <a:p>
            <a:endParaRPr lang="en-US" altLang="zh-CN" dirty="0"/>
          </a:p>
          <a:p>
            <a:r>
              <a:rPr lang="en-US" altLang="zh-CN" dirty="0"/>
              <a:t>OBS-3: Operational Metrics Collection</a:t>
            </a:r>
          </a:p>
          <a:p>
            <a:endParaRPr lang="en-US" altLang="zh-CN" dirty="0"/>
          </a:p>
          <a:p>
            <a:r>
              <a:rPr lang="en-US" altLang="zh-CN" dirty="0"/>
              <a:t>OBS-4: Multi-Agent Correlation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47912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4FAEC5-7814-4802-BDD4-BD5389F73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011" y="229952"/>
            <a:ext cx="11215977" cy="1325563"/>
          </a:xfrm>
        </p:spPr>
        <p:txBody>
          <a:bodyPr>
            <a:normAutofit/>
          </a:bodyPr>
          <a:lstStyle/>
          <a:p>
            <a:r>
              <a:rPr lang="en-US" altLang="zh-CN" dirty="0"/>
              <a:t>Agent Control Requirements 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448AB7-F29E-43C6-8C89-947BD405C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zh-CN" dirty="0"/>
              <a:t>Set a boundary for agent behaviors.</a:t>
            </a:r>
          </a:p>
          <a:p>
            <a:r>
              <a:rPr lang="en-US" altLang="zh-CN" dirty="0"/>
              <a:t>CTL-1: Access &amp; Permission</a:t>
            </a:r>
          </a:p>
          <a:p>
            <a:endParaRPr lang="en-US" altLang="zh-CN" dirty="0"/>
          </a:p>
          <a:p>
            <a:r>
              <a:rPr lang="en-US" altLang="zh-CN" dirty="0"/>
              <a:t>CTL-2: Intent Validation &amp; Alignment</a:t>
            </a:r>
          </a:p>
          <a:p>
            <a:endParaRPr lang="en-US" altLang="zh-CN" dirty="0"/>
          </a:p>
          <a:p>
            <a:r>
              <a:rPr lang="en-US" altLang="zh-CN" dirty="0"/>
              <a:t>CTL-3: Temporal &amp; Data/Context Validity</a:t>
            </a:r>
          </a:p>
          <a:p>
            <a:endParaRPr lang="en-US" altLang="zh-CN" dirty="0"/>
          </a:p>
          <a:p>
            <a:r>
              <a:rPr lang="en-US" altLang="zh-CN" dirty="0"/>
              <a:t>CTL-4: Authorization &amp; Approval</a:t>
            </a:r>
          </a:p>
          <a:p>
            <a:endParaRPr lang="en-US" altLang="zh-CN" dirty="0"/>
          </a:p>
          <a:p>
            <a:r>
              <a:rPr lang="en-US" altLang="zh-CN" dirty="0"/>
              <a:t>CTL-5: Failure &amp; Liveness</a:t>
            </a:r>
          </a:p>
          <a:p>
            <a:endParaRPr lang="en-US" altLang="zh-CN" dirty="0"/>
          </a:p>
          <a:p>
            <a:r>
              <a:rPr lang="en-US" altLang="zh-CN" dirty="0"/>
              <a:t>CTL-6: Global &amp; Dynamic Boundary Adaptation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05180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A4F520-B074-4471-B42B-B29DFB85A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Agent Intervention Requirements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56D31C-579C-4A31-81EF-445957A06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Emergency interruption when the agent deviates from expected behaviors.</a:t>
            </a:r>
          </a:p>
          <a:p>
            <a:r>
              <a:rPr lang="en-US" altLang="zh-CN" dirty="0"/>
              <a:t>INT-1: Execution Interruption</a:t>
            </a:r>
          </a:p>
          <a:p>
            <a:endParaRPr lang="en-US" altLang="zh-CN" dirty="0"/>
          </a:p>
          <a:p>
            <a:r>
              <a:rPr lang="en-US" altLang="zh-CN" dirty="0"/>
              <a:t>INT-2: Rollback and Recovery</a:t>
            </a:r>
          </a:p>
          <a:p>
            <a:endParaRPr lang="en-US" altLang="zh-CN" dirty="0"/>
          </a:p>
          <a:p>
            <a:r>
              <a:rPr lang="en-US" altLang="zh-CN" dirty="0"/>
              <a:t>INT-3: Escalation</a:t>
            </a:r>
          </a:p>
          <a:p>
            <a:endParaRPr lang="en-US" altLang="zh-CN" dirty="0"/>
          </a:p>
          <a:p>
            <a:r>
              <a:rPr lang="en-US" altLang="zh-CN" dirty="0"/>
              <a:t>INT-4: Correction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95912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200</Words>
  <Application>Microsoft Office PowerPoint</Application>
  <PresentationFormat>宽屏</PresentationFormat>
  <Paragraphs>52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等线 Light</vt:lpstr>
      <vt:lpstr>Arial</vt:lpstr>
      <vt:lpstr>Calibri</vt:lpstr>
      <vt:lpstr>Cambria</vt:lpstr>
      <vt:lpstr>Office 主题​​</vt:lpstr>
      <vt:lpstr>PowerPoint 演示文稿</vt:lpstr>
      <vt:lpstr>A Reference Architecture</vt:lpstr>
      <vt:lpstr>Agent Observability Requirements</vt:lpstr>
      <vt:lpstr>Agent Control Requirements </vt:lpstr>
      <vt:lpstr>Agent Intervention Requirements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maqiufang (A)</dc:creator>
  <cp:lastModifiedBy>maqiufang (A)</cp:lastModifiedBy>
  <cp:revision>5</cp:revision>
  <dcterms:created xsi:type="dcterms:W3CDTF">2026-07-11T10:37:18Z</dcterms:created>
  <dcterms:modified xsi:type="dcterms:W3CDTF">2026-07-11T13:33:22Z</dcterms:modified>
</cp:coreProperties>
</file>