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0" r:id="rId4"/>
    <p:sldId id="257" r:id="rId5"/>
    <p:sldId id="258" r:id="rId6"/>
    <p:sldId id="259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063" autoAdjust="0"/>
  </p:normalViewPr>
  <p:slideViewPr>
    <p:cSldViewPr snapToGrid="0">
      <p:cViewPr varScale="1">
        <p:scale>
          <a:sx n="108" d="100"/>
          <a:sy n="108" d="100"/>
        </p:scale>
        <p:origin x="6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D6D93-B7C5-4886-96FE-E919881FC1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227E5-88AC-47A5-A984-521F15CE1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14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Orchestration/supervision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227E5-88AC-47A5-A984-521F15CE18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21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Examples to How to</a:t>
            </a:r>
            <a:r>
              <a:rPr lang="en-US" baseline="0" dirty="0" smtClean="0"/>
              <a:t> derive the requirements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227E5-88AC-47A5-A984-521F15CE18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13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527A8EF-B618-45FC-A1AB-EAFFA9191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21E61DD0-C5A4-4371-B50E-B1C911772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98C54048-0D74-43DC-9291-DFE94D67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E99BCB19-7E1C-4B3A-A4FE-9C69C3DD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9DE0E44A-3DDE-4EF9-92DB-FA0A7CB9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776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0C8A2CC-271D-4F26-9AFD-83EDB19AC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1557DB-2F35-48CD-8644-181EDEDCA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2C3D0912-A4EB-4D57-94F0-154DE0AF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504DCB4C-4AED-4A07-B1DE-F90E28D38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38A26FB8-A57E-411B-963D-F82BF646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28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CA1C2A2-1B68-466F-B6BD-F31C4311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2888A8F-5FE0-4686-9A3C-5B60926CD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FA3F1393-BF8A-464B-BC3D-D3E48D21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0882A640-5224-42C1-8C0B-A910D5A8E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FFD84918-1044-4BD8-9CA6-E7568ECC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84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A80E2CF-D6DF-4F84-96F7-51710B53A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AFD40B0-9653-4B2B-B98E-58BE5A883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C1C79EBB-6CC0-4D09-8F09-4FACC597D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BE713B0C-E8B0-46D9-9529-9DD49221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7469EBD1-A387-46D5-A779-F15B943D8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A00D87DF-32E7-4A25-A06F-BD08276A0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03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A50E6B8-06B1-4775-BF76-451B61B77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0E4F2227-23B8-487B-B2DD-FAFA62069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5BCA3B2B-FFD4-454D-82B5-F8A4FAD4A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6CACA517-FB69-474D-8ED9-F3A024D47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5193FB18-1AB9-4FEE-B4C5-300D5956F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F15052C3-8663-4375-9822-DF1BCB375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A17DFB13-B6E0-4A60-A51B-6B349668B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DBD23DB3-EFFD-4A58-8967-ED07CB65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842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1C5A552-D46C-441E-ABA9-252F4D87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59E27567-6F25-482F-8358-10F3BB7F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5DF33EB9-0EEE-445F-87E9-B7EE8F23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A9FC5A9E-3DEE-4BE2-8776-F102C221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70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17F4D103-63DB-4E29-AB60-94510A38C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C0C4E14F-8F6F-46FF-87A3-8388C098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8DDE86F7-2B44-4B49-83B5-A9D5B972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037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5568191-0F6C-414C-97F5-0E50B5D3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32AC296-366D-4320-93E9-B809BDC94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0063932B-C39C-4195-9F36-A8464378D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A0B1CCD8-2A36-48D7-B593-AACA0D70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5C50A4F1-2C73-43CE-A916-C9E07B3AD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CBA87266-2570-4E71-BFBC-6AA64821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0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E0599B2-24E7-4391-8F55-0A344B747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BE374B4F-8A27-4406-AC7D-AB52920B6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305818E5-25C3-4991-8934-281EA40C8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941301B6-1149-4DDD-9C1C-BC94F79D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A35B3B54-9B23-4A85-A22D-CFC4D62C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5E3540A1-D2FC-4C4F-8730-45AE7AE81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664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78F8E7F-BBFF-4EB3-A6B8-C4DFA3E7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AAA5EB40-AAC0-48FC-9AC4-9BD164BE1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5034DB7F-6493-4E49-887B-EB5B1D4A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F0317DDB-EBD2-459C-869A-0B0DF1E1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49E60790-4E03-4274-B0F8-90FA6860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76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A0062ADF-F931-458A-BBFE-F1CE26EEB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B7C9C3CE-8F31-4734-9A18-95CCE4380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3E215F3C-B04A-447A-B93C-963B50E74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0FD3474F-AB63-4566-95BD-6967B3191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3D7254AE-3680-4BA3-8F0D-0484F84E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41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F9A1AFFF-38F9-4CF8-89C5-C23CD407E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D5E842E-D47B-4800-8B91-BF2384D97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6FCA4C76-C2F9-4567-95EC-AD2122AE67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3279A-1075-4D69-8304-6D9EBC8FBB9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42914F35-1A1A-4188-8437-3AD2F48F2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934BC865-325B-47A4-BA1C-86F68BC29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7D336-22F4-4823-98F6-54C15A43D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48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87E166CE-5650-4880-A211-9F72AED65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46201"/>
            <a:ext cx="8991600" cy="1655762"/>
          </a:xfrm>
        </p:spPr>
        <p:txBody>
          <a:bodyPr/>
          <a:lstStyle/>
          <a:p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 architecture and requirements briefing for supervising autonomous AI agents deployed for network operations</a:t>
            </a:r>
          </a:p>
          <a:p>
            <a:endParaRPr lang="zh-CN" alt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="" xmlns:a16="http://schemas.microsoft.com/office/drawing/2014/main" id="{41F9B342-E7C0-4E51-8237-C08E56CF21C0}"/>
              </a:ext>
            </a:extLst>
          </p:cNvPr>
          <p:cNvSpPr/>
          <p:nvPr/>
        </p:nvSpPr>
        <p:spPr>
          <a:xfrm>
            <a:off x="1078597" y="1684857"/>
            <a:ext cx="10268276" cy="1443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3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Architecture and Requirements for Observability, C&amp;I of Network Management Agents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981CF869-3C14-4C68-A6D4-EDCE3E969CFD}"/>
              </a:ext>
            </a:extLst>
          </p:cNvPr>
          <p:cNvSpPr txBox="1"/>
          <p:nvPr/>
        </p:nvSpPr>
        <p:spPr>
          <a:xfrm>
            <a:off x="68740" y="6286616"/>
            <a:ext cx="8042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https://datatracker.ietf.org/doc/draft-mcw-opsawg-icon-requirements/</a:t>
            </a:r>
          </a:p>
        </p:txBody>
      </p:sp>
    </p:spTree>
    <p:extLst>
      <p:ext uri="{BB962C8B-B14F-4D97-AF65-F5344CB8AC3E}">
        <p14:creationId xmlns:p14="http://schemas.microsoft.com/office/powerpoint/2010/main" val="206439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65619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Scope &amp; Key Terminology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9989"/>
            <a:ext cx="11165378" cy="5206942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Defines the architecture and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 an agent and its supervision system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enables to see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an agent is doing, bound what it is allowed to do, and intervene when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necessary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Solution-neutral</a:t>
            </a:r>
          </a:p>
          <a:p>
            <a:pPr lvl="2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Protocols, data model, or API choice is intentionally left for future work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Companion Problem Statement</a:t>
            </a:r>
          </a:p>
          <a:p>
            <a:pPr lvl="2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I-D.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-opsawg-icon-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details the operational gaps motivating these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Terms</a:t>
            </a:r>
          </a:p>
          <a:p>
            <a:pPr lvl="1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</a:t>
            </a:r>
          </a:p>
          <a:p>
            <a:pPr lvl="2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entity responsible for monitoring, controlling, and intervening in the agent's lifecycle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—it could be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human operator, an automated high-privilege supervision system, or an orchestrator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Supervision/orchestration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administrative and operational capabilities that continuously monitor, constrain, and guide agent behavior, retaining ultimate authority to modify, overrule, or terminate operations.</a:t>
            </a:r>
          </a:p>
          <a:p>
            <a:pPr lvl="2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4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102B728-6D0A-4D88-A49E-3AE905DD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6905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Reference Architecture</a:t>
            </a:r>
            <a:endParaRPr lang="zh-CN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="" xmlns:a16="http://schemas.microsoft.com/office/drawing/2014/main" id="{084A49AC-22B0-479D-84F4-E5240D126EB4}"/>
              </a:ext>
            </a:extLst>
          </p:cNvPr>
          <p:cNvSpPr/>
          <p:nvPr/>
        </p:nvSpPr>
        <p:spPr>
          <a:xfrm>
            <a:off x="99753" y="1328117"/>
            <a:ext cx="7726680" cy="2764654"/>
          </a:xfrm>
          <a:prstGeom prst="roundRect">
            <a:avLst>
              <a:gd name="adj" fmla="val 4324"/>
            </a:avLst>
          </a:prstGeom>
          <a:solidFill>
            <a:srgbClr val="EAF1F5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5" name="Text 4">
            <a:extLst>
              <a:ext uri="{FF2B5EF4-FFF2-40B4-BE49-F238E27FC236}">
                <a16:creationId xmlns="" xmlns:a16="http://schemas.microsoft.com/office/drawing/2014/main" id="{E14E1904-9F56-42DE-94AC-08636BE459DB}"/>
              </a:ext>
            </a:extLst>
          </p:cNvPr>
          <p:cNvSpPr/>
          <p:nvPr/>
        </p:nvSpPr>
        <p:spPr>
          <a:xfrm>
            <a:off x="282633" y="1387553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</a:t>
            </a:r>
            <a:r>
              <a:rPr lang="en-US" sz="1050" b="1" kern="0" spc="150" dirty="0" smtClean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PLANE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="" xmlns:a16="http://schemas.microsoft.com/office/drawing/2014/main" id="{A1E3834F-61D2-47DF-A6DD-1128B2086890}"/>
              </a:ext>
            </a:extLst>
          </p:cNvPr>
          <p:cNvSpPr/>
          <p:nvPr/>
        </p:nvSpPr>
        <p:spPr>
          <a:xfrm>
            <a:off x="374073" y="2247089"/>
            <a:ext cx="7232073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Text 8">
            <a:extLst>
              <a:ext uri="{FF2B5EF4-FFF2-40B4-BE49-F238E27FC236}">
                <a16:creationId xmlns="" xmlns:a16="http://schemas.microsoft.com/office/drawing/2014/main" id="{BD8BDB0D-9DFE-4382-99D3-4D92871BEBB8}"/>
              </a:ext>
            </a:extLst>
          </p:cNvPr>
          <p:cNvSpPr/>
          <p:nvPr/>
        </p:nvSpPr>
        <p:spPr>
          <a:xfrm>
            <a:off x="511233" y="2274521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 smtClean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Supervisor/client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="" xmlns:a16="http://schemas.microsoft.com/office/drawing/2014/main" id="{4C3E7FC3-82A4-44D7-9B20-FF42D54A4D31}"/>
              </a:ext>
            </a:extLst>
          </p:cNvPr>
          <p:cNvSpPr/>
          <p:nvPr/>
        </p:nvSpPr>
        <p:spPr>
          <a:xfrm>
            <a:off x="963053" y="253082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10">
            <a:extLst>
              <a:ext uri="{FF2B5EF4-FFF2-40B4-BE49-F238E27FC236}">
                <a16:creationId xmlns="" xmlns:a16="http://schemas.microsoft.com/office/drawing/2014/main" id="{DE8F064D-56AD-4F90-AB08-0714FA4E4182}"/>
              </a:ext>
            </a:extLst>
          </p:cNvPr>
          <p:cNvSpPr/>
          <p:nvPr/>
        </p:nvSpPr>
        <p:spPr>
          <a:xfrm>
            <a:off x="282633" y="2521587"/>
            <a:ext cx="323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Observability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="" xmlns:a16="http://schemas.microsoft.com/office/drawing/2014/main" id="{50911C78-4C0C-4660-87F8-D05FE2DEFB5E}"/>
              </a:ext>
            </a:extLst>
          </p:cNvPr>
          <p:cNvSpPr/>
          <p:nvPr/>
        </p:nvSpPr>
        <p:spPr>
          <a:xfrm>
            <a:off x="2909455" y="2521940"/>
            <a:ext cx="1964087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2">
            <a:extLst>
              <a:ext uri="{FF2B5EF4-FFF2-40B4-BE49-F238E27FC236}">
                <a16:creationId xmlns="" xmlns:a16="http://schemas.microsoft.com/office/drawing/2014/main" id="{C0211E05-C7AE-4C7E-916D-D648E59EAF77}"/>
              </a:ext>
            </a:extLst>
          </p:cNvPr>
          <p:cNvSpPr/>
          <p:nvPr/>
        </p:nvSpPr>
        <p:spPr>
          <a:xfrm>
            <a:off x="2185922" y="2521587"/>
            <a:ext cx="323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="" xmlns:a16="http://schemas.microsoft.com/office/drawing/2014/main" id="{11A12F61-F2D3-4C92-92F2-93CF044584DF}"/>
              </a:ext>
            </a:extLst>
          </p:cNvPr>
          <p:cNvSpPr/>
          <p:nvPr/>
        </p:nvSpPr>
        <p:spPr>
          <a:xfrm>
            <a:off x="4969095" y="2521587"/>
            <a:ext cx="1925089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4">
            <a:extLst>
              <a:ext uri="{FF2B5EF4-FFF2-40B4-BE49-F238E27FC236}">
                <a16:creationId xmlns="" xmlns:a16="http://schemas.microsoft.com/office/drawing/2014/main" id="{99537C58-24EC-4FCF-8EDF-6445F71A6305}"/>
              </a:ext>
            </a:extLst>
          </p:cNvPr>
          <p:cNvSpPr/>
          <p:nvPr/>
        </p:nvSpPr>
        <p:spPr>
          <a:xfrm>
            <a:off x="4237046" y="2506270"/>
            <a:ext cx="323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Intervention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="" xmlns:a16="http://schemas.microsoft.com/office/drawing/2014/main" id="{11C60039-1D73-45C5-BCDD-09191E6C51F7}"/>
              </a:ext>
            </a:extLst>
          </p:cNvPr>
          <p:cNvSpPr/>
          <p:nvPr/>
        </p:nvSpPr>
        <p:spPr>
          <a:xfrm>
            <a:off x="4234646" y="3033473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 smtClean="0">
                <a:solidFill>
                  <a:srgbClr val="5B6B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</a:t>
            </a:r>
            <a:r>
              <a:rPr lang="en-US" sz="1050" i="1" dirty="0" smtClean="0">
                <a:solidFill>
                  <a:srgbClr val="5B6B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Interface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="" xmlns:a16="http://schemas.microsoft.com/office/drawing/2014/main" id="{71AD3023-618D-4E2C-BC52-E288B8EEC79D}"/>
              </a:ext>
            </a:extLst>
          </p:cNvPr>
          <p:cNvSpPr/>
          <p:nvPr/>
        </p:nvSpPr>
        <p:spPr>
          <a:xfrm>
            <a:off x="229741" y="3369948"/>
            <a:ext cx="7323513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8">
            <a:extLst>
              <a:ext uri="{FF2B5EF4-FFF2-40B4-BE49-F238E27FC236}">
                <a16:creationId xmlns="" xmlns:a16="http://schemas.microsoft.com/office/drawing/2014/main" id="{5D74EED8-82B6-4AA2-A162-53BF5C8F9FA8}"/>
              </a:ext>
            </a:extLst>
          </p:cNvPr>
          <p:cNvSpPr/>
          <p:nvPr/>
        </p:nvSpPr>
        <p:spPr>
          <a:xfrm>
            <a:off x="142824" y="3369948"/>
            <a:ext cx="69409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1300" b="1" dirty="0" smtClean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upervision</a:t>
            </a:r>
            <a:r>
              <a:rPr lang="en-US" sz="1300" b="1" dirty="0" smtClean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Enforcement </a:t>
            </a:r>
            <a:r>
              <a:rPr lang="en-US" sz="1300" b="1" dirty="0" smtClean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Entity/server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="" xmlns:a16="http://schemas.microsoft.com/office/drawing/2014/main" id="{BE393F0A-F3C3-4A84-8146-65A2F5B9C1A0}"/>
              </a:ext>
            </a:extLst>
          </p:cNvPr>
          <p:cNvSpPr/>
          <p:nvPr/>
        </p:nvSpPr>
        <p:spPr>
          <a:xfrm>
            <a:off x="99754" y="4295345"/>
            <a:ext cx="7726680" cy="1444752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2" name="Text 21">
            <a:extLst>
              <a:ext uri="{FF2B5EF4-FFF2-40B4-BE49-F238E27FC236}">
                <a16:creationId xmlns="" xmlns:a16="http://schemas.microsoft.com/office/drawing/2014/main" id="{9038E49F-4FAC-49B4-9ADA-A881F74F31DF}"/>
              </a:ext>
            </a:extLst>
          </p:cNvPr>
          <p:cNvSpPr/>
          <p:nvPr/>
        </p:nvSpPr>
        <p:spPr>
          <a:xfrm>
            <a:off x="282633" y="4368497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EXECUTION PLANE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="" xmlns:a16="http://schemas.microsoft.com/office/drawing/2014/main" id="{09DA8E31-BD8F-4396-9FC4-6CC45869B204}"/>
              </a:ext>
            </a:extLst>
          </p:cNvPr>
          <p:cNvSpPr/>
          <p:nvPr/>
        </p:nvSpPr>
        <p:spPr>
          <a:xfrm>
            <a:off x="374073" y="4679393"/>
            <a:ext cx="7232073" cy="438912"/>
          </a:xfrm>
          <a:prstGeom prst="roundRect">
            <a:avLst>
              <a:gd name="adj" fmla="val 1041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3">
            <a:extLst>
              <a:ext uri="{FF2B5EF4-FFF2-40B4-BE49-F238E27FC236}">
                <a16:creationId xmlns="" xmlns:a16="http://schemas.microsoft.com/office/drawing/2014/main" id="{E40C1439-EB9A-43B2-AA3A-8EE1B5652F42}"/>
              </a:ext>
            </a:extLst>
          </p:cNvPr>
          <p:cNvSpPr/>
          <p:nvPr/>
        </p:nvSpPr>
        <p:spPr>
          <a:xfrm>
            <a:off x="374073" y="4679393"/>
            <a:ext cx="63509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Agent(s)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9">
            <a:extLst>
              <a:ext uri="{FF2B5EF4-FFF2-40B4-BE49-F238E27FC236}">
                <a16:creationId xmlns="" xmlns:a16="http://schemas.microsoft.com/office/drawing/2014/main" id="{A6497F40-84A8-49D8-8AC1-DFA838DF2B8C}"/>
              </a:ext>
            </a:extLst>
          </p:cNvPr>
          <p:cNvSpPr/>
          <p:nvPr/>
        </p:nvSpPr>
        <p:spPr>
          <a:xfrm>
            <a:off x="374073" y="5246321"/>
            <a:ext cx="7232073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30">
            <a:extLst>
              <a:ext uri="{FF2B5EF4-FFF2-40B4-BE49-F238E27FC236}">
                <a16:creationId xmlns="" xmlns:a16="http://schemas.microsoft.com/office/drawing/2014/main" id="{D8FA34BD-9341-44A4-A89C-C93F37755A15}"/>
              </a:ext>
            </a:extLst>
          </p:cNvPr>
          <p:cNvSpPr/>
          <p:nvPr/>
        </p:nvSpPr>
        <p:spPr>
          <a:xfrm>
            <a:off x="374073" y="5246321"/>
            <a:ext cx="645898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Modules &amp; Tools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2">
            <a:extLst>
              <a:ext uri="{FF2B5EF4-FFF2-40B4-BE49-F238E27FC236}">
                <a16:creationId xmlns="" xmlns:a16="http://schemas.microsoft.com/office/drawing/2014/main" id="{DB643E20-E179-4E84-B69F-68EC3ED12F7C}"/>
              </a:ext>
            </a:extLst>
          </p:cNvPr>
          <p:cNvSpPr/>
          <p:nvPr/>
        </p:nvSpPr>
        <p:spPr>
          <a:xfrm>
            <a:off x="4234646" y="575816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Interaction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3">
            <a:extLst>
              <a:ext uri="{FF2B5EF4-FFF2-40B4-BE49-F238E27FC236}">
                <a16:creationId xmlns="" xmlns:a16="http://schemas.microsoft.com/office/drawing/2014/main" id="{1CE22825-30C6-4FD9-8CAC-D03ECB628822}"/>
              </a:ext>
            </a:extLst>
          </p:cNvPr>
          <p:cNvSpPr/>
          <p:nvPr/>
        </p:nvSpPr>
        <p:spPr>
          <a:xfrm>
            <a:off x="99754" y="6041849"/>
            <a:ext cx="7726680" cy="411480"/>
          </a:xfrm>
          <a:prstGeom prst="roundRect">
            <a:avLst>
              <a:gd name="adj" fmla="val 17778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5" name="Text 34">
            <a:extLst>
              <a:ext uri="{FF2B5EF4-FFF2-40B4-BE49-F238E27FC236}">
                <a16:creationId xmlns="" xmlns:a16="http://schemas.microsoft.com/office/drawing/2014/main" id="{70C80CF3-6AC4-488C-A61D-DB993BF51A3F}"/>
              </a:ext>
            </a:extLst>
          </p:cNvPr>
          <p:cNvSpPr/>
          <p:nvPr/>
        </p:nvSpPr>
        <p:spPr>
          <a:xfrm>
            <a:off x="-238115" y="6050546"/>
            <a:ext cx="83875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INFRASTRUCTURE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="" xmlns:a16="http://schemas.microsoft.com/office/drawing/2014/main" id="{EBD885E5-79FC-4839-855C-3F187FD4B3EB}"/>
              </a:ext>
            </a:extLst>
          </p:cNvPr>
          <p:cNvCxnSpPr/>
          <p:nvPr/>
        </p:nvCxnSpPr>
        <p:spPr>
          <a:xfrm flipH="1">
            <a:off x="3952376" y="2900972"/>
            <a:ext cx="6560" cy="52192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="" xmlns:a16="http://schemas.microsoft.com/office/drawing/2014/main" id="{C32315DC-1FC1-4A2E-AF69-4F5D5251C572}"/>
              </a:ext>
            </a:extLst>
          </p:cNvPr>
          <p:cNvCxnSpPr>
            <a:cxnSpLocks/>
          </p:cNvCxnSpPr>
          <p:nvPr/>
        </p:nvCxnSpPr>
        <p:spPr>
          <a:xfrm>
            <a:off x="4048784" y="5730730"/>
            <a:ext cx="0" cy="32918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hape 5">
            <a:extLst>
              <a:ext uri="{FF2B5EF4-FFF2-40B4-BE49-F238E27FC236}">
                <a16:creationId xmlns:a16="http://schemas.microsoft.com/office/drawing/2014/main" xmlns="" id="{311F6CCC-59F5-4E1D-90B0-63E7606D4AFD}"/>
              </a:ext>
            </a:extLst>
          </p:cNvPr>
          <p:cNvSpPr/>
          <p:nvPr/>
        </p:nvSpPr>
        <p:spPr>
          <a:xfrm>
            <a:off x="374073" y="1698449"/>
            <a:ext cx="7232073" cy="402336"/>
          </a:xfrm>
          <a:prstGeom prst="roundRect">
            <a:avLst>
              <a:gd name="adj" fmla="val 13636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7" name="Text 6">
            <a:extLst>
              <a:ext uri="{FF2B5EF4-FFF2-40B4-BE49-F238E27FC236}">
                <a16:creationId xmlns:a16="http://schemas.microsoft.com/office/drawing/2014/main" xmlns="" id="{3FFC70D4-DBA4-48C3-9A8E-E4EDAE9D7836}"/>
              </a:ext>
            </a:extLst>
          </p:cNvPr>
          <p:cNvSpPr/>
          <p:nvPr/>
        </p:nvSpPr>
        <p:spPr>
          <a:xfrm>
            <a:off x="374073" y="1698449"/>
            <a:ext cx="723207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300" dirty="0"/>
          </a:p>
        </p:txBody>
      </p:sp>
      <p:sp>
        <p:nvSpPr>
          <p:cNvPr id="7" name="文本框 6"/>
          <p:cNvSpPr txBox="1"/>
          <p:nvPr/>
        </p:nvSpPr>
        <p:spPr>
          <a:xfrm>
            <a:off x="7879263" y="1585113"/>
            <a:ext cx="427183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Oversight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top-level authority in the Agent Supervision Plane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 &amp; constraint injection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Escalation Handling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Emergency intervention trigger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Post-execution feedback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Supervisor/client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Acts on behalf of operators to monitor, control, and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intervene across agents</a:t>
            </a:r>
          </a:p>
          <a:p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Supervision Enforcement Entity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unified bridge between supervision signals and native agent execution.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8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E9543EA-3131-444F-84A4-D1733017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43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Agent Observability Requirements</a:t>
            </a:r>
            <a:endParaRPr lang="zh-CN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CA5A97EF-FE90-45DB-B31F-611000FFB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5491"/>
            <a:ext cx="10575175" cy="5044691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what agents did, why they did it, and how they're performing.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OBS-1: Execution Trajectory Capture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Makes the full path from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network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observations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visible, including the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plan,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invoked tools/skills, generated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configuration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change,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resulting state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OBS-2: Reasoning Provenance Capture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Exposes why a decision was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made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the operational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signals (e.g., alarms, incidents, telemetry streams)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confidence level behind a specific network action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OBS-3: Operational Metrics Collection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an agent's own operational health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performance, e.g.,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rates, rollback frequency, completion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performance, token consumption.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OBS-4: Multi-Agent Correlation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Cross-agent execution tracing, decision-making path,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collection and measurement.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91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24FAEC5-7814-4802-BDD4-BD5389F73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011" y="84425"/>
            <a:ext cx="11215977" cy="132556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Agent Control Requirements </a:t>
            </a:r>
            <a:endParaRPr lang="zh-CN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88448AB7-F29E-43C6-8C89-947BD405C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09988"/>
            <a:ext cx="10957562" cy="5215256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a boundary for agent behaviors.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CTL-1: Access &amp; Permission</a:t>
            </a:r>
          </a:p>
          <a:p>
            <a:pPr lvl="1"/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agent's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scope to specific network domains/areas, devices, protocols and tools as well as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configuration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control (e.g., datastores, modules, nodes, RPCs, etc.)</a:t>
            </a:r>
          </a:p>
          <a:p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CTL-2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Intent Validation &amp; Alignment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the agent to check that what it is about to configure actually matches the operational intent it was given, before committing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CTL-3: Temporal &amp; Data/Context Validity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Ties an agent's actions to a valid operating window and to network state that is still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current.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CTL-4: Authorization &amp; Approval</a:t>
            </a:r>
          </a:p>
          <a:p>
            <a:pPr lvl="1"/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Specifies of some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requiring a human decision before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execution.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CTL-5: Failure &amp; Liveness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Defines what an agent does when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encounters predefined failure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requires it to continuously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 its liveness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18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DA4F520-B074-4471-B42B-B29DFB85A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Agent Intervention Requirements</a:t>
            </a:r>
            <a:endParaRPr lang="zh-CN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0656D31C-579C-4A31-81EF-445957A06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059"/>
            <a:ext cx="10515600" cy="498443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Emergency runtime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interruption when the agent deviates from expected behaviors.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INT-1: Execution Interruption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Guarantees an agent can be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paused/stopped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outside its own decision loop, even if the agent itself is unresponsive or stuck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INT-2: Rollback and Recovery</a:t>
            </a:r>
          </a:p>
          <a:p>
            <a:pPr lvl="1"/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Able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reverse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operations performed by the agent on the network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d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ifferent rollback granularity: workflow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level,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level,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level.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INT-3: Escalation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Moves a decision the current agent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can't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shouldn't make alone up to someone with broader authority, without losing context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INT-4: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Correction</a:t>
            </a:r>
          </a:p>
          <a:p>
            <a:pPr lvl="1"/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supervisor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fix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went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wrong, e.g., the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intent, the data, or the </a:t>
            </a:r>
            <a:r>
              <a:rPr lang="en-US" altLang="zh-C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 of only being able to accept or reject the agent's output.</a:t>
            </a:r>
          </a:p>
          <a:p>
            <a:pPr lvl="1"/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91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698240" y="22195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Comments, Questions, Concerns?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41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689</Words>
  <Application>Microsoft Office PowerPoint</Application>
  <PresentationFormat>宽屏</PresentationFormat>
  <Paragraphs>79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等线 Light</vt:lpstr>
      <vt:lpstr>宋体</vt:lpstr>
      <vt:lpstr>Arial</vt:lpstr>
      <vt:lpstr>Calibri</vt:lpstr>
      <vt:lpstr>Calibri Light</vt:lpstr>
      <vt:lpstr>Office 主题​​</vt:lpstr>
      <vt:lpstr>PowerPoint 演示文稿</vt:lpstr>
      <vt:lpstr>Scope &amp; Key Terminology</vt:lpstr>
      <vt:lpstr>A Reference Architecture</vt:lpstr>
      <vt:lpstr>Agent Observability Requirements</vt:lpstr>
      <vt:lpstr>Agent Control Requirements </vt:lpstr>
      <vt:lpstr>Agent Intervention Requirements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maqiufang (A)</dc:creator>
  <cp:lastModifiedBy>maqiufang (A)</cp:lastModifiedBy>
  <cp:revision>32</cp:revision>
  <dcterms:created xsi:type="dcterms:W3CDTF">2026-07-11T10:37:18Z</dcterms:created>
  <dcterms:modified xsi:type="dcterms:W3CDTF">2026-07-13T09:10:53Z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1782898301</vt:lpwstr>
  </property>
</Properties>
</file>