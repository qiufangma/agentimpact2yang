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5" d="100"/>
          <a:sy n="95" d="100"/>
        </p:scale>
        <p:origin x="84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B1D2F-2AF7-48A3-B6CA-EF7CCC789E5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5B66-0730-410C-ABFE-9D1E5D77C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873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B1D2F-2AF7-48A3-B6CA-EF7CCC789E5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5B66-0730-410C-ABFE-9D1E5D77C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205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B1D2F-2AF7-48A3-B6CA-EF7CCC789E5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5B66-0730-410C-ABFE-9D1E5D77C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183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B1D2F-2AF7-48A3-B6CA-EF7CCC789E5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5B66-0730-410C-ABFE-9D1E5D77C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4059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B1D2F-2AF7-48A3-B6CA-EF7CCC789E5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5B66-0730-410C-ABFE-9D1E5D77C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923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B1D2F-2AF7-48A3-B6CA-EF7CCC789E5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5B66-0730-410C-ABFE-9D1E5D77C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575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B1D2F-2AF7-48A3-B6CA-EF7CCC789E5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5B66-0730-410C-ABFE-9D1E5D77C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639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B1D2F-2AF7-48A3-B6CA-EF7CCC789E5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5B66-0730-410C-ABFE-9D1E5D77C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332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B1D2F-2AF7-48A3-B6CA-EF7CCC789E5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5B66-0730-410C-ABFE-9D1E5D77C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7002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B1D2F-2AF7-48A3-B6CA-EF7CCC789E5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5B66-0730-410C-ABFE-9D1E5D77C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85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B1D2F-2AF7-48A3-B6CA-EF7CCC789E5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5B66-0730-410C-ABFE-9D1E5D77C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305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FB1D2F-2AF7-48A3-B6CA-EF7CCC789E5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9D5B66-0730-410C-ABFE-9D1E5D77C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6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803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组合 86"/>
          <p:cNvGrpSpPr/>
          <p:nvPr/>
        </p:nvGrpSpPr>
        <p:grpSpPr>
          <a:xfrm>
            <a:off x="2781329" y="4379449"/>
            <a:ext cx="3760371" cy="1013389"/>
            <a:chOff x="2355073" y="2940911"/>
            <a:chExt cx="3760371" cy="1013389"/>
          </a:xfrm>
        </p:grpSpPr>
        <p:sp>
          <p:nvSpPr>
            <p:cNvPr id="12" name="圆角矩形 11"/>
            <p:cNvSpPr/>
            <p:nvPr/>
          </p:nvSpPr>
          <p:spPr>
            <a:xfrm>
              <a:off x="2355073" y="2940911"/>
              <a:ext cx="3755092" cy="83958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736874" y="2970552"/>
              <a:ext cx="22212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Reasoning &amp; Planning</a:t>
              </a:r>
              <a:endParaRPr lang="en-US" dirty="0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390854" y="3369525"/>
              <a:ext cx="182761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Task decomposition</a:t>
              </a:r>
            </a:p>
            <a:p>
              <a:endParaRPr lang="en-US" sz="1600" dirty="0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4213192" y="3369525"/>
              <a:ext cx="190225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Route plan to agents</a:t>
              </a:r>
            </a:p>
            <a:p>
              <a:endParaRPr lang="en-US" sz="1600" dirty="0"/>
            </a:p>
          </p:txBody>
        </p:sp>
        <p:sp>
          <p:nvSpPr>
            <p:cNvPr id="18" name="圆角矩形 17"/>
            <p:cNvSpPr/>
            <p:nvPr/>
          </p:nvSpPr>
          <p:spPr>
            <a:xfrm>
              <a:off x="2400207" y="3441540"/>
              <a:ext cx="1765579" cy="25397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圆角矩形 18"/>
            <p:cNvSpPr/>
            <p:nvPr/>
          </p:nvSpPr>
          <p:spPr>
            <a:xfrm>
              <a:off x="4269089" y="3423703"/>
              <a:ext cx="1759466" cy="24566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29978" y="96241"/>
            <a:ext cx="11762022" cy="1325563"/>
          </a:xfrm>
        </p:spPr>
        <p:txBody>
          <a:bodyPr/>
          <a:lstStyle/>
          <a:p>
            <a:r>
              <a:rPr lang="en-US" dirty="0" smtClean="0"/>
              <a:t>Agent Observability Architecture and Requirements</a:t>
            </a:r>
            <a:endParaRPr lang="en-US" dirty="0"/>
          </a:p>
        </p:txBody>
      </p:sp>
      <p:sp>
        <p:nvSpPr>
          <p:cNvPr id="16" name="圆角矩形 15"/>
          <p:cNvSpPr/>
          <p:nvPr/>
        </p:nvSpPr>
        <p:spPr>
          <a:xfrm>
            <a:off x="2826463" y="3602525"/>
            <a:ext cx="2930360" cy="54864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Short-term memory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6318585" y="3613412"/>
            <a:ext cx="3018834" cy="54864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Data &amp; Knowledge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902220" y="4371354"/>
            <a:ext cx="2952236" cy="83958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文本框 28"/>
          <p:cNvSpPr txBox="1"/>
          <p:nvPr/>
        </p:nvSpPr>
        <p:spPr>
          <a:xfrm>
            <a:off x="7768821" y="4414023"/>
            <a:ext cx="10986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Execution</a:t>
            </a:r>
            <a:endParaRPr lang="en-US" dirty="0"/>
          </a:p>
        </p:txBody>
      </p:sp>
      <p:sp>
        <p:nvSpPr>
          <p:cNvPr id="30" name="文本框 29"/>
          <p:cNvSpPr txBox="1"/>
          <p:nvPr/>
        </p:nvSpPr>
        <p:spPr>
          <a:xfrm>
            <a:off x="7176691" y="4803964"/>
            <a:ext cx="22775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Tool/API/Skills Invocation</a:t>
            </a:r>
          </a:p>
          <a:p>
            <a:endParaRPr lang="en-US" sz="1600" dirty="0"/>
          </a:p>
        </p:txBody>
      </p:sp>
      <p:sp>
        <p:nvSpPr>
          <p:cNvPr id="32" name="圆角矩形 31"/>
          <p:cNvSpPr/>
          <p:nvPr/>
        </p:nvSpPr>
        <p:spPr>
          <a:xfrm>
            <a:off x="7218251" y="4845371"/>
            <a:ext cx="2194431" cy="25397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直接箭头连接符 77"/>
          <p:cNvCxnSpPr/>
          <p:nvPr/>
        </p:nvCxnSpPr>
        <p:spPr>
          <a:xfrm>
            <a:off x="8204920" y="5373507"/>
            <a:ext cx="0" cy="47257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本框 88"/>
          <p:cNvSpPr txBox="1"/>
          <p:nvPr/>
        </p:nvSpPr>
        <p:spPr>
          <a:xfrm>
            <a:off x="2422001" y="3164500"/>
            <a:ext cx="2617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Agent/multi-agent system</a:t>
            </a:r>
            <a:endParaRPr lang="en-US" dirty="0"/>
          </a:p>
        </p:txBody>
      </p:sp>
      <p:sp>
        <p:nvSpPr>
          <p:cNvPr id="90" name="右箭头 89"/>
          <p:cNvSpPr/>
          <p:nvPr/>
        </p:nvSpPr>
        <p:spPr>
          <a:xfrm>
            <a:off x="1440813" y="4650805"/>
            <a:ext cx="1338787" cy="2806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文本框 90"/>
          <p:cNvSpPr txBox="1"/>
          <p:nvPr/>
        </p:nvSpPr>
        <p:spPr>
          <a:xfrm>
            <a:off x="445897" y="4608625"/>
            <a:ext cx="944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Request</a:t>
            </a:r>
            <a:endParaRPr lang="en-US" dirty="0"/>
          </a:p>
        </p:txBody>
      </p:sp>
      <p:sp>
        <p:nvSpPr>
          <p:cNvPr id="92" name="右箭头 91"/>
          <p:cNvSpPr/>
          <p:nvPr/>
        </p:nvSpPr>
        <p:spPr>
          <a:xfrm>
            <a:off x="6568988" y="4671941"/>
            <a:ext cx="338512" cy="25954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右箭头 92"/>
          <p:cNvSpPr/>
          <p:nvPr/>
        </p:nvSpPr>
        <p:spPr>
          <a:xfrm>
            <a:off x="9870769" y="4678290"/>
            <a:ext cx="1013286" cy="25954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文本框 93"/>
          <p:cNvSpPr txBox="1"/>
          <p:nvPr/>
        </p:nvSpPr>
        <p:spPr>
          <a:xfrm>
            <a:off x="10900368" y="4623395"/>
            <a:ext cx="108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Response</a:t>
            </a:r>
            <a:endParaRPr lang="en-US" dirty="0"/>
          </a:p>
        </p:txBody>
      </p:sp>
      <p:grpSp>
        <p:nvGrpSpPr>
          <p:cNvPr id="102" name="组合 101"/>
          <p:cNvGrpSpPr/>
          <p:nvPr/>
        </p:nvGrpSpPr>
        <p:grpSpPr>
          <a:xfrm>
            <a:off x="7606036" y="5846084"/>
            <a:ext cx="1163977" cy="1011916"/>
            <a:chOff x="7212549" y="5006342"/>
            <a:chExt cx="1311071" cy="1107967"/>
          </a:xfrm>
          <a:solidFill>
            <a:schemeClr val="accent6"/>
          </a:solidFill>
        </p:grpSpPr>
        <p:grpSp>
          <p:nvGrpSpPr>
            <p:cNvPr id="86" name="组合 85"/>
            <p:cNvGrpSpPr/>
            <p:nvPr/>
          </p:nvGrpSpPr>
          <p:grpSpPr>
            <a:xfrm>
              <a:off x="7212549" y="5006342"/>
              <a:ext cx="1311071" cy="1107967"/>
              <a:chOff x="5656280" y="4364207"/>
              <a:chExt cx="1311071" cy="1107967"/>
            </a:xfrm>
            <a:grpFill/>
          </p:grpSpPr>
          <p:sp>
            <p:nvSpPr>
              <p:cNvPr id="36" name="椭圆 35"/>
              <p:cNvSpPr/>
              <p:nvPr/>
            </p:nvSpPr>
            <p:spPr>
              <a:xfrm>
                <a:off x="5722884" y="4939840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椭圆 36"/>
              <p:cNvSpPr/>
              <p:nvPr/>
            </p:nvSpPr>
            <p:spPr>
              <a:xfrm>
                <a:off x="6072206" y="5297785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椭圆 37"/>
              <p:cNvSpPr/>
              <p:nvPr/>
            </p:nvSpPr>
            <p:spPr>
              <a:xfrm>
                <a:off x="6780793" y="4703954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椭圆 38"/>
              <p:cNvSpPr/>
              <p:nvPr/>
            </p:nvSpPr>
            <p:spPr>
              <a:xfrm>
                <a:off x="5656280" y="4428724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椭圆 39"/>
              <p:cNvSpPr/>
              <p:nvPr/>
            </p:nvSpPr>
            <p:spPr>
              <a:xfrm>
                <a:off x="6231443" y="4364207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直接连接符 41"/>
              <p:cNvCxnSpPr>
                <a:stCxn id="38" idx="2"/>
                <a:endCxn id="39" idx="5"/>
              </p:cNvCxnSpPr>
              <p:nvPr/>
            </p:nvCxnSpPr>
            <p:spPr>
              <a:xfrm flipH="1" flipV="1">
                <a:off x="5815517" y="4577574"/>
                <a:ext cx="965276" cy="213575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/>
              <p:cNvCxnSpPr>
                <a:stCxn id="40" idx="4"/>
                <a:endCxn id="36" idx="6"/>
              </p:cNvCxnSpPr>
              <p:nvPr/>
            </p:nvCxnSpPr>
            <p:spPr>
              <a:xfrm flipH="1">
                <a:off x="5909442" y="4538596"/>
                <a:ext cx="415280" cy="48843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>
                <a:stCxn id="40" idx="4"/>
                <a:endCxn id="37" idx="0"/>
              </p:cNvCxnSpPr>
              <p:nvPr/>
            </p:nvCxnSpPr>
            <p:spPr>
              <a:xfrm flipH="1">
                <a:off x="6165485" y="4538596"/>
                <a:ext cx="159237" cy="75918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/>
              <p:cNvCxnSpPr>
                <a:stCxn id="40" idx="3"/>
                <a:endCxn id="38" idx="2"/>
              </p:cNvCxnSpPr>
              <p:nvPr/>
            </p:nvCxnSpPr>
            <p:spPr>
              <a:xfrm>
                <a:off x="6258764" y="4513057"/>
                <a:ext cx="522029" cy="278092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接连接符 56"/>
              <p:cNvCxnSpPr>
                <a:stCxn id="38" idx="2"/>
                <a:endCxn id="37" idx="0"/>
              </p:cNvCxnSpPr>
              <p:nvPr/>
            </p:nvCxnSpPr>
            <p:spPr>
              <a:xfrm flipH="1">
                <a:off x="6165485" y="4791149"/>
                <a:ext cx="615308" cy="506636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>
                <a:stCxn id="39" idx="5"/>
                <a:endCxn id="37" idx="1"/>
              </p:cNvCxnSpPr>
              <p:nvPr/>
            </p:nvCxnSpPr>
            <p:spPr>
              <a:xfrm>
                <a:off x="5815517" y="4577574"/>
                <a:ext cx="284010" cy="745750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接连接符 65"/>
              <p:cNvCxnSpPr>
                <a:stCxn id="38" idx="2"/>
                <a:endCxn id="36" idx="6"/>
              </p:cNvCxnSpPr>
              <p:nvPr/>
            </p:nvCxnSpPr>
            <p:spPr>
              <a:xfrm flipH="1">
                <a:off x="5909442" y="4791149"/>
                <a:ext cx="871351" cy="235886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5" name="椭圆 94"/>
            <p:cNvSpPr/>
            <p:nvPr/>
          </p:nvSpPr>
          <p:spPr>
            <a:xfrm>
              <a:off x="8091389" y="5791070"/>
              <a:ext cx="186558" cy="174389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6" name="直接连接符 95"/>
            <p:cNvCxnSpPr>
              <a:stCxn id="95" idx="1"/>
              <a:endCxn id="39" idx="5"/>
            </p:cNvCxnSpPr>
            <p:nvPr/>
          </p:nvCxnSpPr>
          <p:spPr>
            <a:xfrm flipH="1" flipV="1">
              <a:off x="7371786" y="5219709"/>
              <a:ext cx="746924" cy="5969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连接符 98"/>
            <p:cNvCxnSpPr>
              <a:stCxn id="40" idx="4"/>
              <a:endCxn id="39" idx="5"/>
            </p:cNvCxnSpPr>
            <p:nvPr/>
          </p:nvCxnSpPr>
          <p:spPr>
            <a:xfrm flipH="1">
              <a:off x="7371786" y="5180731"/>
              <a:ext cx="509205" cy="38978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8" name="矩形 87"/>
          <p:cNvSpPr/>
          <p:nvPr/>
        </p:nvSpPr>
        <p:spPr>
          <a:xfrm>
            <a:off x="2415830" y="3129226"/>
            <a:ext cx="7790318" cy="22304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圆角矩形 167"/>
          <p:cNvSpPr/>
          <p:nvPr/>
        </p:nvSpPr>
        <p:spPr>
          <a:xfrm>
            <a:off x="4697600" y="2144314"/>
            <a:ext cx="3226777" cy="4369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Telemetry Collector </a:t>
            </a:r>
            <a:endParaRPr lang="en-US" dirty="0"/>
          </a:p>
        </p:txBody>
      </p:sp>
      <p:cxnSp>
        <p:nvCxnSpPr>
          <p:cNvPr id="171" name="直接箭头连接符 170"/>
          <p:cNvCxnSpPr>
            <a:stCxn id="88" idx="0"/>
          </p:cNvCxnSpPr>
          <p:nvPr/>
        </p:nvCxnSpPr>
        <p:spPr>
          <a:xfrm flipV="1">
            <a:off x="6310989" y="2575728"/>
            <a:ext cx="7596" cy="55349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文本框 172"/>
          <p:cNvSpPr txBox="1"/>
          <p:nvPr/>
        </p:nvSpPr>
        <p:spPr>
          <a:xfrm>
            <a:off x="6318585" y="2680715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Export</a:t>
            </a:r>
            <a:endParaRPr lang="en-US" dirty="0"/>
          </a:p>
        </p:txBody>
      </p:sp>
      <p:cxnSp>
        <p:nvCxnSpPr>
          <p:cNvPr id="175" name="直接箭头连接符 174"/>
          <p:cNvCxnSpPr/>
          <p:nvPr/>
        </p:nvCxnSpPr>
        <p:spPr>
          <a:xfrm flipV="1">
            <a:off x="6319209" y="1832883"/>
            <a:ext cx="4556" cy="32431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圆角矩形 177"/>
          <p:cNvSpPr/>
          <p:nvPr/>
        </p:nvSpPr>
        <p:spPr>
          <a:xfrm>
            <a:off x="4085781" y="1285748"/>
            <a:ext cx="4286874" cy="5437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AI Observability Add-ons</a:t>
            </a:r>
          </a:p>
          <a:p>
            <a:pPr algn="ctr"/>
            <a:r>
              <a:rPr lang="en-US" sz="1100" dirty="0" smtClean="0"/>
              <a:t>Evaluation, token cost governance, agent intervention and control, etc. </a:t>
            </a:r>
            <a:endParaRPr lang="en-US" sz="1100" dirty="0"/>
          </a:p>
        </p:txBody>
      </p:sp>
      <p:sp>
        <p:nvSpPr>
          <p:cNvPr id="181" name="文本框 180"/>
          <p:cNvSpPr txBox="1"/>
          <p:nvPr/>
        </p:nvSpPr>
        <p:spPr>
          <a:xfrm>
            <a:off x="8523249" y="1838998"/>
            <a:ext cx="33809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Execution trajectory </a:t>
            </a:r>
          </a:p>
          <a:p>
            <a:r>
              <a:rPr lang="en-US" dirty="0" smtClean="0"/>
              <a:t>Reasoning Provenance</a:t>
            </a:r>
          </a:p>
          <a:p>
            <a:r>
              <a:rPr lang="en-US" dirty="0" smtClean="0"/>
              <a:t>Operational metrics</a:t>
            </a:r>
          </a:p>
          <a:p>
            <a:r>
              <a:rPr lang="en-US" dirty="0" smtClean="0"/>
              <a:t>Correlation across multiple agents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430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下箭头 151"/>
          <p:cNvSpPr/>
          <p:nvPr/>
        </p:nvSpPr>
        <p:spPr>
          <a:xfrm>
            <a:off x="3328098" y="4272813"/>
            <a:ext cx="244883" cy="2062690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下箭头 154"/>
          <p:cNvSpPr/>
          <p:nvPr/>
        </p:nvSpPr>
        <p:spPr>
          <a:xfrm>
            <a:off x="9142378" y="4132186"/>
            <a:ext cx="244883" cy="2258565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下箭头 153"/>
          <p:cNvSpPr/>
          <p:nvPr/>
        </p:nvSpPr>
        <p:spPr>
          <a:xfrm>
            <a:off x="6264920" y="3894968"/>
            <a:ext cx="244883" cy="2495784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下箭头 148"/>
          <p:cNvSpPr/>
          <p:nvPr/>
        </p:nvSpPr>
        <p:spPr>
          <a:xfrm>
            <a:off x="1318074" y="3914579"/>
            <a:ext cx="244883" cy="2509688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7" name="组合 86"/>
          <p:cNvGrpSpPr/>
          <p:nvPr/>
        </p:nvGrpSpPr>
        <p:grpSpPr>
          <a:xfrm>
            <a:off x="2502952" y="3292604"/>
            <a:ext cx="3760371" cy="1013389"/>
            <a:chOff x="2355073" y="2940911"/>
            <a:chExt cx="3760371" cy="1013389"/>
          </a:xfrm>
        </p:grpSpPr>
        <p:sp>
          <p:nvSpPr>
            <p:cNvPr id="12" name="圆角矩形 11"/>
            <p:cNvSpPr/>
            <p:nvPr/>
          </p:nvSpPr>
          <p:spPr>
            <a:xfrm>
              <a:off x="2355073" y="2940911"/>
              <a:ext cx="3755092" cy="83958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736874" y="2970552"/>
              <a:ext cx="22212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Reasoning &amp; Planning</a:t>
              </a:r>
              <a:endParaRPr lang="en-US" dirty="0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390854" y="3369525"/>
              <a:ext cx="182761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Task decomposition</a:t>
              </a:r>
            </a:p>
            <a:p>
              <a:endParaRPr lang="en-US" sz="1600" dirty="0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4213192" y="3369525"/>
              <a:ext cx="190225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Route plan to agents</a:t>
              </a:r>
            </a:p>
            <a:p>
              <a:endParaRPr lang="en-US" sz="1600" dirty="0"/>
            </a:p>
          </p:txBody>
        </p:sp>
        <p:sp>
          <p:nvSpPr>
            <p:cNvPr id="18" name="圆角矩形 17"/>
            <p:cNvSpPr/>
            <p:nvPr/>
          </p:nvSpPr>
          <p:spPr>
            <a:xfrm>
              <a:off x="2400207" y="3441540"/>
              <a:ext cx="1765579" cy="25397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圆角矩形 18"/>
            <p:cNvSpPr/>
            <p:nvPr/>
          </p:nvSpPr>
          <p:spPr>
            <a:xfrm>
              <a:off x="4269089" y="3423703"/>
              <a:ext cx="1759466" cy="24566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82408" y="317535"/>
            <a:ext cx="10515600" cy="1325563"/>
          </a:xfrm>
        </p:spPr>
        <p:txBody>
          <a:bodyPr/>
          <a:lstStyle/>
          <a:p>
            <a:r>
              <a:rPr lang="en-US" dirty="0" smtClean="0"/>
              <a:t>Agent Intervention Architecture and Requirements</a:t>
            </a:r>
            <a:endParaRPr lang="en-US" dirty="0"/>
          </a:p>
        </p:txBody>
      </p:sp>
      <p:sp>
        <p:nvSpPr>
          <p:cNvPr id="16" name="圆角矩形 15"/>
          <p:cNvSpPr/>
          <p:nvPr/>
        </p:nvSpPr>
        <p:spPr>
          <a:xfrm>
            <a:off x="2548086" y="2515680"/>
            <a:ext cx="2930360" cy="54864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Short-term memory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6040208" y="2526567"/>
            <a:ext cx="3018834" cy="54864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Data &amp; Knowledge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623843" y="3284509"/>
            <a:ext cx="2952236" cy="83958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文本框 28"/>
          <p:cNvSpPr txBox="1"/>
          <p:nvPr/>
        </p:nvSpPr>
        <p:spPr>
          <a:xfrm>
            <a:off x="7490444" y="3327178"/>
            <a:ext cx="10986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Execution</a:t>
            </a:r>
            <a:endParaRPr lang="en-US" dirty="0"/>
          </a:p>
        </p:txBody>
      </p:sp>
      <p:sp>
        <p:nvSpPr>
          <p:cNvPr id="30" name="文本框 29"/>
          <p:cNvSpPr txBox="1"/>
          <p:nvPr/>
        </p:nvSpPr>
        <p:spPr>
          <a:xfrm>
            <a:off x="6898314" y="3717119"/>
            <a:ext cx="22775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Tool/API/Skills Invocation</a:t>
            </a:r>
          </a:p>
          <a:p>
            <a:endParaRPr lang="en-US" sz="1600" dirty="0"/>
          </a:p>
        </p:txBody>
      </p:sp>
      <p:sp>
        <p:nvSpPr>
          <p:cNvPr id="32" name="圆角矩形 31"/>
          <p:cNvSpPr/>
          <p:nvPr/>
        </p:nvSpPr>
        <p:spPr>
          <a:xfrm>
            <a:off x="6939874" y="3758526"/>
            <a:ext cx="2194431" cy="25397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直接箭头连接符 77"/>
          <p:cNvCxnSpPr/>
          <p:nvPr/>
        </p:nvCxnSpPr>
        <p:spPr>
          <a:xfrm>
            <a:off x="7995867" y="4272813"/>
            <a:ext cx="0" cy="47257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本框 88"/>
          <p:cNvSpPr txBox="1"/>
          <p:nvPr/>
        </p:nvSpPr>
        <p:spPr>
          <a:xfrm>
            <a:off x="2143624" y="2077655"/>
            <a:ext cx="2617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Agent/multi-agent system</a:t>
            </a:r>
            <a:endParaRPr lang="en-US" dirty="0"/>
          </a:p>
        </p:txBody>
      </p:sp>
      <p:sp>
        <p:nvSpPr>
          <p:cNvPr id="90" name="右箭头 89"/>
          <p:cNvSpPr/>
          <p:nvPr/>
        </p:nvSpPr>
        <p:spPr>
          <a:xfrm>
            <a:off x="1162436" y="3563960"/>
            <a:ext cx="1338787" cy="2806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文本框 90"/>
          <p:cNvSpPr txBox="1"/>
          <p:nvPr/>
        </p:nvSpPr>
        <p:spPr>
          <a:xfrm>
            <a:off x="167520" y="3521780"/>
            <a:ext cx="944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Request</a:t>
            </a:r>
            <a:endParaRPr lang="en-US" dirty="0"/>
          </a:p>
        </p:txBody>
      </p:sp>
      <p:sp>
        <p:nvSpPr>
          <p:cNvPr id="92" name="右箭头 91"/>
          <p:cNvSpPr/>
          <p:nvPr/>
        </p:nvSpPr>
        <p:spPr>
          <a:xfrm>
            <a:off x="6290611" y="3585096"/>
            <a:ext cx="338512" cy="25954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右箭头 92"/>
          <p:cNvSpPr/>
          <p:nvPr/>
        </p:nvSpPr>
        <p:spPr>
          <a:xfrm>
            <a:off x="9592392" y="3591445"/>
            <a:ext cx="1013286" cy="25954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文本框 93"/>
          <p:cNvSpPr txBox="1"/>
          <p:nvPr/>
        </p:nvSpPr>
        <p:spPr>
          <a:xfrm>
            <a:off x="10659421" y="3521780"/>
            <a:ext cx="108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Response</a:t>
            </a:r>
            <a:endParaRPr lang="en-US" dirty="0"/>
          </a:p>
        </p:txBody>
      </p:sp>
      <p:grpSp>
        <p:nvGrpSpPr>
          <p:cNvPr id="102" name="组合 101"/>
          <p:cNvGrpSpPr/>
          <p:nvPr/>
        </p:nvGrpSpPr>
        <p:grpSpPr>
          <a:xfrm>
            <a:off x="7399370" y="4765940"/>
            <a:ext cx="1163977" cy="1011916"/>
            <a:chOff x="7212549" y="5006342"/>
            <a:chExt cx="1311071" cy="1107967"/>
          </a:xfrm>
          <a:solidFill>
            <a:schemeClr val="accent6"/>
          </a:solidFill>
        </p:grpSpPr>
        <p:grpSp>
          <p:nvGrpSpPr>
            <p:cNvPr id="86" name="组合 85"/>
            <p:cNvGrpSpPr/>
            <p:nvPr/>
          </p:nvGrpSpPr>
          <p:grpSpPr>
            <a:xfrm>
              <a:off x="7212549" y="5006342"/>
              <a:ext cx="1311071" cy="1107967"/>
              <a:chOff x="5656280" y="4364207"/>
              <a:chExt cx="1311071" cy="1107967"/>
            </a:xfrm>
            <a:grpFill/>
          </p:grpSpPr>
          <p:sp>
            <p:nvSpPr>
              <p:cNvPr id="36" name="椭圆 35"/>
              <p:cNvSpPr/>
              <p:nvPr/>
            </p:nvSpPr>
            <p:spPr>
              <a:xfrm>
                <a:off x="5722884" y="4939840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椭圆 36"/>
              <p:cNvSpPr/>
              <p:nvPr/>
            </p:nvSpPr>
            <p:spPr>
              <a:xfrm>
                <a:off x="6072206" y="5297785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椭圆 37"/>
              <p:cNvSpPr/>
              <p:nvPr/>
            </p:nvSpPr>
            <p:spPr>
              <a:xfrm>
                <a:off x="6780793" y="4703954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椭圆 38"/>
              <p:cNvSpPr/>
              <p:nvPr/>
            </p:nvSpPr>
            <p:spPr>
              <a:xfrm>
                <a:off x="5656280" y="4428724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椭圆 39"/>
              <p:cNvSpPr/>
              <p:nvPr/>
            </p:nvSpPr>
            <p:spPr>
              <a:xfrm>
                <a:off x="6231443" y="4364207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直接连接符 41"/>
              <p:cNvCxnSpPr>
                <a:stCxn id="38" idx="2"/>
                <a:endCxn id="39" idx="5"/>
              </p:cNvCxnSpPr>
              <p:nvPr/>
            </p:nvCxnSpPr>
            <p:spPr>
              <a:xfrm flipH="1" flipV="1">
                <a:off x="5815517" y="4577574"/>
                <a:ext cx="965276" cy="213575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/>
              <p:cNvCxnSpPr>
                <a:stCxn id="40" idx="4"/>
                <a:endCxn id="36" idx="6"/>
              </p:cNvCxnSpPr>
              <p:nvPr/>
            </p:nvCxnSpPr>
            <p:spPr>
              <a:xfrm flipH="1">
                <a:off x="5909442" y="4538596"/>
                <a:ext cx="415280" cy="48843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>
                <a:stCxn id="40" idx="4"/>
                <a:endCxn id="37" idx="0"/>
              </p:cNvCxnSpPr>
              <p:nvPr/>
            </p:nvCxnSpPr>
            <p:spPr>
              <a:xfrm flipH="1">
                <a:off x="6165485" y="4538596"/>
                <a:ext cx="159237" cy="75918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/>
              <p:cNvCxnSpPr>
                <a:stCxn id="40" idx="3"/>
                <a:endCxn id="38" idx="2"/>
              </p:cNvCxnSpPr>
              <p:nvPr/>
            </p:nvCxnSpPr>
            <p:spPr>
              <a:xfrm>
                <a:off x="6258764" y="4513057"/>
                <a:ext cx="522029" cy="278092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接连接符 56"/>
              <p:cNvCxnSpPr>
                <a:stCxn id="38" idx="2"/>
                <a:endCxn id="37" idx="0"/>
              </p:cNvCxnSpPr>
              <p:nvPr/>
            </p:nvCxnSpPr>
            <p:spPr>
              <a:xfrm flipH="1">
                <a:off x="6165485" y="4791149"/>
                <a:ext cx="615308" cy="506636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>
                <a:stCxn id="39" idx="5"/>
                <a:endCxn id="37" idx="1"/>
              </p:cNvCxnSpPr>
              <p:nvPr/>
            </p:nvCxnSpPr>
            <p:spPr>
              <a:xfrm>
                <a:off x="5815517" y="4577574"/>
                <a:ext cx="284010" cy="745750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接连接符 65"/>
              <p:cNvCxnSpPr>
                <a:stCxn id="38" idx="2"/>
                <a:endCxn id="36" idx="6"/>
              </p:cNvCxnSpPr>
              <p:nvPr/>
            </p:nvCxnSpPr>
            <p:spPr>
              <a:xfrm flipH="1">
                <a:off x="5909442" y="4791149"/>
                <a:ext cx="871351" cy="235886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5" name="椭圆 94"/>
            <p:cNvSpPr/>
            <p:nvPr/>
          </p:nvSpPr>
          <p:spPr>
            <a:xfrm>
              <a:off x="8091389" y="5791070"/>
              <a:ext cx="186558" cy="174389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6" name="直接连接符 95"/>
            <p:cNvCxnSpPr>
              <a:stCxn id="95" idx="1"/>
              <a:endCxn id="39" idx="5"/>
            </p:cNvCxnSpPr>
            <p:nvPr/>
          </p:nvCxnSpPr>
          <p:spPr>
            <a:xfrm flipH="1" flipV="1">
              <a:off x="7371786" y="5219709"/>
              <a:ext cx="746924" cy="5969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连接符 98"/>
            <p:cNvCxnSpPr>
              <a:stCxn id="40" idx="4"/>
              <a:endCxn id="39" idx="5"/>
            </p:cNvCxnSpPr>
            <p:nvPr/>
          </p:nvCxnSpPr>
          <p:spPr>
            <a:xfrm flipH="1">
              <a:off x="7371786" y="5180731"/>
              <a:ext cx="509205" cy="38978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圆角矩形 108"/>
          <p:cNvSpPr/>
          <p:nvPr/>
        </p:nvSpPr>
        <p:spPr>
          <a:xfrm>
            <a:off x="142343" y="4581765"/>
            <a:ext cx="1782282" cy="134183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0" name="圆角矩形 109"/>
          <p:cNvSpPr/>
          <p:nvPr/>
        </p:nvSpPr>
        <p:spPr>
          <a:xfrm>
            <a:off x="4673487" y="4602367"/>
            <a:ext cx="2618387" cy="132123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1" name="圆角矩形 110"/>
          <p:cNvSpPr/>
          <p:nvPr/>
        </p:nvSpPr>
        <p:spPr>
          <a:xfrm>
            <a:off x="8588891" y="4602367"/>
            <a:ext cx="2323620" cy="133984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16" name="组合 115"/>
          <p:cNvGrpSpPr/>
          <p:nvPr/>
        </p:nvGrpSpPr>
        <p:grpSpPr>
          <a:xfrm>
            <a:off x="197467" y="4666603"/>
            <a:ext cx="1638297" cy="276999"/>
            <a:chOff x="1416514" y="5422616"/>
            <a:chExt cx="1638297" cy="276999"/>
          </a:xfrm>
        </p:grpSpPr>
        <p:sp>
          <p:nvSpPr>
            <p:cNvPr id="113" name="圆角矩形 112"/>
            <p:cNvSpPr/>
            <p:nvPr/>
          </p:nvSpPr>
          <p:spPr>
            <a:xfrm>
              <a:off x="1447231" y="5481288"/>
              <a:ext cx="1607580" cy="1862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14" name="矩形 113"/>
            <p:cNvSpPr/>
            <p:nvPr/>
          </p:nvSpPr>
          <p:spPr>
            <a:xfrm>
              <a:off x="1416514" y="5422616"/>
              <a:ext cx="1593834" cy="276999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r>
                <a:rPr lang="en-US" sz="1200" dirty="0" smtClean="0"/>
                <a:t>Access and Permission</a:t>
              </a:r>
              <a:endParaRPr lang="en-US" sz="1200" dirty="0"/>
            </a:p>
          </p:txBody>
        </p:sp>
      </p:grpSp>
      <p:sp>
        <p:nvSpPr>
          <p:cNvPr id="121" name="矩形 120"/>
          <p:cNvSpPr/>
          <p:nvPr/>
        </p:nvSpPr>
        <p:spPr>
          <a:xfrm>
            <a:off x="4961417" y="4670567"/>
            <a:ext cx="1593834" cy="276999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1200" dirty="0" smtClean="0"/>
              <a:t>Access and Permission</a:t>
            </a:r>
            <a:endParaRPr 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8616757" y="4654447"/>
            <a:ext cx="2164503" cy="276999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1200" dirty="0" smtClean="0"/>
              <a:t>Intent Validation and Alignment</a:t>
            </a:r>
            <a:endParaRPr lang="en-US" sz="1200" dirty="0"/>
          </a:p>
        </p:txBody>
      </p:sp>
      <p:sp>
        <p:nvSpPr>
          <p:cNvPr id="127" name="矩形 126"/>
          <p:cNvSpPr/>
          <p:nvPr/>
        </p:nvSpPr>
        <p:spPr>
          <a:xfrm>
            <a:off x="4770357" y="4911475"/>
            <a:ext cx="2164503" cy="276999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1200" dirty="0" smtClean="0"/>
              <a:t>Intent Validation and Alignment</a:t>
            </a:r>
            <a:endParaRPr lang="en-US" sz="1200" dirty="0"/>
          </a:p>
        </p:txBody>
      </p:sp>
      <p:sp>
        <p:nvSpPr>
          <p:cNvPr id="130" name="矩形 129"/>
          <p:cNvSpPr/>
          <p:nvPr/>
        </p:nvSpPr>
        <p:spPr>
          <a:xfrm>
            <a:off x="4761457" y="5218128"/>
            <a:ext cx="2400081" cy="276999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1200" dirty="0" smtClean="0"/>
              <a:t>Temporal and Data/Context Validity</a:t>
            </a:r>
            <a:endParaRPr lang="en-US" sz="1200" dirty="0"/>
          </a:p>
        </p:txBody>
      </p:sp>
      <p:sp>
        <p:nvSpPr>
          <p:cNvPr id="136" name="矩形 135"/>
          <p:cNvSpPr/>
          <p:nvPr/>
        </p:nvSpPr>
        <p:spPr>
          <a:xfrm>
            <a:off x="4846735" y="5545456"/>
            <a:ext cx="1896866" cy="276999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1200" dirty="0" smtClean="0"/>
              <a:t>Authorization and Approval</a:t>
            </a:r>
            <a:endParaRPr lang="en-US" sz="1200" dirty="0"/>
          </a:p>
        </p:txBody>
      </p:sp>
      <p:sp>
        <p:nvSpPr>
          <p:cNvPr id="153" name="圆角矩形 152"/>
          <p:cNvSpPr/>
          <p:nvPr/>
        </p:nvSpPr>
        <p:spPr>
          <a:xfrm>
            <a:off x="2122212" y="4585899"/>
            <a:ext cx="2483014" cy="13377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31" name="组合 130"/>
          <p:cNvGrpSpPr/>
          <p:nvPr/>
        </p:nvGrpSpPr>
        <p:grpSpPr>
          <a:xfrm>
            <a:off x="2183788" y="4667910"/>
            <a:ext cx="2332925" cy="283319"/>
            <a:chOff x="1330331" y="5466879"/>
            <a:chExt cx="2565022" cy="283319"/>
          </a:xfrm>
        </p:grpSpPr>
        <p:sp>
          <p:nvSpPr>
            <p:cNvPr id="132" name="圆角矩形 131"/>
            <p:cNvSpPr/>
            <p:nvPr/>
          </p:nvSpPr>
          <p:spPr>
            <a:xfrm>
              <a:off x="1393766" y="5491338"/>
              <a:ext cx="2501587" cy="25886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33" name="矩形 132"/>
            <p:cNvSpPr/>
            <p:nvPr/>
          </p:nvSpPr>
          <p:spPr>
            <a:xfrm>
              <a:off x="1330331" y="5466879"/>
              <a:ext cx="2400081" cy="276999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r>
                <a:rPr lang="en-US" sz="1200" dirty="0" smtClean="0"/>
                <a:t>Temporal and Data/Context Validity</a:t>
              </a:r>
              <a:endParaRPr lang="en-US" sz="1200" dirty="0"/>
            </a:p>
          </p:txBody>
        </p:sp>
      </p:grpSp>
      <p:sp>
        <p:nvSpPr>
          <p:cNvPr id="156" name="文本框 155"/>
          <p:cNvSpPr txBox="1"/>
          <p:nvPr/>
        </p:nvSpPr>
        <p:spPr>
          <a:xfrm>
            <a:off x="-2761" y="6403073"/>
            <a:ext cx="3131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Before the agent sees the input</a:t>
            </a:r>
            <a:endParaRPr lang="en-US" dirty="0"/>
          </a:p>
        </p:txBody>
      </p:sp>
      <p:sp>
        <p:nvSpPr>
          <p:cNvPr id="157" name="文本框 156"/>
          <p:cNvSpPr txBox="1"/>
          <p:nvPr/>
        </p:nvSpPr>
        <p:spPr>
          <a:xfrm>
            <a:off x="3089357" y="6405969"/>
            <a:ext cx="1627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During thinking</a:t>
            </a:r>
            <a:endParaRPr lang="en-US" dirty="0"/>
          </a:p>
        </p:txBody>
      </p:sp>
      <p:sp>
        <p:nvSpPr>
          <p:cNvPr id="158" name="文本框 157"/>
          <p:cNvSpPr txBox="1"/>
          <p:nvPr/>
        </p:nvSpPr>
        <p:spPr>
          <a:xfrm>
            <a:off x="5429221" y="6411744"/>
            <a:ext cx="1769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Before execution</a:t>
            </a:r>
            <a:endParaRPr lang="en-US" dirty="0"/>
          </a:p>
        </p:txBody>
      </p:sp>
      <p:sp>
        <p:nvSpPr>
          <p:cNvPr id="88" name="矩形 87"/>
          <p:cNvSpPr/>
          <p:nvPr/>
        </p:nvSpPr>
        <p:spPr>
          <a:xfrm>
            <a:off x="2137453" y="2042381"/>
            <a:ext cx="7790318" cy="22304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文本框 158"/>
          <p:cNvSpPr txBox="1"/>
          <p:nvPr/>
        </p:nvSpPr>
        <p:spPr>
          <a:xfrm>
            <a:off x="8500002" y="6424010"/>
            <a:ext cx="1624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After execution</a:t>
            </a:r>
            <a:endParaRPr lang="en-US" dirty="0"/>
          </a:p>
        </p:txBody>
      </p:sp>
      <p:sp>
        <p:nvSpPr>
          <p:cNvPr id="160" name="圆角矩形 159"/>
          <p:cNvSpPr/>
          <p:nvPr/>
        </p:nvSpPr>
        <p:spPr>
          <a:xfrm>
            <a:off x="4824378" y="4725172"/>
            <a:ext cx="2229986" cy="17671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1" name="圆角矩形 160"/>
          <p:cNvSpPr/>
          <p:nvPr/>
        </p:nvSpPr>
        <p:spPr>
          <a:xfrm>
            <a:off x="4816662" y="4956393"/>
            <a:ext cx="2246667" cy="22239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2" name="圆角矩形 161"/>
          <p:cNvSpPr/>
          <p:nvPr/>
        </p:nvSpPr>
        <p:spPr>
          <a:xfrm>
            <a:off x="4816661" y="5246869"/>
            <a:ext cx="2236937" cy="21118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3" name="圆角矩形 162"/>
          <p:cNvSpPr/>
          <p:nvPr/>
        </p:nvSpPr>
        <p:spPr>
          <a:xfrm>
            <a:off x="4830260" y="5561535"/>
            <a:ext cx="2233069" cy="21632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4" name="圆角矩形 163"/>
          <p:cNvSpPr/>
          <p:nvPr/>
        </p:nvSpPr>
        <p:spPr>
          <a:xfrm>
            <a:off x="8654716" y="4687355"/>
            <a:ext cx="2151871" cy="21118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6" name="矩形 165"/>
          <p:cNvSpPr/>
          <p:nvPr/>
        </p:nvSpPr>
        <p:spPr>
          <a:xfrm>
            <a:off x="8956346" y="4975608"/>
            <a:ext cx="1430584" cy="276999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1200" dirty="0" smtClean="0"/>
              <a:t>Failure and Liveness</a:t>
            </a:r>
            <a:endParaRPr lang="en-US" sz="1200" dirty="0"/>
          </a:p>
        </p:txBody>
      </p:sp>
      <p:sp>
        <p:nvSpPr>
          <p:cNvPr id="167" name="圆角矩形 166"/>
          <p:cNvSpPr/>
          <p:nvPr/>
        </p:nvSpPr>
        <p:spPr>
          <a:xfrm>
            <a:off x="8665001" y="5008516"/>
            <a:ext cx="2151871" cy="21118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391468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下箭头 151"/>
          <p:cNvSpPr/>
          <p:nvPr/>
        </p:nvSpPr>
        <p:spPr>
          <a:xfrm>
            <a:off x="3328098" y="4272813"/>
            <a:ext cx="244883" cy="2062690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下箭头 154"/>
          <p:cNvSpPr/>
          <p:nvPr/>
        </p:nvSpPr>
        <p:spPr>
          <a:xfrm>
            <a:off x="9142378" y="4132186"/>
            <a:ext cx="244883" cy="2258565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下箭头 153"/>
          <p:cNvSpPr/>
          <p:nvPr/>
        </p:nvSpPr>
        <p:spPr>
          <a:xfrm>
            <a:off x="6264920" y="3894968"/>
            <a:ext cx="244883" cy="2495784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下箭头 148"/>
          <p:cNvSpPr/>
          <p:nvPr/>
        </p:nvSpPr>
        <p:spPr>
          <a:xfrm>
            <a:off x="1318074" y="3914579"/>
            <a:ext cx="244883" cy="2509688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7" name="组合 86"/>
          <p:cNvGrpSpPr/>
          <p:nvPr/>
        </p:nvGrpSpPr>
        <p:grpSpPr>
          <a:xfrm>
            <a:off x="2502952" y="3292604"/>
            <a:ext cx="3760371" cy="1013389"/>
            <a:chOff x="2355073" y="2940911"/>
            <a:chExt cx="3760371" cy="1013389"/>
          </a:xfrm>
        </p:grpSpPr>
        <p:sp>
          <p:nvSpPr>
            <p:cNvPr id="12" name="圆角矩形 11"/>
            <p:cNvSpPr/>
            <p:nvPr/>
          </p:nvSpPr>
          <p:spPr>
            <a:xfrm>
              <a:off x="2355073" y="2940911"/>
              <a:ext cx="3755092" cy="83958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736874" y="2970552"/>
              <a:ext cx="22212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Reasoning &amp; Planning</a:t>
              </a:r>
              <a:endParaRPr lang="en-US" dirty="0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390854" y="3369525"/>
              <a:ext cx="182761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Task decomposition</a:t>
              </a:r>
            </a:p>
            <a:p>
              <a:endParaRPr lang="en-US" sz="1600" dirty="0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4213192" y="3369525"/>
              <a:ext cx="190225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Route plan to agents</a:t>
              </a:r>
            </a:p>
            <a:p>
              <a:endParaRPr lang="en-US" sz="1600" dirty="0"/>
            </a:p>
          </p:txBody>
        </p:sp>
        <p:sp>
          <p:nvSpPr>
            <p:cNvPr id="18" name="圆角矩形 17"/>
            <p:cNvSpPr/>
            <p:nvPr/>
          </p:nvSpPr>
          <p:spPr>
            <a:xfrm>
              <a:off x="2400207" y="3441540"/>
              <a:ext cx="1765579" cy="25397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圆角矩形 18"/>
            <p:cNvSpPr/>
            <p:nvPr/>
          </p:nvSpPr>
          <p:spPr>
            <a:xfrm>
              <a:off x="4269089" y="3423703"/>
              <a:ext cx="1759466" cy="24566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82408" y="317535"/>
            <a:ext cx="10515600" cy="1325563"/>
          </a:xfrm>
        </p:spPr>
        <p:txBody>
          <a:bodyPr/>
          <a:lstStyle/>
          <a:p>
            <a:r>
              <a:rPr lang="en-US" dirty="0" smtClean="0"/>
              <a:t>Agent Intervention Architecture and Requirements</a:t>
            </a:r>
            <a:endParaRPr lang="en-US" dirty="0"/>
          </a:p>
        </p:txBody>
      </p:sp>
      <p:sp>
        <p:nvSpPr>
          <p:cNvPr id="16" name="圆角矩形 15"/>
          <p:cNvSpPr/>
          <p:nvPr/>
        </p:nvSpPr>
        <p:spPr>
          <a:xfrm>
            <a:off x="2548086" y="2515680"/>
            <a:ext cx="2930360" cy="54864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Short-term memory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6040208" y="2526567"/>
            <a:ext cx="3018834" cy="54864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Data &amp; Knowledge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623843" y="3284509"/>
            <a:ext cx="2952236" cy="83958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文本框 28"/>
          <p:cNvSpPr txBox="1"/>
          <p:nvPr/>
        </p:nvSpPr>
        <p:spPr>
          <a:xfrm>
            <a:off x="7490444" y="3327178"/>
            <a:ext cx="10986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Execution</a:t>
            </a:r>
            <a:endParaRPr lang="en-US" dirty="0"/>
          </a:p>
        </p:txBody>
      </p:sp>
      <p:sp>
        <p:nvSpPr>
          <p:cNvPr id="30" name="文本框 29"/>
          <p:cNvSpPr txBox="1"/>
          <p:nvPr/>
        </p:nvSpPr>
        <p:spPr>
          <a:xfrm>
            <a:off x="6898314" y="3717119"/>
            <a:ext cx="22775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Tool/API/Skills Invocation</a:t>
            </a:r>
          </a:p>
          <a:p>
            <a:endParaRPr lang="en-US" sz="1600" dirty="0"/>
          </a:p>
        </p:txBody>
      </p:sp>
      <p:sp>
        <p:nvSpPr>
          <p:cNvPr id="32" name="圆角矩形 31"/>
          <p:cNvSpPr/>
          <p:nvPr/>
        </p:nvSpPr>
        <p:spPr>
          <a:xfrm>
            <a:off x="6939874" y="3758526"/>
            <a:ext cx="2194431" cy="25397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直接箭头连接符 77"/>
          <p:cNvCxnSpPr/>
          <p:nvPr/>
        </p:nvCxnSpPr>
        <p:spPr>
          <a:xfrm>
            <a:off x="7995867" y="4272813"/>
            <a:ext cx="0" cy="47257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本框 88"/>
          <p:cNvSpPr txBox="1"/>
          <p:nvPr/>
        </p:nvSpPr>
        <p:spPr>
          <a:xfrm>
            <a:off x="2143624" y="2077655"/>
            <a:ext cx="2617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Agent/multi-agent system</a:t>
            </a:r>
            <a:endParaRPr lang="en-US" dirty="0"/>
          </a:p>
        </p:txBody>
      </p:sp>
      <p:sp>
        <p:nvSpPr>
          <p:cNvPr id="90" name="右箭头 89"/>
          <p:cNvSpPr/>
          <p:nvPr/>
        </p:nvSpPr>
        <p:spPr>
          <a:xfrm>
            <a:off x="1162436" y="3563960"/>
            <a:ext cx="1338787" cy="2806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文本框 90"/>
          <p:cNvSpPr txBox="1"/>
          <p:nvPr/>
        </p:nvSpPr>
        <p:spPr>
          <a:xfrm>
            <a:off x="167520" y="3521780"/>
            <a:ext cx="944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Request</a:t>
            </a:r>
            <a:endParaRPr lang="en-US" dirty="0"/>
          </a:p>
        </p:txBody>
      </p:sp>
      <p:sp>
        <p:nvSpPr>
          <p:cNvPr id="92" name="右箭头 91"/>
          <p:cNvSpPr/>
          <p:nvPr/>
        </p:nvSpPr>
        <p:spPr>
          <a:xfrm>
            <a:off x="6290611" y="3585096"/>
            <a:ext cx="338512" cy="25954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右箭头 92"/>
          <p:cNvSpPr/>
          <p:nvPr/>
        </p:nvSpPr>
        <p:spPr>
          <a:xfrm>
            <a:off x="9592392" y="3591445"/>
            <a:ext cx="1013286" cy="25954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文本框 93"/>
          <p:cNvSpPr txBox="1"/>
          <p:nvPr/>
        </p:nvSpPr>
        <p:spPr>
          <a:xfrm>
            <a:off x="10659421" y="3521780"/>
            <a:ext cx="108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Response</a:t>
            </a:r>
            <a:endParaRPr lang="en-US" dirty="0"/>
          </a:p>
        </p:txBody>
      </p:sp>
      <p:grpSp>
        <p:nvGrpSpPr>
          <p:cNvPr id="102" name="组合 101"/>
          <p:cNvGrpSpPr/>
          <p:nvPr/>
        </p:nvGrpSpPr>
        <p:grpSpPr>
          <a:xfrm>
            <a:off x="7399370" y="4765940"/>
            <a:ext cx="1163977" cy="1011916"/>
            <a:chOff x="7212549" y="5006342"/>
            <a:chExt cx="1311071" cy="1107967"/>
          </a:xfrm>
          <a:solidFill>
            <a:schemeClr val="accent6"/>
          </a:solidFill>
        </p:grpSpPr>
        <p:grpSp>
          <p:nvGrpSpPr>
            <p:cNvPr id="86" name="组合 85"/>
            <p:cNvGrpSpPr/>
            <p:nvPr/>
          </p:nvGrpSpPr>
          <p:grpSpPr>
            <a:xfrm>
              <a:off x="7212549" y="5006342"/>
              <a:ext cx="1311071" cy="1107967"/>
              <a:chOff x="5656280" y="4364207"/>
              <a:chExt cx="1311071" cy="1107967"/>
            </a:xfrm>
            <a:grpFill/>
          </p:grpSpPr>
          <p:sp>
            <p:nvSpPr>
              <p:cNvPr id="36" name="椭圆 35"/>
              <p:cNvSpPr/>
              <p:nvPr/>
            </p:nvSpPr>
            <p:spPr>
              <a:xfrm>
                <a:off x="5722884" y="4939840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椭圆 36"/>
              <p:cNvSpPr/>
              <p:nvPr/>
            </p:nvSpPr>
            <p:spPr>
              <a:xfrm>
                <a:off x="6072206" y="5297785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椭圆 37"/>
              <p:cNvSpPr/>
              <p:nvPr/>
            </p:nvSpPr>
            <p:spPr>
              <a:xfrm>
                <a:off x="6780793" y="4703954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椭圆 38"/>
              <p:cNvSpPr/>
              <p:nvPr/>
            </p:nvSpPr>
            <p:spPr>
              <a:xfrm>
                <a:off x="5656280" y="4428724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椭圆 39"/>
              <p:cNvSpPr/>
              <p:nvPr/>
            </p:nvSpPr>
            <p:spPr>
              <a:xfrm>
                <a:off x="6231443" y="4364207"/>
                <a:ext cx="186558" cy="174389"/>
              </a:xfrm>
              <a:prstGeom prst="ellipse">
                <a:avLst/>
              </a:prstGeom>
              <a:grpFill/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直接连接符 41"/>
              <p:cNvCxnSpPr>
                <a:stCxn id="38" idx="2"/>
                <a:endCxn id="39" idx="5"/>
              </p:cNvCxnSpPr>
              <p:nvPr/>
            </p:nvCxnSpPr>
            <p:spPr>
              <a:xfrm flipH="1" flipV="1">
                <a:off x="5815517" y="4577574"/>
                <a:ext cx="965276" cy="213575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/>
              <p:cNvCxnSpPr>
                <a:stCxn id="40" idx="4"/>
                <a:endCxn id="36" idx="6"/>
              </p:cNvCxnSpPr>
              <p:nvPr/>
            </p:nvCxnSpPr>
            <p:spPr>
              <a:xfrm flipH="1">
                <a:off x="5909442" y="4538596"/>
                <a:ext cx="415280" cy="48843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>
                <a:stCxn id="40" idx="4"/>
                <a:endCxn id="37" idx="0"/>
              </p:cNvCxnSpPr>
              <p:nvPr/>
            </p:nvCxnSpPr>
            <p:spPr>
              <a:xfrm flipH="1">
                <a:off x="6165485" y="4538596"/>
                <a:ext cx="159237" cy="75918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/>
              <p:cNvCxnSpPr>
                <a:stCxn id="40" idx="3"/>
                <a:endCxn id="38" idx="2"/>
              </p:cNvCxnSpPr>
              <p:nvPr/>
            </p:nvCxnSpPr>
            <p:spPr>
              <a:xfrm>
                <a:off x="6258764" y="4513057"/>
                <a:ext cx="522029" cy="278092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接连接符 56"/>
              <p:cNvCxnSpPr>
                <a:stCxn id="38" idx="2"/>
                <a:endCxn id="37" idx="0"/>
              </p:cNvCxnSpPr>
              <p:nvPr/>
            </p:nvCxnSpPr>
            <p:spPr>
              <a:xfrm flipH="1">
                <a:off x="6165485" y="4791149"/>
                <a:ext cx="615308" cy="506636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>
                <a:stCxn id="39" idx="5"/>
                <a:endCxn id="37" idx="1"/>
              </p:cNvCxnSpPr>
              <p:nvPr/>
            </p:nvCxnSpPr>
            <p:spPr>
              <a:xfrm>
                <a:off x="5815517" y="4577574"/>
                <a:ext cx="284010" cy="745750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接连接符 65"/>
              <p:cNvCxnSpPr>
                <a:stCxn id="38" idx="2"/>
                <a:endCxn id="36" idx="6"/>
              </p:cNvCxnSpPr>
              <p:nvPr/>
            </p:nvCxnSpPr>
            <p:spPr>
              <a:xfrm flipH="1">
                <a:off x="5909442" y="4791149"/>
                <a:ext cx="871351" cy="235886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5" name="椭圆 94"/>
            <p:cNvSpPr/>
            <p:nvPr/>
          </p:nvSpPr>
          <p:spPr>
            <a:xfrm>
              <a:off x="8091389" y="5791070"/>
              <a:ext cx="186558" cy="174389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6" name="直接连接符 95"/>
            <p:cNvCxnSpPr>
              <a:stCxn id="95" idx="1"/>
              <a:endCxn id="39" idx="5"/>
            </p:cNvCxnSpPr>
            <p:nvPr/>
          </p:nvCxnSpPr>
          <p:spPr>
            <a:xfrm flipH="1" flipV="1">
              <a:off x="7371786" y="5219709"/>
              <a:ext cx="746924" cy="5969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连接符 98"/>
            <p:cNvCxnSpPr>
              <a:stCxn id="40" idx="4"/>
              <a:endCxn id="39" idx="5"/>
            </p:cNvCxnSpPr>
            <p:nvPr/>
          </p:nvCxnSpPr>
          <p:spPr>
            <a:xfrm flipH="1">
              <a:off x="7371786" y="5180731"/>
              <a:ext cx="509205" cy="38978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圆角矩形 108"/>
          <p:cNvSpPr/>
          <p:nvPr/>
        </p:nvSpPr>
        <p:spPr>
          <a:xfrm>
            <a:off x="142343" y="4581765"/>
            <a:ext cx="1782282" cy="134183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0" name="圆角矩形 109"/>
          <p:cNvSpPr/>
          <p:nvPr/>
        </p:nvSpPr>
        <p:spPr>
          <a:xfrm>
            <a:off x="4673487" y="4602367"/>
            <a:ext cx="2618387" cy="132123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1" name="圆角矩形 110"/>
          <p:cNvSpPr/>
          <p:nvPr/>
        </p:nvSpPr>
        <p:spPr>
          <a:xfrm>
            <a:off x="8588891" y="4602367"/>
            <a:ext cx="2323620" cy="133984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16" name="组合 115"/>
          <p:cNvGrpSpPr/>
          <p:nvPr/>
        </p:nvGrpSpPr>
        <p:grpSpPr>
          <a:xfrm>
            <a:off x="197467" y="4666603"/>
            <a:ext cx="1638297" cy="276999"/>
            <a:chOff x="1416514" y="5422616"/>
            <a:chExt cx="1638297" cy="276999"/>
          </a:xfrm>
        </p:grpSpPr>
        <p:sp>
          <p:nvSpPr>
            <p:cNvPr id="113" name="圆角矩形 112"/>
            <p:cNvSpPr/>
            <p:nvPr/>
          </p:nvSpPr>
          <p:spPr>
            <a:xfrm>
              <a:off x="1447231" y="5481288"/>
              <a:ext cx="1607580" cy="1862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14" name="矩形 113"/>
            <p:cNvSpPr/>
            <p:nvPr/>
          </p:nvSpPr>
          <p:spPr>
            <a:xfrm>
              <a:off x="1416514" y="5422616"/>
              <a:ext cx="1593834" cy="276999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r>
                <a:rPr lang="en-US" sz="1200" dirty="0" smtClean="0"/>
                <a:t>Access and Permission</a:t>
              </a:r>
              <a:endParaRPr lang="en-US" sz="1200" dirty="0"/>
            </a:p>
          </p:txBody>
        </p:sp>
      </p:grpSp>
      <p:sp>
        <p:nvSpPr>
          <p:cNvPr id="121" name="矩形 120"/>
          <p:cNvSpPr/>
          <p:nvPr/>
        </p:nvSpPr>
        <p:spPr>
          <a:xfrm>
            <a:off x="4961417" y="4670567"/>
            <a:ext cx="1593834" cy="276999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1200" dirty="0" smtClean="0"/>
              <a:t>Access and Permission</a:t>
            </a:r>
            <a:endParaRPr 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8616757" y="4654447"/>
            <a:ext cx="2164503" cy="276999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1200" dirty="0" smtClean="0"/>
              <a:t>Intent Validation and Alignment</a:t>
            </a:r>
            <a:endParaRPr lang="en-US" sz="1200" dirty="0"/>
          </a:p>
        </p:txBody>
      </p:sp>
      <p:sp>
        <p:nvSpPr>
          <p:cNvPr id="127" name="矩形 126"/>
          <p:cNvSpPr/>
          <p:nvPr/>
        </p:nvSpPr>
        <p:spPr>
          <a:xfrm>
            <a:off x="4770357" y="4911475"/>
            <a:ext cx="2164503" cy="276999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1200" dirty="0" smtClean="0"/>
              <a:t>Intent Validation and Alignment</a:t>
            </a:r>
            <a:endParaRPr lang="en-US" sz="1200" dirty="0"/>
          </a:p>
        </p:txBody>
      </p:sp>
      <p:sp>
        <p:nvSpPr>
          <p:cNvPr id="130" name="矩形 129"/>
          <p:cNvSpPr/>
          <p:nvPr/>
        </p:nvSpPr>
        <p:spPr>
          <a:xfrm>
            <a:off x="4761457" y="5218128"/>
            <a:ext cx="2400081" cy="276999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1200" dirty="0" smtClean="0"/>
              <a:t>Temporal and Data/Context Validity</a:t>
            </a:r>
            <a:endParaRPr lang="en-US" sz="1200" dirty="0"/>
          </a:p>
        </p:txBody>
      </p:sp>
      <p:sp>
        <p:nvSpPr>
          <p:cNvPr id="136" name="矩形 135"/>
          <p:cNvSpPr/>
          <p:nvPr/>
        </p:nvSpPr>
        <p:spPr>
          <a:xfrm>
            <a:off x="4846735" y="5545456"/>
            <a:ext cx="1896866" cy="276999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1200" dirty="0" smtClean="0"/>
              <a:t>Authorization and Approval</a:t>
            </a:r>
            <a:endParaRPr lang="en-US" sz="1200" dirty="0"/>
          </a:p>
        </p:txBody>
      </p:sp>
      <p:sp>
        <p:nvSpPr>
          <p:cNvPr id="153" name="圆角矩形 152"/>
          <p:cNvSpPr/>
          <p:nvPr/>
        </p:nvSpPr>
        <p:spPr>
          <a:xfrm>
            <a:off x="2122212" y="4585899"/>
            <a:ext cx="2483014" cy="13377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31" name="组合 130"/>
          <p:cNvGrpSpPr/>
          <p:nvPr/>
        </p:nvGrpSpPr>
        <p:grpSpPr>
          <a:xfrm>
            <a:off x="2183788" y="4667910"/>
            <a:ext cx="2332925" cy="283319"/>
            <a:chOff x="1330331" y="5466879"/>
            <a:chExt cx="2565022" cy="283319"/>
          </a:xfrm>
        </p:grpSpPr>
        <p:sp>
          <p:nvSpPr>
            <p:cNvPr id="132" name="圆角矩形 131"/>
            <p:cNvSpPr/>
            <p:nvPr/>
          </p:nvSpPr>
          <p:spPr>
            <a:xfrm>
              <a:off x="1393766" y="5491338"/>
              <a:ext cx="2501587" cy="25886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33" name="矩形 132"/>
            <p:cNvSpPr/>
            <p:nvPr/>
          </p:nvSpPr>
          <p:spPr>
            <a:xfrm>
              <a:off x="1330331" y="5466879"/>
              <a:ext cx="2400081" cy="276999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r>
                <a:rPr lang="en-US" sz="1200" dirty="0" smtClean="0"/>
                <a:t>Temporal and Data/Context Validity</a:t>
              </a:r>
              <a:endParaRPr lang="en-US" sz="1200" dirty="0"/>
            </a:p>
          </p:txBody>
        </p:sp>
      </p:grpSp>
      <p:sp>
        <p:nvSpPr>
          <p:cNvPr id="156" name="文本框 155"/>
          <p:cNvSpPr txBox="1"/>
          <p:nvPr/>
        </p:nvSpPr>
        <p:spPr>
          <a:xfrm>
            <a:off x="-2761" y="6403073"/>
            <a:ext cx="3131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Before the agent sees the input</a:t>
            </a:r>
            <a:endParaRPr lang="en-US" dirty="0"/>
          </a:p>
        </p:txBody>
      </p:sp>
      <p:sp>
        <p:nvSpPr>
          <p:cNvPr id="157" name="文本框 156"/>
          <p:cNvSpPr txBox="1"/>
          <p:nvPr/>
        </p:nvSpPr>
        <p:spPr>
          <a:xfrm>
            <a:off x="3089357" y="6405969"/>
            <a:ext cx="1627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During thinking</a:t>
            </a:r>
            <a:endParaRPr lang="en-US" dirty="0"/>
          </a:p>
        </p:txBody>
      </p:sp>
      <p:sp>
        <p:nvSpPr>
          <p:cNvPr id="158" name="文本框 157"/>
          <p:cNvSpPr txBox="1"/>
          <p:nvPr/>
        </p:nvSpPr>
        <p:spPr>
          <a:xfrm>
            <a:off x="5429221" y="6411744"/>
            <a:ext cx="1769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Before execution</a:t>
            </a:r>
            <a:endParaRPr lang="en-US" dirty="0"/>
          </a:p>
        </p:txBody>
      </p:sp>
      <p:sp>
        <p:nvSpPr>
          <p:cNvPr id="88" name="矩形 87"/>
          <p:cNvSpPr/>
          <p:nvPr/>
        </p:nvSpPr>
        <p:spPr>
          <a:xfrm>
            <a:off x="2137453" y="2042381"/>
            <a:ext cx="7790318" cy="22304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文本框 158"/>
          <p:cNvSpPr txBox="1"/>
          <p:nvPr/>
        </p:nvSpPr>
        <p:spPr>
          <a:xfrm>
            <a:off x="8500002" y="6424010"/>
            <a:ext cx="1624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After execution</a:t>
            </a:r>
            <a:endParaRPr lang="en-US" dirty="0"/>
          </a:p>
        </p:txBody>
      </p:sp>
      <p:sp>
        <p:nvSpPr>
          <p:cNvPr id="160" name="圆角矩形 159"/>
          <p:cNvSpPr/>
          <p:nvPr/>
        </p:nvSpPr>
        <p:spPr>
          <a:xfrm>
            <a:off x="4824378" y="4725172"/>
            <a:ext cx="2229986" cy="17671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1" name="圆角矩形 160"/>
          <p:cNvSpPr/>
          <p:nvPr/>
        </p:nvSpPr>
        <p:spPr>
          <a:xfrm>
            <a:off x="4816662" y="4956393"/>
            <a:ext cx="2246667" cy="22239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2" name="圆角矩形 161"/>
          <p:cNvSpPr/>
          <p:nvPr/>
        </p:nvSpPr>
        <p:spPr>
          <a:xfrm>
            <a:off x="4816661" y="5246869"/>
            <a:ext cx="2236937" cy="21118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3" name="圆角矩形 162"/>
          <p:cNvSpPr/>
          <p:nvPr/>
        </p:nvSpPr>
        <p:spPr>
          <a:xfrm>
            <a:off x="4830260" y="5561535"/>
            <a:ext cx="2233069" cy="21632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4" name="圆角矩形 163"/>
          <p:cNvSpPr/>
          <p:nvPr/>
        </p:nvSpPr>
        <p:spPr>
          <a:xfrm>
            <a:off x="8654716" y="4687355"/>
            <a:ext cx="2151871" cy="21118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6" name="矩形 165"/>
          <p:cNvSpPr/>
          <p:nvPr/>
        </p:nvSpPr>
        <p:spPr>
          <a:xfrm>
            <a:off x="8956346" y="4975608"/>
            <a:ext cx="1430584" cy="276999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1200" dirty="0" smtClean="0"/>
              <a:t>Failure and Liveness</a:t>
            </a:r>
            <a:endParaRPr lang="en-US" sz="1200" dirty="0"/>
          </a:p>
        </p:txBody>
      </p:sp>
      <p:sp>
        <p:nvSpPr>
          <p:cNvPr id="167" name="圆角矩形 166"/>
          <p:cNvSpPr/>
          <p:nvPr/>
        </p:nvSpPr>
        <p:spPr>
          <a:xfrm>
            <a:off x="8665001" y="5008516"/>
            <a:ext cx="2151871" cy="21118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573374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1559</TotalTime>
  <Words>187</Words>
  <Application>Microsoft Office PowerPoint</Application>
  <PresentationFormat>宽屏</PresentationFormat>
  <Paragraphs>65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宋体</vt:lpstr>
      <vt:lpstr>Arial</vt:lpstr>
      <vt:lpstr>Calibri</vt:lpstr>
      <vt:lpstr>Calibri Light</vt:lpstr>
      <vt:lpstr>Office 主题</vt:lpstr>
      <vt:lpstr>PowerPoint 演示文稿</vt:lpstr>
      <vt:lpstr>Agent Observability Architecture and Requirements</vt:lpstr>
      <vt:lpstr>Agent Intervention Architecture and Requirements</vt:lpstr>
      <vt:lpstr>Agent Intervention Architecture and Requirements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maqiufang (A)</dc:creator>
  <cp:lastModifiedBy>maqiufang (A)</cp:lastModifiedBy>
  <cp:revision>16</cp:revision>
  <dcterms:created xsi:type="dcterms:W3CDTF">2026-07-08T08:33:05Z</dcterms:created>
  <dcterms:modified xsi:type="dcterms:W3CDTF">2026-07-09T10:32:49Z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readonly">
    <vt:lpwstr/>
  </property>
  <property fmtid="{D5CDD505-2E9C-101B-9397-08002B2CF9AE}" pid="3" name="_change">
    <vt:lpwstr/>
  </property>
  <property fmtid="{D5CDD505-2E9C-101B-9397-08002B2CF9AE}" pid="4" name="_full-control">
    <vt:lpwstr/>
  </property>
  <property fmtid="{D5CDD505-2E9C-101B-9397-08002B2CF9AE}" pid="5" name="sflag">
    <vt:lpwstr>1782898301</vt:lpwstr>
  </property>
</Properties>
</file>