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67" r:id="rId4"/>
    <p:sldId id="264" r:id="rId5"/>
    <p:sldId id="265" r:id="rId6"/>
    <p:sldId id="266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063" autoAdjust="0"/>
  </p:normalViewPr>
  <p:slideViewPr>
    <p:cSldViewPr snapToGrid="0">
      <p:cViewPr varScale="1">
        <p:scale>
          <a:sx n="108" d="100"/>
          <a:sy n="108" d="100"/>
        </p:scale>
        <p:origin x="60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FD6D93-B7C5-4886-96FE-E919881FC18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227E5-88AC-47A5-A984-521F15CE18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814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Orchestration/supervision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8227E5-88AC-47A5-A984-521F15CE18F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321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0527A8EF-B618-45FC-A1AB-EAFFA9191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="" xmlns:a16="http://schemas.microsoft.com/office/drawing/2014/main" id="{21E61DD0-C5A4-4371-B50E-B1C911772D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98C54048-0D74-43DC-9291-DFE94D677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E99BCB19-7E1C-4B3A-A4FE-9C69C3DD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9DE0E44A-3DDE-4EF9-92DB-FA0A7CB95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8776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90C8A2CC-271D-4F26-9AFD-83EDB19AC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561557DB-2F35-48CD-8644-181EDEDC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2C3D0912-A4EB-4D57-94F0-154DE0AF0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504DCB4C-4AED-4A07-B1DE-F90E28D3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38A26FB8-A57E-411B-963D-F82BF646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8282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FCA1C2A2-1B68-466F-B6BD-F31C4311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82888A8F-5FE0-4686-9A3C-5B60926CD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FA3F1393-BF8A-464B-BC3D-D3E48D215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0882A640-5224-42C1-8C0B-A910D5A8E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FFD84918-1044-4BD8-9CA6-E7568ECC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0846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3A80E2CF-D6DF-4F84-96F7-51710B53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AFD40B0-9653-4B2B-B98E-58BE5A8836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="" xmlns:a16="http://schemas.microsoft.com/office/drawing/2014/main" id="{C1C79EBB-6CC0-4D09-8F09-4FACC597D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="" xmlns:a16="http://schemas.microsoft.com/office/drawing/2014/main" id="{BE713B0C-E8B0-46D9-9529-9DD49221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="" xmlns:a16="http://schemas.microsoft.com/office/drawing/2014/main" id="{7469EBD1-A387-46D5-A779-F15B943D8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="" xmlns:a16="http://schemas.microsoft.com/office/drawing/2014/main" id="{A00D87DF-32E7-4A25-A06F-BD08276A0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0030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9A50E6B8-06B1-4775-BF76-451B61B7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0E4F2227-23B8-487B-B2DD-FAFA62069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="" xmlns:a16="http://schemas.microsoft.com/office/drawing/2014/main" id="{5BCA3B2B-FFD4-454D-82B5-F8A4FAD4A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="" xmlns:a16="http://schemas.microsoft.com/office/drawing/2014/main" id="{6CACA517-FB69-474D-8ED9-F3A024D474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="" xmlns:a16="http://schemas.microsoft.com/office/drawing/2014/main" id="{5193FB18-1AB9-4FEE-B4C5-300D5956F8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="" xmlns:a16="http://schemas.microsoft.com/office/drawing/2014/main" id="{F15052C3-8663-4375-9822-DF1BCB375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="" xmlns:a16="http://schemas.microsoft.com/office/drawing/2014/main" id="{A17DFB13-B6E0-4A60-A51B-6B349668B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="" xmlns:a16="http://schemas.microsoft.com/office/drawing/2014/main" id="{DBD23DB3-EFFD-4A58-8967-ED07CB65A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6842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51C5A552-D46C-441E-ABA9-252F4D870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="" xmlns:a16="http://schemas.microsoft.com/office/drawing/2014/main" id="{59E27567-6F25-482F-8358-10F3BB7F9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="" xmlns:a16="http://schemas.microsoft.com/office/drawing/2014/main" id="{5DF33EB9-0EEE-445F-87E9-B7EE8F23F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="" xmlns:a16="http://schemas.microsoft.com/office/drawing/2014/main" id="{A9FC5A9E-3DEE-4BE2-8776-F102C221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5706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="" xmlns:a16="http://schemas.microsoft.com/office/drawing/2014/main" id="{17F4D103-63DB-4E29-AB60-94510A38C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="" xmlns:a16="http://schemas.microsoft.com/office/drawing/2014/main" id="{C0C4E14F-8F6F-46FF-87A3-8388C0986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8DDE86F7-2B44-4B49-83B5-A9D5B972A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303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D5568191-0F6C-414C-97F5-0E50B5D3F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532AC296-366D-4320-93E9-B809BDC94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="" xmlns:a16="http://schemas.microsoft.com/office/drawing/2014/main" id="{0063932B-C39C-4195-9F36-A8464378D8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="" xmlns:a16="http://schemas.microsoft.com/office/drawing/2014/main" id="{A0B1CCD8-2A36-48D7-B593-AACA0D70E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="" xmlns:a16="http://schemas.microsoft.com/office/drawing/2014/main" id="{5C50A4F1-2C73-43CE-A916-C9E07B3AD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="" xmlns:a16="http://schemas.microsoft.com/office/drawing/2014/main" id="{CBA87266-2570-4E71-BFBC-6AA64821C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80548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EE0599B2-24E7-4391-8F55-0A344B747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="" xmlns:a16="http://schemas.microsoft.com/office/drawing/2014/main" id="{BE374B4F-8A27-4406-AC7D-AB52920B6B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="" xmlns:a16="http://schemas.microsoft.com/office/drawing/2014/main" id="{305818E5-25C3-4991-8934-281EA40C84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="" xmlns:a16="http://schemas.microsoft.com/office/drawing/2014/main" id="{941301B6-1149-4DDD-9C1C-BC94F79D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="" xmlns:a16="http://schemas.microsoft.com/office/drawing/2014/main" id="{A35B3B54-9B23-4A85-A22D-CFC4D62C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="" xmlns:a16="http://schemas.microsoft.com/office/drawing/2014/main" id="{5E3540A1-D2FC-4C4F-8730-45AE7AE81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1664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B78F8E7F-BBFF-4EB3-A6B8-C4DFA3E7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="" xmlns:a16="http://schemas.microsoft.com/office/drawing/2014/main" id="{AAA5EB40-AAC0-48FC-9AC4-9BD164BE1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5034DB7F-6493-4E49-887B-EB5B1D4A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F0317DDB-EBD2-459C-869A-0B0DF1E14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49E60790-4E03-4274-B0F8-90FA6860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576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="" xmlns:a16="http://schemas.microsoft.com/office/drawing/2014/main" id="{A0062ADF-F931-458A-BBFE-F1CE26EEBA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="" xmlns:a16="http://schemas.microsoft.com/office/drawing/2014/main" id="{B7C9C3CE-8F31-4734-9A18-95CCE43809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3E215F3C-B04A-447A-B93C-963B50E74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0FD3474F-AB63-4566-95BD-6967B3191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3D7254AE-3680-4BA3-8F0D-0484F84EE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041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="" xmlns:a16="http://schemas.microsoft.com/office/drawing/2014/main" id="{F9A1AFFF-38F9-4CF8-89C5-C23CD407E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DD5E842E-D47B-4800-8B91-BF2384D97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="" xmlns:a16="http://schemas.microsoft.com/office/drawing/2014/main" id="{6FCA4C76-C2F9-4567-95EC-AD2122AE67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3279A-1075-4D69-8304-6D9EBC8FBB92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="" xmlns:a16="http://schemas.microsoft.com/office/drawing/2014/main" id="{42914F35-1A1A-4188-8437-3AD2F48F2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="" xmlns:a16="http://schemas.microsoft.com/office/drawing/2014/main" id="{934BC865-325B-47A4-BA1C-86F68BC298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8483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draft-mcw-opsawg-icon-requirements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="" xmlns:a16="http://schemas.microsoft.com/office/drawing/2014/main" id="{87E166CE-5650-4880-A211-9F72AED65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246201"/>
            <a:ext cx="8991600" cy="1655762"/>
          </a:xfrm>
        </p:spPr>
        <p:txBody>
          <a:bodyPr/>
          <a:lstStyle/>
          <a:p>
            <a:r>
              <a:rPr lang="en-US" altLang="zh-CN" i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An architecture and requirements briefing for supervising autonomous AI agents deployed for network operations</a:t>
            </a:r>
          </a:p>
          <a:p>
            <a:endParaRPr lang="zh-CN" alt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="" xmlns:a16="http://schemas.microsoft.com/office/drawing/2014/main" id="{41F9B342-E7C0-4E51-8237-C08E56CF21C0}"/>
              </a:ext>
            </a:extLst>
          </p:cNvPr>
          <p:cNvSpPr/>
          <p:nvPr/>
        </p:nvSpPr>
        <p:spPr>
          <a:xfrm>
            <a:off x="1078597" y="1684857"/>
            <a:ext cx="10268276" cy="14433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lang="en-US" sz="3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Architecture and Requirements for Observability, C&amp;I of Network Management Agents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="" xmlns:a16="http://schemas.microsoft.com/office/drawing/2014/main" id="{981CF869-3C14-4C68-A6D4-EDCE3E969CFD}"/>
              </a:ext>
            </a:extLst>
          </p:cNvPr>
          <p:cNvSpPr txBox="1"/>
          <p:nvPr/>
        </p:nvSpPr>
        <p:spPr>
          <a:xfrm>
            <a:off x="68740" y="6286616"/>
            <a:ext cx="8042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https://datatracker.ietf.org/doc/draft-mcw-opsawg-icon-requirements</a:t>
            </a:r>
            <a:r>
              <a:rPr lang="zh-CN" altLang="en-US" dirty="0" smtClean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/</a:t>
            </a:r>
            <a:r>
              <a:rPr lang="zh-CN" altLang="en-US" dirty="0" smtClean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endParaRPr lang="zh-CN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4394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165619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Scope</a:t>
            </a:r>
            <a:endParaRPr lang="en-US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09989"/>
            <a:ext cx="10898080" cy="5206942"/>
          </a:xfrm>
        </p:spPr>
        <p:txBody>
          <a:bodyPr>
            <a:normAutofit/>
          </a:bodyPr>
          <a:lstStyle/>
          <a:p>
            <a:r>
              <a:rPr lang="en-US" altLang="zh-C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Defines 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architecture and </a:t>
            </a:r>
            <a:r>
              <a:rPr lang="en-US" altLang="zh-C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requirements 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between an agent and its </a:t>
            </a:r>
            <a:r>
              <a:rPr lang="en-US" altLang="zh-C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management plane </a:t>
            </a:r>
          </a:p>
          <a:p>
            <a:endParaRPr lang="en-US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Solution-neutral</a:t>
            </a:r>
            <a:endParaRPr lang="en-US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Protocols, data model, or API choice is intentionally left for future work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Companion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 Statement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I-D.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wnd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-opsawg-icon-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details the operational gaps motivating these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requirements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943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0102B728-6D0A-4D88-A49E-3AE905DDB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6905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 Reference Architecture</a:t>
            </a:r>
            <a:endParaRPr lang="zh-CN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="" xmlns:a16="http://schemas.microsoft.com/office/drawing/2014/main" id="{BE393F0A-F3C3-4A84-8146-65A2F5B9C1A0}"/>
              </a:ext>
            </a:extLst>
          </p:cNvPr>
          <p:cNvSpPr/>
          <p:nvPr/>
        </p:nvSpPr>
        <p:spPr>
          <a:xfrm>
            <a:off x="52829" y="3902775"/>
            <a:ext cx="6507769" cy="1444752"/>
          </a:xfrm>
          <a:prstGeom prst="roundRect">
            <a:avLst>
              <a:gd name="adj" fmla="val 5161"/>
            </a:avLst>
          </a:prstGeom>
          <a:solidFill>
            <a:srgbClr val="EAF1F5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="" xmlns:a16="http://schemas.microsoft.com/office/drawing/2014/main" id="{9038E49F-4FAC-49B4-9ADA-A881F74F31DF}"/>
              </a:ext>
            </a:extLst>
          </p:cNvPr>
          <p:cNvSpPr/>
          <p:nvPr/>
        </p:nvSpPr>
        <p:spPr>
          <a:xfrm>
            <a:off x="235708" y="3975927"/>
            <a:ext cx="462090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EXECUTION PLANE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="" xmlns:a16="http://schemas.microsoft.com/office/drawing/2014/main" id="{09DA8E31-BD8F-4396-9FC4-6CC45869B204}"/>
              </a:ext>
            </a:extLst>
          </p:cNvPr>
          <p:cNvSpPr/>
          <p:nvPr/>
        </p:nvSpPr>
        <p:spPr>
          <a:xfrm>
            <a:off x="327149" y="4286823"/>
            <a:ext cx="6091188" cy="438912"/>
          </a:xfrm>
          <a:prstGeom prst="roundRect">
            <a:avLst>
              <a:gd name="adj" fmla="val 1041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="" xmlns:a16="http://schemas.microsoft.com/office/drawing/2014/main" id="{E40C1439-EB9A-43B2-AA3A-8EE1B5652F42}"/>
              </a:ext>
            </a:extLst>
          </p:cNvPr>
          <p:cNvSpPr/>
          <p:nvPr/>
        </p:nvSpPr>
        <p:spPr>
          <a:xfrm>
            <a:off x="767722" y="4269158"/>
            <a:ext cx="534904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 smtClean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Agent(s)</a:t>
            </a:r>
            <a:endParaRPr lang="en-US" sz="12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Shape 29">
            <a:extLst>
              <a:ext uri="{FF2B5EF4-FFF2-40B4-BE49-F238E27FC236}">
                <a16:creationId xmlns="" xmlns:a16="http://schemas.microsoft.com/office/drawing/2014/main" id="{A6497F40-84A8-49D8-8AC1-DFA838DF2B8C}"/>
              </a:ext>
            </a:extLst>
          </p:cNvPr>
          <p:cNvSpPr/>
          <p:nvPr/>
        </p:nvSpPr>
        <p:spPr>
          <a:xfrm>
            <a:off x="300734" y="4853751"/>
            <a:ext cx="609118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30">
            <a:extLst>
              <a:ext uri="{FF2B5EF4-FFF2-40B4-BE49-F238E27FC236}">
                <a16:creationId xmlns="" xmlns:a16="http://schemas.microsoft.com/office/drawing/2014/main" id="{D8FA34BD-9341-44A4-A89C-C93F37755A15}"/>
              </a:ext>
            </a:extLst>
          </p:cNvPr>
          <p:cNvSpPr/>
          <p:nvPr/>
        </p:nvSpPr>
        <p:spPr>
          <a:xfrm>
            <a:off x="659657" y="4853751"/>
            <a:ext cx="544006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Modules &amp; Tools</a:t>
            </a:r>
            <a:endParaRPr lang="en-US" sz="11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32">
            <a:extLst>
              <a:ext uri="{FF2B5EF4-FFF2-40B4-BE49-F238E27FC236}">
                <a16:creationId xmlns="" xmlns:a16="http://schemas.microsoft.com/office/drawing/2014/main" id="{DB643E20-E179-4E84-B69F-68EC3ED12F7C}"/>
              </a:ext>
            </a:extLst>
          </p:cNvPr>
          <p:cNvSpPr/>
          <p:nvPr/>
        </p:nvSpPr>
        <p:spPr>
          <a:xfrm>
            <a:off x="3577095" y="5374898"/>
            <a:ext cx="177134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33">
            <a:extLst>
              <a:ext uri="{FF2B5EF4-FFF2-40B4-BE49-F238E27FC236}">
                <a16:creationId xmlns="" xmlns:a16="http://schemas.microsoft.com/office/drawing/2014/main" id="{1CE22825-30C6-4FD9-8CAC-D03ECB628822}"/>
              </a:ext>
            </a:extLst>
          </p:cNvPr>
          <p:cNvSpPr/>
          <p:nvPr/>
        </p:nvSpPr>
        <p:spPr>
          <a:xfrm>
            <a:off x="52829" y="5667344"/>
            <a:ext cx="6507769" cy="411480"/>
          </a:xfrm>
          <a:prstGeom prst="roundRect">
            <a:avLst>
              <a:gd name="adj" fmla="val 17778"/>
            </a:avLst>
          </a:prstGeom>
          <a:solidFill>
            <a:srgbClr val="1A2340"/>
          </a:solidFill>
          <a:ln w="12700">
            <a:solidFill>
              <a:srgbClr val="1A2340"/>
            </a:solidFill>
            <a:prstDash val="solid"/>
          </a:ln>
        </p:spPr>
      </p:sp>
      <p:sp>
        <p:nvSpPr>
          <p:cNvPr id="35" name="Text 34">
            <a:extLst>
              <a:ext uri="{FF2B5EF4-FFF2-40B4-BE49-F238E27FC236}">
                <a16:creationId xmlns="" xmlns:a16="http://schemas.microsoft.com/office/drawing/2014/main" id="{70C80CF3-6AC4-488C-A61D-DB993BF51A3F}"/>
              </a:ext>
            </a:extLst>
          </p:cNvPr>
          <p:cNvSpPr/>
          <p:nvPr/>
        </p:nvSpPr>
        <p:spPr>
          <a:xfrm>
            <a:off x="805287" y="5655260"/>
            <a:ext cx="542267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NETWORK INFRASTRUCTURE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1" name="直接箭头连接符 40">
            <a:extLst>
              <a:ext uri="{FF2B5EF4-FFF2-40B4-BE49-F238E27FC236}">
                <a16:creationId xmlns="" xmlns:a16="http://schemas.microsoft.com/office/drawing/2014/main" id="{C32315DC-1FC1-4A2E-AF69-4F5D5251C572}"/>
              </a:ext>
            </a:extLst>
          </p:cNvPr>
          <p:cNvCxnSpPr>
            <a:cxnSpLocks/>
          </p:cNvCxnSpPr>
          <p:nvPr/>
        </p:nvCxnSpPr>
        <p:spPr>
          <a:xfrm>
            <a:off x="3391233" y="5347466"/>
            <a:ext cx="0" cy="32918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639827" y="1205938"/>
            <a:ext cx="559666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Human </a:t>
            </a:r>
            <a:r>
              <a:rPr lang="en-US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Oversight -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top-level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authority </a:t>
            </a:r>
            <a:endParaRPr lang="en-US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runtime monitoring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Policy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constraint injection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Emergency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intervention trigger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Escalation request handling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Post-execution </a:t>
            </a:r>
            <a:r>
              <a:rPr lang="en-US" altLang="zh-C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feedback</a:t>
            </a:r>
            <a:endParaRPr lang="en-US" sz="20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0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</a:t>
            </a:r>
            <a:r>
              <a:rPr lang="en-US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Management Plane – agent control and observability hub</a:t>
            </a:r>
            <a:endParaRPr lang="en-US" sz="20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runtime telemetry data collection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 policy validation and distribution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runtime intervention instruction (e.g., kill switch, pause/resume, or rollback)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Execution Plane – agent runtime environment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 inference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Policy-compliant network operation task execution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Execution result feedback and reporting</a:t>
            </a:r>
          </a:p>
        </p:txBody>
      </p:sp>
      <p:sp>
        <p:nvSpPr>
          <p:cNvPr id="38" name="Text 32">
            <a:extLst>
              <a:ext uri="{FF2B5EF4-FFF2-40B4-BE49-F238E27FC236}">
                <a16:creationId xmlns="" xmlns:a16="http://schemas.microsoft.com/office/drawing/2014/main" id="{DB643E20-E179-4E84-B69F-68EC3ED12F7C}"/>
              </a:ext>
            </a:extLst>
          </p:cNvPr>
          <p:cNvSpPr/>
          <p:nvPr/>
        </p:nvSpPr>
        <p:spPr>
          <a:xfrm>
            <a:off x="1337693" y="3445264"/>
            <a:ext cx="177134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 smtClean="0">
                <a:solidFill>
                  <a:srgbClr val="5B6B7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observability data streaming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Shape 3">
            <a:extLst>
              <a:ext uri="{FF2B5EF4-FFF2-40B4-BE49-F238E27FC236}">
                <a16:creationId xmlns="" xmlns:a16="http://schemas.microsoft.com/office/drawing/2014/main" id="{084A49AC-22B0-479D-84F4-E5240D126EB4}"/>
              </a:ext>
            </a:extLst>
          </p:cNvPr>
          <p:cNvSpPr/>
          <p:nvPr/>
        </p:nvSpPr>
        <p:spPr>
          <a:xfrm>
            <a:off x="123959" y="2200523"/>
            <a:ext cx="6365508" cy="1020336"/>
          </a:xfrm>
          <a:prstGeom prst="roundRect">
            <a:avLst>
              <a:gd name="adj" fmla="val 4324"/>
            </a:avLst>
          </a:prstGeom>
          <a:solidFill>
            <a:srgbClr val="EAF1F5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42" name="Text 4">
            <a:extLst>
              <a:ext uri="{FF2B5EF4-FFF2-40B4-BE49-F238E27FC236}">
                <a16:creationId xmlns="" xmlns:a16="http://schemas.microsoft.com/office/drawing/2014/main" id="{E14E1904-9F56-42DE-94AC-08636BE459DB}"/>
              </a:ext>
            </a:extLst>
          </p:cNvPr>
          <p:cNvSpPr/>
          <p:nvPr/>
        </p:nvSpPr>
        <p:spPr>
          <a:xfrm>
            <a:off x="141742" y="2231920"/>
            <a:ext cx="462090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</a:t>
            </a:r>
            <a:r>
              <a:rPr lang="en-US" sz="1050" b="1" kern="0" spc="150" dirty="0" smtClean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MANAGEMENT PLANE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Shape 9">
            <a:extLst>
              <a:ext uri="{FF2B5EF4-FFF2-40B4-BE49-F238E27FC236}">
                <a16:creationId xmlns="" xmlns:a16="http://schemas.microsoft.com/office/drawing/2014/main" id="{4C3E7FC3-82A4-44D7-9B20-FF42D54A4D31}"/>
              </a:ext>
            </a:extLst>
          </p:cNvPr>
          <p:cNvSpPr/>
          <p:nvPr/>
        </p:nvSpPr>
        <p:spPr>
          <a:xfrm>
            <a:off x="300734" y="2759561"/>
            <a:ext cx="1578808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8" name="Text 10">
            <a:extLst>
              <a:ext uri="{FF2B5EF4-FFF2-40B4-BE49-F238E27FC236}">
                <a16:creationId xmlns="" xmlns:a16="http://schemas.microsoft.com/office/drawing/2014/main" id="{DE8F064D-56AD-4F90-AB08-0714FA4E4182}"/>
              </a:ext>
            </a:extLst>
          </p:cNvPr>
          <p:cNvSpPr/>
          <p:nvPr/>
        </p:nvSpPr>
        <p:spPr>
          <a:xfrm>
            <a:off x="141742" y="2741896"/>
            <a:ext cx="17787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Observability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Shape 11">
            <a:extLst>
              <a:ext uri="{FF2B5EF4-FFF2-40B4-BE49-F238E27FC236}">
                <a16:creationId xmlns="" xmlns:a16="http://schemas.microsoft.com/office/drawing/2014/main" id="{50911C78-4C0C-4660-87F8-D05FE2DEFB5E}"/>
              </a:ext>
            </a:extLst>
          </p:cNvPr>
          <p:cNvSpPr/>
          <p:nvPr/>
        </p:nvSpPr>
        <p:spPr>
          <a:xfrm>
            <a:off x="2139913" y="2741079"/>
            <a:ext cx="1654245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Text 12">
            <a:extLst>
              <a:ext uri="{FF2B5EF4-FFF2-40B4-BE49-F238E27FC236}">
                <a16:creationId xmlns="" xmlns:a16="http://schemas.microsoft.com/office/drawing/2014/main" id="{C0211E05-C7AE-4C7E-916D-D648E59EAF77}"/>
              </a:ext>
            </a:extLst>
          </p:cNvPr>
          <p:cNvSpPr/>
          <p:nvPr/>
        </p:nvSpPr>
        <p:spPr>
          <a:xfrm>
            <a:off x="1606436" y="2732286"/>
            <a:ext cx="27211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Shape 13">
            <a:extLst>
              <a:ext uri="{FF2B5EF4-FFF2-40B4-BE49-F238E27FC236}">
                <a16:creationId xmlns="" xmlns:a16="http://schemas.microsoft.com/office/drawing/2014/main" id="{11A12F61-F2D3-4C92-92F2-93CF044584DF}"/>
              </a:ext>
            </a:extLst>
          </p:cNvPr>
          <p:cNvSpPr/>
          <p:nvPr/>
        </p:nvSpPr>
        <p:spPr>
          <a:xfrm>
            <a:off x="4097119" y="2742662"/>
            <a:ext cx="1621399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2" name="Text 14">
            <a:extLst>
              <a:ext uri="{FF2B5EF4-FFF2-40B4-BE49-F238E27FC236}">
                <a16:creationId xmlns="" xmlns:a16="http://schemas.microsoft.com/office/drawing/2014/main" id="{99537C58-24EC-4FCF-8EDF-6445F71A6305}"/>
              </a:ext>
            </a:extLst>
          </p:cNvPr>
          <p:cNvSpPr/>
          <p:nvPr/>
        </p:nvSpPr>
        <p:spPr>
          <a:xfrm>
            <a:off x="3731483" y="2735203"/>
            <a:ext cx="235267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Intervention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 32">
            <a:extLst>
              <a:ext uri="{FF2B5EF4-FFF2-40B4-BE49-F238E27FC236}">
                <a16:creationId xmlns="" xmlns:a16="http://schemas.microsoft.com/office/drawing/2014/main" id="{DB643E20-E179-4E84-B69F-68EC3ED12F7C}"/>
              </a:ext>
            </a:extLst>
          </p:cNvPr>
          <p:cNvSpPr/>
          <p:nvPr/>
        </p:nvSpPr>
        <p:spPr>
          <a:xfrm>
            <a:off x="3577662" y="3395818"/>
            <a:ext cx="2168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 smtClean="0">
                <a:solidFill>
                  <a:srgbClr val="5B6B7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Agent control &amp; Intervention signals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xmlns="" id="{311F6CCC-59F5-4E1D-90B0-63E7606D4AFD}"/>
              </a:ext>
            </a:extLst>
          </p:cNvPr>
          <p:cNvSpPr/>
          <p:nvPr/>
        </p:nvSpPr>
        <p:spPr>
          <a:xfrm>
            <a:off x="123959" y="1436766"/>
            <a:ext cx="6365507" cy="402336"/>
          </a:xfrm>
          <a:prstGeom prst="roundRect">
            <a:avLst>
              <a:gd name="adj" fmla="val 13636"/>
            </a:avLst>
          </a:prstGeom>
          <a:solidFill>
            <a:srgbClr val="1A2340"/>
          </a:solidFill>
          <a:ln w="12700">
            <a:solidFill>
              <a:srgbClr val="1A2340"/>
            </a:solidFill>
            <a:prstDash val="solid"/>
          </a:ln>
        </p:spPr>
      </p:sp>
      <p:sp>
        <p:nvSpPr>
          <p:cNvPr id="56" name="Text 6">
            <a:extLst>
              <a:ext uri="{FF2B5EF4-FFF2-40B4-BE49-F238E27FC236}">
                <a16:creationId xmlns:a16="http://schemas.microsoft.com/office/drawing/2014/main" xmlns="" id="{3FFC70D4-DBA4-48C3-9A8E-E4EDAE9D7836}"/>
              </a:ext>
            </a:extLst>
          </p:cNvPr>
          <p:cNvSpPr/>
          <p:nvPr/>
        </p:nvSpPr>
        <p:spPr>
          <a:xfrm>
            <a:off x="226751" y="1428069"/>
            <a:ext cx="60911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</a:t>
            </a:r>
            <a:endParaRPr lang="en-US" sz="1300" dirty="0"/>
          </a:p>
        </p:txBody>
      </p:sp>
      <p:cxnSp>
        <p:nvCxnSpPr>
          <p:cNvPr id="57" name="直接箭头连接符 56">
            <a:extLst>
              <a:ext uri="{FF2B5EF4-FFF2-40B4-BE49-F238E27FC236}">
                <a16:creationId xmlns="" xmlns:a16="http://schemas.microsoft.com/office/drawing/2014/main" id="{C32315DC-1FC1-4A2E-AF69-4F5D5251C572}"/>
              </a:ext>
            </a:extLst>
          </p:cNvPr>
          <p:cNvCxnSpPr>
            <a:cxnSpLocks/>
          </p:cNvCxnSpPr>
          <p:nvPr/>
        </p:nvCxnSpPr>
        <p:spPr>
          <a:xfrm flipH="1">
            <a:off x="3267722" y="1808921"/>
            <a:ext cx="4623" cy="42678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下箭头 27"/>
          <p:cNvSpPr/>
          <p:nvPr/>
        </p:nvSpPr>
        <p:spPr>
          <a:xfrm>
            <a:off x="3391233" y="3212104"/>
            <a:ext cx="166541" cy="67248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下箭头 57"/>
          <p:cNvSpPr/>
          <p:nvPr/>
        </p:nvSpPr>
        <p:spPr>
          <a:xfrm rot="10800000">
            <a:off x="2967037" y="3203090"/>
            <a:ext cx="146214" cy="68228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317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1567" y="154127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dirty="0" smtClean="0"/>
              <a:t>Deriving Requirements from Problem Statements-Agent Observability</a:t>
            </a:r>
            <a:endParaRPr lang="en-US" sz="3600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903433"/>
              </p:ext>
            </p:extLst>
          </p:nvPr>
        </p:nvGraphicFramePr>
        <p:xfrm>
          <a:off x="478284" y="2127760"/>
          <a:ext cx="11182165" cy="4165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388"/>
                <a:gridCol w="3326600"/>
                <a:gridCol w="4128177"/>
              </a:tblGrid>
              <a:tr h="668706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bg1"/>
                          </a:solidFill>
                        </a:rPr>
                        <a:t>Problem</a:t>
                      </a:r>
                      <a:r>
                        <a:rPr lang="en-US" sz="1400" baseline="0" dirty="0" smtClean="0">
                          <a:solidFill>
                            <a:schemeClr val="bg1"/>
                          </a:solidFill>
                        </a:rPr>
                        <a:t> Statement Gap</a:t>
                      </a:r>
                    </a:p>
                    <a:p>
                      <a:r>
                        <a:rPr lang="en-US" sz="1400" baseline="0" dirty="0" smtClean="0">
                          <a:solidFill>
                            <a:schemeClr val="bg1"/>
                          </a:solidFill>
                        </a:rPr>
                        <a:t>I-D. </a:t>
                      </a:r>
                      <a:r>
                        <a:rPr lang="en-US" sz="1400" baseline="0" dirty="0" err="1" smtClean="0">
                          <a:solidFill>
                            <a:schemeClr val="bg1"/>
                          </a:solidFill>
                        </a:rPr>
                        <a:t>wnd</a:t>
                      </a:r>
                      <a:r>
                        <a:rPr lang="en-US" sz="1400" baseline="0" dirty="0" smtClean="0">
                          <a:solidFill>
                            <a:schemeClr val="bg1"/>
                          </a:solidFill>
                        </a:rPr>
                        <a:t>-opsawg-icon-</a:t>
                      </a:r>
                      <a:r>
                        <a:rPr lang="en-US" sz="1400" baseline="0" dirty="0" err="1" smtClean="0">
                          <a:solidFill>
                            <a:schemeClr val="bg1"/>
                          </a:solidFill>
                        </a:rPr>
                        <a:t>ps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Essential Requirement</a:t>
                      </a:r>
                    </a:p>
                    <a:p>
                      <a:r>
                        <a:rPr lang="en-US" sz="1400" dirty="0" smtClean="0"/>
                        <a:t>I-D.</a:t>
                      </a:r>
                      <a:r>
                        <a:rPr lang="en-US" sz="1400" baseline="0" dirty="0" smtClean="0"/>
                        <a:t> </a:t>
                      </a:r>
                      <a:r>
                        <a:rPr lang="en-US" sz="1400" baseline="0" dirty="0" err="1" smtClean="0"/>
                        <a:t>mcw</a:t>
                      </a:r>
                      <a:r>
                        <a:rPr lang="en-US" sz="1400" baseline="0" dirty="0" smtClean="0"/>
                        <a:t>-opsawg-icon-requirements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Description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  <a:tr h="848115"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3.1.1 Limited Transparency in Planning and Decision-Making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OBS-1: Execution Trajectory Capture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The full path visible, including the plan, the invoked tools/skills, generated configuration change, and the resulting state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095482"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5.1</a:t>
                      </a:r>
                      <a:r>
                        <a:rPr lang="en-US" sz="1400" baseline="0" dirty="0" smtClean="0"/>
                        <a:t> </a:t>
                      </a:r>
                      <a:r>
                        <a:rPr lang="en-US" sz="1400" baseline="0" dirty="0" err="1" smtClean="0"/>
                        <a:t>OpenTelemetry</a:t>
                      </a:r>
                      <a:r>
                        <a:rPr lang="en-US" altLang="zh-CN" sz="1400" baseline="0" dirty="0" smtClean="0"/>
                        <a:t> only captures the execution process, not the operational motivation.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OBS-2: Reasoning Provenance Capture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Exposes why a decision was made — the operational signals (e.g., alarms, incidents, telemetry streams) and confidence level behind a specific network action.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848115"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5.1 lacks</a:t>
                      </a:r>
                      <a:r>
                        <a:rPr lang="en-US" sz="1400" baseline="0" dirty="0" smtClean="0"/>
                        <a:t> native support for observing metrics such as an agent’s reasoning logic and internal confidence levels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OBS-3: Operational Metrics Collection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Tracks an agent's own operational health and performance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704897"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3.1.2. Ambiguity of Accountability Attribution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OBS-4: Auditability and Accountability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attribution of failures to responsible entities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478284" y="1479690"/>
            <a:ext cx="99222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what agents did, why they did it, and how they're performing.</a:t>
            </a:r>
            <a:endParaRPr lang="en-US" altLang="zh-C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7772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2689" y="6939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dirty="0" smtClean="0"/>
              <a:t>Deriving Requirements from Problem Statements-Agent Control</a:t>
            </a:r>
            <a:endParaRPr lang="en-US" sz="3600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474629"/>
              </p:ext>
            </p:extLst>
          </p:nvPr>
        </p:nvGraphicFramePr>
        <p:xfrm>
          <a:off x="664714" y="1722777"/>
          <a:ext cx="11182165" cy="4913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388"/>
                <a:gridCol w="3326600"/>
                <a:gridCol w="4128177"/>
              </a:tblGrid>
              <a:tr h="523782">
                <a:tc>
                  <a:txBody>
                    <a:bodyPr/>
                    <a:lstStyle/>
                    <a:p>
                      <a:r>
                        <a:rPr lang="en-US" sz="1050" dirty="0" smtClean="0">
                          <a:solidFill>
                            <a:schemeClr val="bg1"/>
                          </a:solidFill>
                        </a:rPr>
                        <a:t>Problem</a:t>
                      </a:r>
                      <a:r>
                        <a:rPr lang="en-US" sz="1050" baseline="0" dirty="0" smtClean="0">
                          <a:solidFill>
                            <a:schemeClr val="bg1"/>
                          </a:solidFill>
                        </a:rPr>
                        <a:t> Statement Gap</a:t>
                      </a:r>
                    </a:p>
                    <a:p>
                      <a:r>
                        <a:rPr lang="en-US" sz="1050" baseline="0" dirty="0" smtClean="0">
                          <a:solidFill>
                            <a:schemeClr val="bg1"/>
                          </a:solidFill>
                        </a:rPr>
                        <a:t>I-D. </a:t>
                      </a:r>
                      <a:r>
                        <a:rPr lang="en-US" sz="1050" baseline="0" dirty="0" err="1" smtClean="0">
                          <a:solidFill>
                            <a:schemeClr val="bg1"/>
                          </a:solidFill>
                        </a:rPr>
                        <a:t>wnd</a:t>
                      </a:r>
                      <a:r>
                        <a:rPr lang="en-US" sz="1050" baseline="0" dirty="0" smtClean="0">
                          <a:solidFill>
                            <a:schemeClr val="bg1"/>
                          </a:solidFill>
                        </a:rPr>
                        <a:t>-opsawg-icon-</a:t>
                      </a:r>
                      <a:r>
                        <a:rPr lang="en-US" sz="1050" baseline="0" dirty="0" err="1" smtClean="0">
                          <a:solidFill>
                            <a:schemeClr val="bg1"/>
                          </a:solidFill>
                        </a:rPr>
                        <a:t>ps</a:t>
                      </a:r>
                      <a:endParaRPr lang="en-US" sz="10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Essential Requirement</a:t>
                      </a:r>
                    </a:p>
                    <a:p>
                      <a:r>
                        <a:rPr lang="en-US" sz="1050" dirty="0" smtClean="0"/>
                        <a:t>I-D.</a:t>
                      </a:r>
                      <a:r>
                        <a:rPr lang="en-US" sz="1050" baseline="0" dirty="0" smtClean="0"/>
                        <a:t> </a:t>
                      </a:r>
                      <a:r>
                        <a:rPr lang="en-US" sz="1050" baseline="0" dirty="0" err="1" smtClean="0"/>
                        <a:t>mcw</a:t>
                      </a:r>
                      <a:r>
                        <a:rPr lang="en-US" sz="1050" baseline="0" dirty="0" smtClean="0"/>
                        <a:t>-opsawg-icon-requirements</a:t>
                      </a:r>
                      <a:endParaRPr lang="en-US" sz="105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Description</a:t>
                      </a:r>
                      <a:endParaRPr lang="en-US" sz="105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  <a:tr h="848115"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3.2.2</a:t>
                      </a:r>
                      <a:r>
                        <a:rPr lang="en-US" sz="1050" baseline="0" dirty="0" smtClean="0"/>
                        <a:t> Static IAM Limitation</a:t>
                      </a:r>
                      <a:endParaRPr lang="en-US" sz="105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CTL-1: Access &amp; Permission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Limits each agent's operational scope to specific network domains/areas, devices, protocols and tools as well as network configuration access control (e.g., datastores, modules, nodes, RPCs, etc.)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368126"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3.2.1. Inadequacy of Deterministic Constraints</a:t>
                      </a:r>
                      <a:endParaRPr lang="en-US" sz="105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CTL-2: Intent Validation &amp; Alignment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Requires the agent to check that what it is about to configure actually matches the operational intent it was given, before committing.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524669"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3.2.1. Inadequacy of Deterministic Constraints</a:t>
                      </a:r>
                      <a:endParaRPr lang="en-US" sz="105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CTL-3: Temporal &amp; Data/Context Validity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Ties an agent's actions to a valid operating window and to network state that is still current.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541538"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3.2.2 Static IAM Limitation</a:t>
                      </a:r>
                    </a:p>
                    <a:p>
                      <a:endParaRPr lang="en-US" sz="105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CTL-4: Authorization &amp; Approval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Specifies of some network operations as requiring a human decision before execution.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399580"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3.2.1. Inadequacy of Deterministic Constraints</a:t>
                      </a:r>
                    </a:p>
                    <a:p>
                      <a:endParaRPr lang="en-US" sz="105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CTL-5: Failure &amp; Liveness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Defines what an agent does when it encounters predefined failure, and requires it to continuously report its liveness.</a:t>
                      </a:r>
                    </a:p>
                    <a:p>
                      <a:endParaRPr lang="en-US" sz="105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095482"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3.2.2. Static IAM Limitation</a:t>
                      </a:r>
                    </a:p>
                    <a:p>
                      <a:r>
                        <a:rPr lang="en-US" sz="1050" dirty="0" smtClean="0"/>
                        <a:t>3.2.3. Fragmentation Across Heterogeneous Integration Layers</a:t>
                      </a:r>
                    </a:p>
                    <a:p>
                      <a:r>
                        <a:rPr lang="en-US" sz="1050" dirty="0" smtClean="0"/>
                        <a:t>3.2.4. Multi-Vendor Dependency Risks</a:t>
                      </a:r>
                      <a:endParaRPr lang="en-US" sz="105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CTL-6: Global and Dynamic Boundary Adaptation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 smtClean="0"/>
                        <a:t>Supports the injection of global coordination control policies</a:t>
                      </a:r>
                    </a:p>
                    <a:p>
                      <a:r>
                        <a:rPr lang="en-US" sz="1050" dirty="0" smtClean="0"/>
                        <a:t>across multi-agent environments, and enable dynamic adjustment</a:t>
                      </a:r>
                      <a:r>
                        <a:rPr lang="en-US" sz="1050" baseline="0" dirty="0" smtClean="0"/>
                        <a:t> </a:t>
                      </a:r>
                      <a:r>
                        <a:rPr lang="en-US" sz="1050" dirty="0" smtClean="0"/>
                        <a:t>(e.g., tighten the agent's permissible access from RW to</a:t>
                      </a:r>
                      <a:r>
                        <a:rPr lang="en-US" sz="1050" baseline="0" dirty="0" smtClean="0"/>
                        <a:t> RO</a:t>
                      </a:r>
                      <a:r>
                        <a:rPr lang="en-US" sz="1050" dirty="0" smtClean="0"/>
                        <a:t>) of operational bounds based on the network's current operational state.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664714" y="1332502"/>
            <a:ext cx="383060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 a boundary for agent </a:t>
            </a:r>
            <a:r>
              <a:rPr lang="en-US" altLang="zh-CN" sz="2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behaviors</a:t>
            </a:r>
            <a:endParaRPr lang="en-US" altLang="zh-C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646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5136" y="0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dirty="0" smtClean="0"/>
              <a:t>Deriving Requirements from Problem Statements-Agent Intervention</a:t>
            </a:r>
            <a:endParaRPr lang="en-US" sz="3600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013609"/>
              </p:ext>
            </p:extLst>
          </p:nvPr>
        </p:nvGraphicFramePr>
        <p:xfrm>
          <a:off x="427052" y="1510229"/>
          <a:ext cx="11495659" cy="515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1783"/>
                <a:gridCol w="3239965"/>
                <a:gridCol w="4243911"/>
              </a:tblGrid>
              <a:tr h="544193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bg1"/>
                          </a:solidFill>
                        </a:rPr>
                        <a:t>Problem</a:t>
                      </a:r>
                      <a:r>
                        <a:rPr lang="en-US" sz="1400" baseline="0" dirty="0" smtClean="0">
                          <a:solidFill>
                            <a:schemeClr val="bg1"/>
                          </a:solidFill>
                        </a:rPr>
                        <a:t> Statement Gap</a:t>
                      </a:r>
                    </a:p>
                    <a:p>
                      <a:r>
                        <a:rPr lang="en-US" sz="1400" baseline="0" dirty="0" smtClean="0">
                          <a:solidFill>
                            <a:schemeClr val="bg1"/>
                          </a:solidFill>
                        </a:rPr>
                        <a:t>I-D. </a:t>
                      </a:r>
                      <a:r>
                        <a:rPr lang="en-US" sz="1400" baseline="0" dirty="0" err="1" smtClean="0">
                          <a:solidFill>
                            <a:schemeClr val="bg1"/>
                          </a:solidFill>
                        </a:rPr>
                        <a:t>wnd</a:t>
                      </a:r>
                      <a:r>
                        <a:rPr lang="en-US" sz="1400" baseline="0" dirty="0" smtClean="0">
                          <a:solidFill>
                            <a:schemeClr val="bg1"/>
                          </a:solidFill>
                        </a:rPr>
                        <a:t>-opsawg-icon-</a:t>
                      </a:r>
                      <a:r>
                        <a:rPr lang="en-US" sz="1400" baseline="0" dirty="0" err="1" smtClean="0">
                          <a:solidFill>
                            <a:schemeClr val="bg1"/>
                          </a:solidFill>
                        </a:rPr>
                        <a:t>ps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Essential Requirement</a:t>
                      </a:r>
                    </a:p>
                    <a:p>
                      <a:r>
                        <a:rPr lang="en-US" sz="1400" dirty="0" smtClean="0"/>
                        <a:t>I-D.</a:t>
                      </a:r>
                      <a:r>
                        <a:rPr lang="en-US" sz="1400" baseline="0" dirty="0" smtClean="0"/>
                        <a:t> </a:t>
                      </a:r>
                      <a:r>
                        <a:rPr lang="en-US" sz="1400" baseline="0" dirty="0" err="1" smtClean="0"/>
                        <a:t>mcw</a:t>
                      </a:r>
                      <a:r>
                        <a:rPr lang="en-US" sz="1400" baseline="0" dirty="0" smtClean="0"/>
                        <a:t>-opsawg-icon-requirements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Description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  <a:tr h="2202523"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3.3.1</a:t>
                      </a:r>
                      <a:r>
                        <a:rPr lang="en-US" sz="1400" baseline="0" dirty="0" smtClean="0"/>
                        <a:t> lack of human oversight Essential human oversight capabilities including execution interruption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5.5 absence of an interface that allows an authorized authority outside the framework or outside the agent application to signal intervention;</a:t>
                      </a:r>
                      <a:r>
                        <a:rPr lang="en-US" sz="1400" baseline="0" dirty="0" smtClean="0"/>
                        <a:t> </a:t>
                      </a:r>
                      <a:r>
                        <a:rPr lang="en-US" sz="1400" dirty="0" smtClean="0"/>
                        <a:t>current practice of</a:t>
                      </a:r>
                      <a:r>
                        <a:rPr lang="en-US" sz="1400" baseline="0" dirty="0" smtClean="0"/>
                        <a:t> intervention lacks soft redirect, scope restriction, checkpoint, task suspension, rollback, hard termination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INT-1: Execution Interruption</a:t>
                      </a:r>
                    </a:p>
                    <a:p>
                      <a:endParaRPr lang="en-US" sz="140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stop or redirect a running agent's runtime execution. Guarantees an agent can be paused/stopped from outside its own decision loop, even if the agent itself is unresponsive or stuck.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935318"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3.3.1. Lack of Human Oversight</a:t>
                      </a:r>
                      <a:br>
                        <a:rPr lang="en-US" sz="1400" dirty="0" smtClean="0"/>
                      </a:br>
                      <a:r>
                        <a:rPr lang="en-US" sz="1400" dirty="0" smtClean="0"/>
                        <a:t>Essential human oversight capabilities including deterministic transaction rollback and Recovery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INT-2: Rollback and Recovery</a:t>
                      </a:r>
                    </a:p>
                    <a:p>
                      <a:endParaRPr lang="en-US" sz="140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Able to reverse the operations performed by the agent on the network based on different rollback granularity: workflow level, task level, and context level.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724117">
                <a:tc>
                  <a:txBody>
                    <a:bodyPr/>
                    <a:lstStyle/>
                    <a:p>
                      <a:r>
                        <a:rPr lang="en-US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3.3.1. Lack of Human Oversight</a:t>
                      </a:r>
                      <a:br>
                        <a:rPr lang="en-US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Essential</a:t>
                      </a:r>
                      <a:r>
                        <a:rPr lang="en-US" sz="14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human oversight capabilities including human escalation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INT-3: Escalation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Moves a decision the current agent can't or shouldn't make alone up to someone with broader authority, without losing context.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724117"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4.6 Intervention and Control is concerned with ensuring actions can be corrected or reversed when necessary.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INT-4: Correction</a:t>
                      </a:r>
                    </a:p>
                    <a:p>
                      <a:endParaRPr lang="en-US" sz="1400" dirty="0" smtClean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Allows a supervisor to fix what went wrong, e.g., the intent, the data, or the plan instead of only being able to accept or reject the agent's output.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545237" y="1140897"/>
            <a:ext cx="103387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Emergency runtime interruption when the agent deviates from expected behaviors.</a:t>
            </a: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890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698240" y="221951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Comments, Questions, Concerns?</a:t>
            </a:r>
            <a:endParaRPr lang="en-US" sz="4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414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2064</TotalTime>
  <Words>856</Words>
  <Application>Microsoft Office PowerPoint</Application>
  <PresentationFormat>宽屏</PresentationFormat>
  <Paragraphs>111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等线</vt:lpstr>
      <vt:lpstr>等线 Light</vt:lpstr>
      <vt:lpstr>宋体</vt:lpstr>
      <vt:lpstr>Arial</vt:lpstr>
      <vt:lpstr>Calibri</vt:lpstr>
      <vt:lpstr>Calibri Light</vt:lpstr>
      <vt:lpstr>Office 主题​​</vt:lpstr>
      <vt:lpstr>PowerPoint 演示文稿</vt:lpstr>
      <vt:lpstr>Scope</vt:lpstr>
      <vt:lpstr>A Reference Architecture</vt:lpstr>
      <vt:lpstr>Deriving Requirements from Problem Statements-Agent Observability</vt:lpstr>
      <vt:lpstr>Deriving Requirements from Problem Statements-Agent Control</vt:lpstr>
      <vt:lpstr>Deriving Requirements from Problem Statements-Agent Intervention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maqiufang (A)</dc:creator>
  <cp:lastModifiedBy>maqiufang (A)</cp:lastModifiedBy>
  <cp:revision>59</cp:revision>
  <dcterms:created xsi:type="dcterms:W3CDTF">2026-07-11T10:37:18Z</dcterms:created>
  <dcterms:modified xsi:type="dcterms:W3CDTF">2026-07-15T11:34:16Z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1784021964</vt:lpwstr>
  </property>
</Properties>
</file>